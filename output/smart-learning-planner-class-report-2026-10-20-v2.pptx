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4ef33aafa34061" /><Relationship Type="http://schemas.openxmlformats.org/officeDocument/2006/relationships/extended-properties" Target="/docProps/app.xml" Id="R86f7f8fe4ccb4e2c" /><Relationship Type="http://schemas.openxmlformats.org/officeDocument/2006/relationships/officeDocument" Target="/ppt/presentation.xml" Id="R1ff445ca8f7844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105d172ff545e5"/>
  </p:sldMasterIdLst>
  <p:notesMasterIdLst>
    <p:notesMasterId xmlns:r="http://schemas.openxmlformats.org/officeDocument/2006/relationships" r:id="R9796a9b39ddc444d"/>
  </p:notesMasterIdLst>
  <p:sldIdLst>
    <p:sldId xmlns:r="http://schemas.openxmlformats.org/officeDocument/2006/relationships" id="256" r:id="Rb2c82a018a78412f"/>
    <p:sldId xmlns:r="http://schemas.openxmlformats.org/officeDocument/2006/relationships" id="257" r:id="R19558b743f2e4873"/>
    <p:sldId xmlns:r="http://schemas.openxmlformats.org/officeDocument/2006/relationships" id="258" r:id="R45957271f6044be4"/>
    <p:sldId xmlns:r="http://schemas.openxmlformats.org/officeDocument/2006/relationships" id="259" r:id="R9f7e1b0a7e484d2f"/>
    <p:sldId xmlns:r="http://schemas.openxmlformats.org/officeDocument/2006/relationships" id="260" r:id="Rd909e22a27554f77"/>
    <p:sldId xmlns:r="http://schemas.openxmlformats.org/officeDocument/2006/relationships" id="261" r:id="Re1d07cead34a4bfb"/>
    <p:sldId xmlns:r="http://schemas.openxmlformats.org/officeDocument/2006/relationships" id="262" r:id="R10f73a0bce37417f"/>
    <p:sldId xmlns:r="http://schemas.openxmlformats.org/officeDocument/2006/relationships" id="263" r:id="R5c1d2e6160164c1c"/>
    <p:sldId xmlns:r="http://schemas.openxmlformats.org/officeDocument/2006/relationships" id="264" r:id="R4fb2c37e08a3424c"/>
    <p:sldId xmlns:r="http://schemas.openxmlformats.org/officeDocument/2006/relationships" id="265" r:id="R0cabfc41ec8a49c4"/>
    <p:sldId xmlns:r="http://schemas.openxmlformats.org/officeDocument/2006/relationships" id="266" r:id="R83988fef410e458b"/>
    <p:sldId xmlns:r="http://schemas.openxmlformats.org/officeDocument/2006/relationships" id="267" r:id="Rf801513afe5f4497"/>
    <p:sldId xmlns:r="http://schemas.openxmlformats.org/officeDocument/2006/relationships" id="268" r:id="R1894e158c4cd435f"/>
    <p:sldId xmlns:r="http://schemas.openxmlformats.org/officeDocument/2006/relationships" id="269" r:id="Ra7428654333d4943"/>
    <p:sldId xmlns:r="http://schemas.openxmlformats.org/officeDocument/2006/relationships" id="270" r:id="R0194974cf4bc43f2"/>
    <p:sldId xmlns:r="http://schemas.openxmlformats.org/officeDocument/2006/relationships" id="271" r:id="Rb262bd29d7074f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96f39fe67416e" /><Relationship Type="http://schemas.openxmlformats.org/officeDocument/2006/relationships/slideMaster" Target="/ppt/slideMasters/slideMaster1.xml" Id="R14105d172ff545e5" /><Relationship Type="http://schemas.openxmlformats.org/officeDocument/2006/relationships/notesMaster" Target="/ppt/notesMasters/notesMaster1.xml" Id="R9796a9b39ddc444d" /><Relationship Type="http://schemas.openxmlformats.org/officeDocument/2006/relationships/presProps" Target="/ppt/presProps.xml" Id="R5a6042dbed914270" /><Relationship Type="http://schemas.openxmlformats.org/officeDocument/2006/relationships/tableStyles" Target="/ppt/tableStyles.xml" Id="Rade0c745f7834351" /><Relationship Type="http://schemas.openxmlformats.org/officeDocument/2006/relationships/slide" Target="/ppt/slides/slide1.xml" Id="Rb2c82a018a78412f" /><Relationship Type="http://schemas.openxmlformats.org/officeDocument/2006/relationships/slide" Target="/ppt/slides/slide2.xml" Id="R19558b743f2e4873" /><Relationship Type="http://schemas.openxmlformats.org/officeDocument/2006/relationships/slide" Target="/ppt/slides/slide3.xml" Id="R45957271f6044be4" /><Relationship Type="http://schemas.openxmlformats.org/officeDocument/2006/relationships/slide" Target="/ppt/slides/slide4.xml" Id="R9f7e1b0a7e484d2f" /><Relationship Type="http://schemas.openxmlformats.org/officeDocument/2006/relationships/slide" Target="/ppt/slides/slide5.xml" Id="Rd909e22a27554f77" /><Relationship Type="http://schemas.openxmlformats.org/officeDocument/2006/relationships/slide" Target="/ppt/slides/slide6.xml" Id="Re1d07cead34a4bfb" /><Relationship Type="http://schemas.openxmlformats.org/officeDocument/2006/relationships/slide" Target="/ppt/slides/slide7.xml" Id="R10f73a0bce37417f" /><Relationship Type="http://schemas.openxmlformats.org/officeDocument/2006/relationships/slide" Target="/ppt/slides/slide8.xml" Id="R5c1d2e6160164c1c" /><Relationship Type="http://schemas.openxmlformats.org/officeDocument/2006/relationships/slide" Target="/ppt/slides/slide9.xml" Id="R4fb2c37e08a3424c" /><Relationship Type="http://schemas.openxmlformats.org/officeDocument/2006/relationships/slide" Target="/ppt/slides/slide10.xml" Id="R0cabfc41ec8a49c4" /><Relationship Type="http://schemas.openxmlformats.org/officeDocument/2006/relationships/slide" Target="/ppt/slides/slide11.xml" Id="R83988fef410e458b" /><Relationship Type="http://schemas.openxmlformats.org/officeDocument/2006/relationships/slide" Target="/ppt/slides/slide12.xml" Id="Rf801513afe5f4497" /><Relationship Type="http://schemas.openxmlformats.org/officeDocument/2006/relationships/slide" Target="/ppt/slides/slide13.xml" Id="R1894e158c4cd435f" /><Relationship Type="http://schemas.openxmlformats.org/officeDocument/2006/relationships/slide" Target="/ppt/slides/slide14.xml" Id="Ra7428654333d4943" /><Relationship Type="http://schemas.openxmlformats.org/officeDocument/2006/relationships/slide" Target="/ppt/slides/slide15.xml" Id="R0194974cf4bc43f2" /><Relationship Type="http://schemas.openxmlformats.org/officeDocument/2006/relationships/slide" Target="/ppt/slides/slide16.xml" Id="Rb262bd29d7074f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62b575caf04e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d4723dec0496b" /><Relationship Type="http://schemas.openxmlformats.org/officeDocument/2006/relationships/notesMaster" Target="/ppt/notesMasters/notesMaster1.xml" Id="Rd6d0747646ee48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44aba6357b4d76" /><Relationship Type="http://schemas.openxmlformats.org/officeDocument/2006/relationships/notesMaster" Target="/ppt/notesMasters/notesMaster1.xml" Id="Rcc1a217d1a244c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680e20b79c46c7" /><Relationship Type="http://schemas.openxmlformats.org/officeDocument/2006/relationships/notesMaster" Target="/ppt/notesMasters/notesMaster1.xml" Id="Re1a719339ef445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15e74906d6432c" /><Relationship Type="http://schemas.openxmlformats.org/officeDocument/2006/relationships/notesMaster" Target="/ppt/notesMasters/notesMaster1.xml" Id="R69ef8f1f4ee84a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fb3b2becbf40de" /><Relationship Type="http://schemas.openxmlformats.org/officeDocument/2006/relationships/notesMaster" Target="/ppt/notesMasters/notesMaster1.xml" Id="Raf503292f27946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5ea7e1c5b146b7" /><Relationship Type="http://schemas.openxmlformats.org/officeDocument/2006/relationships/notesMaster" Target="/ppt/notesMasters/notesMaster1.xml" Id="R4325f6d26b9143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fdfe0f06e54b0e" /><Relationship Type="http://schemas.openxmlformats.org/officeDocument/2006/relationships/notesMaster" Target="/ppt/notesMasters/notesMaster1.xml" Id="Recbce232335b49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406a72332b4639" /><Relationship Type="http://schemas.openxmlformats.org/officeDocument/2006/relationships/notesMaster" Target="/ppt/notesMasters/notesMaster1.xml" Id="R18c6ab776ce947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9014a302fd45f4" /><Relationship Type="http://schemas.openxmlformats.org/officeDocument/2006/relationships/notesMaster" Target="/ppt/notesMasters/notesMaster1.xml" Id="Rf3dbff3c66dc46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f7962a61204860" /><Relationship Type="http://schemas.openxmlformats.org/officeDocument/2006/relationships/notesMaster" Target="/ppt/notesMasters/notesMaster1.xml" Id="R4fdf07e4d3dd4e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92565940cb4e19" /><Relationship Type="http://schemas.openxmlformats.org/officeDocument/2006/relationships/notesMaster" Target="/ppt/notesMasters/notesMaster1.xml" Id="R4e0e9c16c1b841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7da30a5315458e" /><Relationship Type="http://schemas.openxmlformats.org/officeDocument/2006/relationships/notesMaster" Target="/ppt/notesMasters/notesMaster1.xml" Id="Red490d3ce5b84c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5cf69add5043f8" /><Relationship Type="http://schemas.openxmlformats.org/officeDocument/2006/relationships/notesMaster" Target="/ppt/notesMasters/notesMaster1.xml" Id="R6e0dc9da0f3546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dca2abe24d42b0" /><Relationship Type="http://schemas.openxmlformats.org/officeDocument/2006/relationships/notesMaster" Target="/ppt/notesMasters/notesMaster1.xml" Id="Rcfb5e5c1b8214f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808dc7f66e4180" /><Relationship Type="http://schemas.openxmlformats.org/officeDocument/2006/relationships/notesMaster" Target="/ppt/notesMasters/notesMaster1.xml" Id="R3d87dc69c79f4d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f39a3a81684bf6" /><Relationship Type="http://schemas.openxmlformats.org/officeDocument/2006/relationships/notesMaster" Target="/ppt/notesMasters/notesMaster1.xml" Id="R68b1546837a845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开场先交代项目定位：系统根据学习目标和学习证据生成可执行、可解释、可调整的学习计划。当前汇报聚焦设计基线和实施准备，不把未完成功能描述为已有成果。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先给老师一个清晰的进度判断。已完成的是设计和需求基线，尚未完成的是代码、原型、训练数据和现场演示。下一步从环境验证、数据 Schema 和 RAG 规划主链路开始。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用低年级学生的典型场景讲痛点：不知道缺什么前置知识，无法判断计划是否可完成，也不知道学习效果变化后如何调整。项目目标是给出有依据、可执行、能随证据变化的路径。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范围是主动收敛的结果。本期只做学生端学习闭环，不扩展为完整教学平台。完整验收先固定 Python、数据结构与算法、后端开发这条主线，其他计算机目标作为泛化测试。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这一页是全篇主流程图。目标、诊断、路径、打卡、验收和重规划必须首尾相接。验收时提交未达标答案，系统应真实更新掌握度并把后续任务重新排好，而不是返回固定结果。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功能框架按学生业务、智能规划、学习模型和可信数据四层组织。每一层都能映射回上一页的闭环，不是额外堆叠的功能清单。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技术架构采用本地模块化单体。前端只通过 API 访问后端；LLM 只能通过网关调用；LangGraph 负责编排；RAG、图谱、规划和 BKT 保持独立职责；训练通过独立 CLI 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模型选型围绕设备约束和任务分工。1.5B 模型通过 QLoRA 学习目标解析、结构化输出和候选规划，课程事实由 RAG 提供，路径可行性由规则决定，掌握度由 BKT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的目标是让每个正式学习节点都有可回查的资料依据。系统先导入和切分课程资料，再用向量与 BM25 混合检索。没有达到阈值的证据只能形成 draft，不能发布为正式路径。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这里要主动澄清：当前设计不是多个自治 Agent 自由对话，而是一个 LangGraph 编排图。所有专业角色共享 AgentState，LLM 节点负责语义任务，RAG、图搜索、校验和 BKT 是确定性工具。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BKT 把打卡和测验证据转换成掌握度。低于 0.45 插入补强，达到 0.75 解锁后续硬先修节点。现场演示的关键是让一份未达标答案真实触发掌握度下降、补强任务和后续任务顺延。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系统可信性来自两层证明。第一层是确定性规则判断路径是否满足先修、预算、负荷和引用要求；第二层是现场运行记录证明核心请求没有复用缓存。规划失败最多重试三次，之后必须返回冲突和替代方向。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计划按可验证里程碑推进，不按写了多少代码或做了多少页面判断完成。每个阶段都必须有可以检查的交付结果，最后才进入现场演练和答辩交付。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当前没有可运行系统，这一点要明确说明。已经完成的是设计、SRS、责任边界和验收设计；当前重点是环境验证、数据 Schema、演示脚本和 RAG 与图谱准备；这些完成后形成第一批可检查交付物。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分工按业务闭环划分，不按前端和后端简单切开。A 负责首次计划生成，B 负责学习后的计划重排，两人共同保证接口、数据结构、联调和现场闭环。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最后用风险说明项目优先级。资源和模型稳定性风险通过最小版本、Schema 和有限重试控制；数据准备量通过固定一条验收主线控制；现场可信性通过新的运行记录和轨迹控制；协作风险通过尽早冻结接口契约控制。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cc741c3d546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fa014d4e949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bb69758844e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b3b2e72ff4e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58ce6792541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a05dfde304b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1EF8DE-E298-4CBF-B986-140F6D190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92F197-288F-4146-B8A0-F1B4C41796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13DB9E-4542-4EE2-B33F-26596F9A9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286D6A-2E05-4FD2-9D09-06FD23D94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26B32D-B1EF-4EF8-9E31-C1DB45C993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1708FC-1039-41CD-A637-32B80B3EC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93DA26-095E-4CB7-BA02-3C7C8FF530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B3701B-2EA0-4E1D-BC49-A71A433755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2656EC-DCB7-452A-9386-C57075058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BCD4C2-EB3E-4215-A23D-0F393AAEBA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b681b6e3a14759" /><Relationship Type="http://schemas.openxmlformats.org/officeDocument/2006/relationships/slideLayout" Target="/ppt/slideLayouts/slideLayout1.xml" Id="Rebbb3d8ea7414942" /><Relationship Type="http://schemas.openxmlformats.org/officeDocument/2006/relationships/slideLayout" Target="/ppt/slideLayouts/slideLayout2.xml" Id="Rc4b93a5f479c4e5c" /><Relationship Type="http://schemas.openxmlformats.org/officeDocument/2006/relationships/slideLayout" Target="/ppt/slideLayouts/slideLayout3.xml" Id="R9f2f64d30f724b0c" /><Relationship Type="http://schemas.openxmlformats.org/officeDocument/2006/relationships/slideLayout" Target="/ppt/slideLayouts/slideLayout4.xml" Id="R0a5b58ff3d9c4d45" /><Relationship Type="http://schemas.openxmlformats.org/officeDocument/2006/relationships/slideLayout" Target="/ppt/slideLayouts/slideLayout5.xml" Id="R5eee33aebbb54823" /><Relationship Type="http://schemas.openxmlformats.org/officeDocument/2006/relationships/slideLayout" Target="/ppt/slideLayouts/slideLayout6.xml" Id="Rbb9f61839584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bb3d8ea7414942"/>
    <p:sldLayoutId xmlns:r="http://schemas.openxmlformats.org/officeDocument/2006/relationships" id="2147483650" r:id="Rc4b93a5f479c4e5c"/>
    <p:sldLayoutId xmlns:r="http://schemas.openxmlformats.org/officeDocument/2006/relationships" id="2147483651" r:id="R9f2f64d30f724b0c"/>
    <p:sldLayoutId xmlns:r="http://schemas.openxmlformats.org/officeDocument/2006/relationships" id="2147483652" r:id="R0a5b58ff3d9c4d45"/>
    <p:sldLayoutId xmlns:r="http://schemas.openxmlformats.org/officeDocument/2006/relationships" id="2147483653" r:id="R5eee33aebbb54823"/>
    <p:sldLayoutId xmlns:r="http://schemas.openxmlformats.org/officeDocument/2006/relationships" id="2147483654" r:id="Rbb9f61839584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e8c8b1b6e4db3" /><Relationship Type="http://schemas.openxmlformats.org/officeDocument/2006/relationships/notesSlide" Target="/ppt/notesSlides/notesSlide1.xml" Id="Raa1991178eec4c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52ce8fd704b2d" /><Relationship Type="http://schemas.openxmlformats.org/officeDocument/2006/relationships/notesSlide" Target="/ppt/notesSlides/notesSlide2.xml" Id="R9b99b73d137a44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e7224e6604e9a" /><Relationship Type="http://schemas.openxmlformats.org/officeDocument/2006/relationships/notesSlide" Target="/ppt/notesSlides/notesSlide3.xml" Id="R9f1c3215c04f45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19e1ed8cd4cd9" /><Relationship Type="http://schemas.openxmlformats.org/officeDocument/2006/relationships/notesSlide" Target="/ppt/notesSlides/notesSlide4.xml" Id="R19aa05445bac4e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3f3a90874429b" /><Relationship Type="http://schemas.openxmlformats.org/officeDocument/2006/relationships/notesSlide" Target="/ppt/notesSlides/notesSlide5.xml" Id="Rdcb97a63c34649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36e53e6e44cf3" /><Relationship Type="http://schemas.openxmlformats.org/officeDocument/2006/relationships/notesSlide" Target="/ppt/notesSlides/notesSlide6.xml" Id="R5f22fdcf55894b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9ba70111b47b0" /><Relationship Type="http://schemas.openxmlformats.org/officeDocument/2006/relationships/notesSlide" Target="/ppt/notesSlides/notesSlide7.xml" Id="Rf0a9f3adcdc944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104906d7d14851" /><Relationship Type="http://schemas.openxmlformats.org/officeDocument/2006/relationships/notesSlide" Target="/ppt/notesSlides/notesSlide8.xml" Id="Rcf663289d7ed4d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21e15db844d43" /><Relationship Type="http://schemas.openxmlformats.org/officeDocument/2006/relationships/notesSlide" Target="/ppt/notesSlides/notesSlide9.xml" Id="R1b999541599244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f2d7efbdb4a9a" /><Relationship Type="http://schemas.openxmlformats.org/officeDocument/2006/relationships/notesSlide" Target="/ppt/notesSlides/notesSlide10.xml" Id="R8b6338e42e5647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6c2d3d4af44b7" /><Relationship Type="http://schemas.openxmlformats.org/officeDocument/2006/relationships/notesSlide" Target="/ppt/notesSlides/notesSlide11.xml" Id="Rea508363272441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93a7d854f46de" /><Relationship Type="http://schemas.openxmlformats.org/officeDocument/2006/relationships/notesSlide" Target="/ppt/notesSlides/notesSlide12.xml" Id="R2f7c3643768f40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6b57b871148c7" /><Relationship Type="http://schemas.openxmlformats.org/officeDocument/2006/relationships/notesSlide" Target="/ppt/notesSlides/notesSlide13.xml" Id="R3734aad450084e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8a7ecced34648" /><Relationship Type="http://schemas.openxmlformats.org/officeDocument/2006/relationships/notesSlide" Target="/ppt/notesSlides/notesSlide14.xml" Id="Re0499f5bd3a94f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55e2d41b64095" /><Relationship Type="http://schemas.openxmlformats.org/officeDocument/2006/relationships/notesSlide" Target="/ppt/notesSlides/notesSlide15.xml" Id="R8e4db0fd3e2b49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a61bef68b4cda" /><Relationship Type="http://schemas.openxmlformats.org/officeDocument/2006/relationships/notesSlide" Target="/ppt/notesSlides/notesSlide16.xml" Id="R48638e8470d1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8431D-70FD-4958-B0AB-D2C3A41BFD0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525000" y="43053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F4F8F-E454-48F6-9F53-E31D0B0496D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525000" y="32004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D7BC0-CE83-4D56-8808-319C9B2F55E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525000" y="20955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8C78410-CA02-44FF-A722-A922B72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阶段性进展汇报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4098972-D9EE-40F3-9446-1FA0D1E7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智能学习规划助手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28CF392-8E29-4EE8-B78F-206125C9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从学习目标到动态学习计划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8236DAC1-CF78-4538-955B-C58FDDDD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2 人项目组  |  2026 年 10 月</a:t>
            </a:r>
          </a:p>
        </p:txBody>
      </p:sp>
      <p:sp>
        <p:nvSpPr>
          <p:cNvPr id="5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47018160-6102-461E-9FAB-EDF89831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097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6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7CC5EF67-5D1B-4A5F-999C-4116146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146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基础诊断</a:t>
            </a:r>
          </a:p>
        </p:txBody>
      </p:sp>
      <p:sp>
        <p:nvSpPr>
          <p:cNvPr id="7" name="cover-node-3">
            <a:extLst xmlns:a="http://schemas.openxmlformats.org/drawingml/2006/main">
              <a:ext uri="{FF2B5EF4-FFF2-40B4-BE49-F238E27FC236}">
                <a16:creationId xmlns:a16="http://schemas.microsoft.com/office/drawing/2014/main" id="{051AF41F-7927-48D7-B980-4D1F09DC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个性化路径</a:t>
            </a:r>
          </a:p>
        </p:txBody>
      </p:sp>
      <p:sp>
        <p:nvSpPr>
          <p:cNvPr id="8" name="cover-node-4">
            <a:extLst xmlns:a="http://schemas.openxmlformats.org/drawingml/2006/main">
              <a:ext uri="{FF2B5EF4-FFF2-40B4-BE49-F238E27FC236}">
                <a16:creationId xmlns:a16="http://schemas.microsoft.com/office/drawing/2014/main" id="{1A587770-EEBF-4D68-881F-B34CB49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244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学习反馈</a:t>
            </a:r>
          </a:p>
        </p:txBody>
      </p:sp>
      <p:sp>
        <p:nvSpPr>
          <p:cNvPr id="12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A8C621AE-5519-4628-9762-F4F8E01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48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计划不是一次生成，而是持续更新</a:t>
            </a:r>
          </a:p>
        </p:txBody>
      </p:sp>
    </p:spTree>
    <p:extLst>
      <p:ext uri="{BB962C8B-B14F-4D97-AF65-F5344CB8AC3E}">
        <p14:creationId xmlns:p14="http://schemas.microsoft.com/office/powerpoint/2010/main" val="1632933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E2196-C4E0-4862-98C6-354676AB49E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39050" y="2066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D9942-1BF5-435F-85DE-0DA953C4E4C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19550" y="2066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95522B7-3EE8-4E54-B2C5-CA5F70C4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BB1995-C374-40AD-91AF-99DE8E5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需求与设计基线已完成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822513-4956-472A-8DF4-01092FBE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项目进入技术实施阶段</a:t>
            </a:r>
          </a:p>
        </p:txBody>
      </p:sp>
      <p:sp>
        <p:nvSpPr>
          <p:cNvPr id="4" name="status-complete">
            <a:extLst xmlns:a="http://schemas.openxmlformats.org/drawingml/2006/main">
              <a:ext uri="{FF2B5EF4-FFF2-40B4-BE49-F238E27FC236}">
                <a16:creationId xmlns:a16="http://schemas.microsoft.com/office/drawing/2014/main" id="{D48CA6D7-CE0E-4421-91A6-D0BF8981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已完成  |  设计与需求基线</a:t>
            </a:r>
          </a:p>
        </p:txBody>
      </p:sp>
      <p:sp>
        <p:nvSpPr>
          <p:cNvPr id="5" name="status-current">
            <a:extLst xmlns:a="http://schemas.openxmlformats.org/drawingml/2006/main">
              <a:ext uri="{FF2B5EF4-FFF2-40B4-BE49-F238E27FC236}">
                <a16:creationId xmlns:a16="http://schemas.microsoft.com/office/drawing/2014/main" id="{A8210BFA-374E-46C4-8727-1047899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  |  技术实施准备</a:t>
            </a:r>
          </a:p>
        </p:txBody>
      </p:sp>
      <p:sp>
        <p:nvSpPr>
          <p:cNvPr id="6" name="status-next">
            <a:extLst xmlns:a="http://schemas.openxmlformats.org/drawingml/2006/main">
              <a:ext uri="{FF2B5EF4-FFF2-40B4-BE49-F238E27FC236}">
                <a16:creationId xmlns:a16="http://schemas.microsoft.com/office/drawing/2014/main" id="{E1604C66-45E1-4F04-A678-4BAF8220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581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待完成  |  原型与现场演示</a:t>
            </a:r>
          </a:p>
        </p:txBody>
      </p:sp>
      <p:sp>
        <p:nvSpPr>
          <p:cNvPr id="9" name="completed-heading">
            <a:extLst xmlns:a="http://schemas.openxmlformats.org/drawingml/2006/main">
              <a:ext uri="{FF2B5EF4-FFF2-40B4-BE49-F238E27FC236}">
                <a16:creationId xmlns:a16="http://schemas.microsoft.com/office/drawing/2014/main" id="{FE8BF64D-0087-4C65-921D-11B19C31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0" name="completed-list">
            <a:extLst xmlns:a="http://schemas.openxmlformats.org/drawingml/2006/main">
              <a:ext uri="{FF2B5EF4-FFF2-40B4-BE49-F238E27FC236}">
                <a16:creationId xmlns:a16="http://schemas.microsoft.com/office/drawing/2014/main" id="{7BBFB130-909D-4E12-8DEC-1893BAA9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设计方案 v1.3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需求规格说明书 v1.1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双人责任边界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现场闭环验收设计</a:t>
            </a:r>
          </a:p>
        </p:txBody>
      </p:sp>
      <p:sp>
        <p:nvSpPr>
          <p:cNvPr id="11" name="pending-heading">
            <a:extLst xmlns:a="http://schemas.openxmlformats.org/drawingml/2006/main">
              <a:ext uri="{FF2B5EF4-FFF2-40B4-BE49-F238E27FC236}">
                <a16:creationId xmlns:a16="http://schemas.microsoft.com/office/drawing/2014/main" id="{14D1481F-09DA-449F-A534-4D839D35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尚未完成</a:t>
            </a:r>
          </a:p>
        </p:txBody>
      </p:sp>
      <p:sp>
        <p:nvSpPr>
          <p:cNvPr id="12" name="pending-list">
            <a:extLst xmlns:a="http://schemas.openxmlformats.org/drawingml/2006/main">
              <a:ext uri="{FF2B5EF4-FFF2-40B4-BE49-F238E27FC236}">
                <a16:creationId xmlns:a16="http://schemas.microsoft.com/office/drawing/2014/main" id="{624EE063-781B-46C4-8170-2E8D0647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核心代码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可运行原型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训练数据集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13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CA2B146C-B9BA-458C-83D8-02C58AD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近期行动</a:t>
            </a:r>
          </a:p>
        </p:txBody>
      </p:sp>
      <p:sp>
        <p:nvSpPr>
          <p:cNvPr id="14" name="next-list">
            <a:extLst xmlns:a="http://schemas.openxmlformats.org/drawingml/2006/main">
              <a:ext uri="{FF2B5EF4-FFF2-40B4-BE49-F238E27FC236}">
                <a16:creationId xmlns:a16="http://schemas.microsoft.com/office/drawing/2014/main" id="{7F098752-E684-40E8-AEB0-38DEA940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技术环境验证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数据 Schema 设计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RAG 与知识图谱准备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规划主链路实现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6C9BA-45D3-41A5-9C34-CE5A670E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us-summary">
            <a:extLst xmlns:a="http://schemas.openxmlformats.org/drawingml/2006/main">
              <a:ext uri="{FF2B5EF4-FFF2-40B4-BE49-F238E27FC236}">
                <a16:creationId xmlns:a16="http://schemas.microsoft.com/office/drawing/2014/main" id="{317D702A-0EB2-4948-90C2-F981D4A5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本次汇报说明准备怎么做，以及为什么这套方案能够被验收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CC63FF-6C47-484D-8635-0B2D0412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68198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34EF736-1F58-4585-8D11-DDD1179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3D8AA2-99F0-4B77-900E-6F81BD05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学生缺少可执行的学习路径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9B09D-6843-4B82-B602-57EE0AC6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资源列表无法回答“先学什么、是否来得及、如何调整”</a:t>
            </a:r>
          </a:p>
        </p:txBody>
      </p:sp>
      <p:sp>
        <p:nvSpPr>
          <p:cNvPr id="4" name="student-avatar">
            <a:extLst xmlns:a="http://schemas.openxmlformats.org/drawingml/2006/main">
              <a:ext uri="{FF2B5EF4-FFF2-40B4-BE49-F238E27FC236}">
                <a16:creationId xmlns:a16="http://schemas.microsoft.com/office/drawing/2014/main" id="{44D73D57-70AF-4E63-B832-F52F2F7E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低年级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计算机专业</a:t>
            </a:r>
          </a:p>
        </p:txBody>
      </p:sp>
      <p:sp>
        <p:nvSpPr>
          <p:cNvPr id="5" name="persona-label">
            <a:extLst xmlns:a="http://schemas.openxmlformats.org/drawingml/2006/main">
              <a:ext uri="{FF2B5EF4-FFF2-40B4-BE49-F238E27FC236}">
                <a16:creationId xmlns:a16="http://schemas.microsoft.com/office/drawing/2014/main" id="{0500E1D1-FD8D-4645-8CAC-48EE9766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典型状态</a:t>
            </a:r>
          </a:p>
        </p:txBody>
      </p:sp>
      <p:sp>
        <p:nvSpPr>
          <p:cNvPr id="6" name="persona-copy">
            <a:extLst xmlns:a="http://schemas.openxmlformats.org/drawingml/2006/main">
              <a:ext uri="{FF2B5EF4-FFF2-40B4-BE49-F238E27FC236}">
                <a16:creationId xmlns:a16="http://schemas.microsoft.com/office/drawing/2014/main" id="{611E7755-D21B-4BF2-9730-719E97B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1460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学过 Python 语法，能完成简单程序，但尚未形成系统的知识结构。</a:t>
            </a:r>
          </a:p>
        </p:txBody>
      </p:sp>
      <p:sp>
        <p:nvSpPr>
          <p:cNvPr id="7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A977BD42-DF3E-42EB-A855-2DA3562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缺少前置知识判断</a:t>
            </a:r>
          </a:p>
        </p:txBody>
      </p:sp>
      <p:sp>
        <p:nvSpPr>
          <p:cNvPr id="8" name="pain-copy-1">
            <a:extLst xmlns:a="http://schemas.openxmlformats.org/drawingml/2006/main">
              <a:ext uri="{FF2B5EF4-FFF2-40B4-BE49-F238E27FC236}">
                <a16:creationId xmlns:a16="http://schemas.microsoft.com/office/drawing/2014/main" id="{F7CD6CCC-03A5-44A3-A294-C4B3E726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不知道目标技能之前还缺什么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EFD93-10C4-4847-83F5-1FA92D4D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84A0A979-4224-47EF-81E0-7BE949CE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时间预算不可验证</a:t>
            </a:r>
          </a:p>
        </p:txBody>
      </p:sp>
      <p:sp>
        <p:nvSpPr>
          <p:cNvPr id="11" name="pain-copy-2">
            <a:extLst xmlns:a="http://schemas.openxmlformats.org/drawingml/2006/main">
              <a:ext uri="{FF2B5EF4-FFF2-40B4-BE49-F238E27FC236}">
                <a16:creationId xmlns:a16="http://schemas.microsoft.com/office/drawing/2014/main" id="{B125B2EF-4F4F-400C-BE58-0C614FAA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无法判断计划能否在期限内完成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C9D26-CF98-49DE-A2E2-C8CA01E5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in-title-3">
            <a:extLst xmlns:a="http://schemas.openxmlformats.org/drawingml/2006/main">
              <a:ext uri="{FF2B5EF4-FFF2-40B4-BE49-F238E27FC236}">
                <a16:creationId xmlns:a16="http://schemas.microsoft.com/office/drawing/2014/main" id="{ADB78A4C-32BB-40C7-A593-D764A51D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计划不会随证据变化</a:t>
            </a:r>
          </a:p>
        </p:txBody>
      </p:sp>
      <p:sp>
        <p:nvSpPr>
          <p:cNvPr id="14" name="pain-copy-3">
            <a:extLst xmlns:a="http://schemas.openxmlformats.org/drawingml/2006/main">
              <a:ext uri="{FF2B5EF4-FFF2-40B4-BE49-F238E27FC236}">
                <a16:creationId xmlns:a16="http://schemas.microsoft.com/office/drawing/2014/main" id="{591E72EF-F757-4433-B545-CAB9F16F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测验未达标后仍按原顺序推进</a:t>
            </a:r>
          </a:p>
        </p:txBody>
      </p:sp>
      <p:sp>
        <p:nvSpPr>
          <p:cNvPr id="15" name="goal-band">
            <a:extLst xmlns:a="http://schemas.openxmlformats.org/drawingml/2006/main">
              <a:ext uri="{FF2B5EF4-FFF2-40B4-BE49-F238E27FC236}">
                <a16:creationId xmlns:a16="http://schemas.microsoft.com/office/drawing/2014/main" id="{B486F24B-880E-4AC4-AD81-52870D35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项目目标：给出有依据、可执行、能随学习证据调整的学习路径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EA4E83-A682-4732-A3E0-8970EA7D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441448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6EC01E8-32B6-4ED5-B81E-83280C91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FB7467-8E69-4514-9828-FA38E8CE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项目聚焦学生端学习闭环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4F48067-2B26-482D-B5A8-B386AE49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用明确边界保证核心技术链路能够完成和验收</a:t>
            </a:r>
          </a:p>
        </p:txBody>
      </p:sp>
      <p:sp>
        <p:nvSpPr>
          <p:cNvPr id="4" name="scope-in-heading">
            <a:extLst xmlns:a="http://schemas.openxmlformats.org/drawingml/2006/main">
              <a:ext uri="{FF2B5EF4-FFF2-40B4-BE49-F238E27FC236}">
                <a16:creationId xmlns:a16="http://schemas.microsoft.com/office/drawing/2014/main" id="{21781379-EFE1-4032-8742-D2CD1169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本期范围</a:t>
            </a:r>
          </a:p>
        </p:txBody>
      </p:sp>
      <p:sp>
        <p:nvSpPr>
          <p:cNvPr id="5" name="scope-in-list">
            <a:extLst xmlns:a="http://schemas.openxmlformats.org/drawingml/2006/main">
              <a:ext uri="{FF2B5EF4-FFF2-40B4-BE49-F238E27FC236}">
                <a16:creationId xmlns:a16="http://schemas.microsoft.com/office/drawing/2014/main" id="{4C5F880E-A33B-4B10-9741-94EBDA82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目标创建与自然语言解析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基础诊断与学习者画像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RAG、知识图谱与路径规划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打卡、测验、BKT 与重规划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QLoRA 微调、模型评估与轨迹</a:t>
            </a:r>
          </a:p>
        </p:txBody>
      </p:sp>
      <p:sp>
        <p:nvSpPr>
          <p:cNvPr id="6" name="scope-out-heading">
            <a:extLst xmlns:a="http://schemas.openxmlformats.org/drawingml/2006/main">
              <a:ext uri="{FF2B5EF4-FFF2-40B4-BE49-F238E27FC236}">
                <a16:creationId xmlns:a16="http://schemas.microsoft.com/office/drawing/2014/main" id="{77453B67-0F8D-4026-9769-124CA169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621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非目标</a:t>
            </a:r>
          </a:p>
        </p:txBody>
      </p:sp>
      <p:sp>
        <p:nvSpPr>
          <p:cNvPr id="7" name="scope-out-list">
            <a:extLst xmlns:a="http://schemas.openxmlformats.org/drawingml/2006/main">
              <a:ext uri="{FF2B5EF4-FFF2-40B4-BE49-F238E27FC236}">
                <a16:creationId xmlns:a16="http://schemas.microsoft.com/office/drawing/2014/main" id="{7C9027D9-4BE1-4D84-BDA5-D6EC3B06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教师端与多人课堂管理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教务系统与统一身份认证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互联网资料自动抓取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代码沙箱与在线判题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生产级云部署与高可用集群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22E72-E475-4B02-A2A4-009E0CBA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95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ccess-criterion-1">
            <a:extLst xmlns:a="http://schemas.openxmlformats.org/drawingml/2006/main">
              <a:ext uri="{FF2B5EF4-FFF2-40B4-BE49-F238E27FC236}">
                <a16:creationId xmlns:a16="http://schemas.microsoft.com/office/drawing/2014/main" id="{78AF0CD8-C792-4D8F-8C4B-D7B825DF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路径满足先修与时间预算</a:t>
            </a:r>
          </a:p>
        </p:txBody>
      </p:sp>
      <p:sp>
        <p:nvSpPr>
          <p:cNvPr id="10" name="success-criterion-2">
            <a:extLst xmlns:a="http://schemas.openxmlformats.org/drawingml/2006/main">
              <a:ext uri="{FF2B5EF4-FFF2-40B4-BE49-F238E27FC236}">
                <a16:creationId xmlns:a16="http://schemas.microsoft.com/office/drawing/2014/main" id="{45FFFE2E-9E4D-4629-9C4E-AA89DD62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每个正式节点有真实引用</a:t>
            </a:r>
          </a:p>
        </p:txBody>
      </p:sp>
      <p:sp>
        <p:nvSpPr>
          <p:cNvPr id="11" name="success-criterion-3">
            <a:extLst xmlns:a="http://schemas.openxmlformats.org/drawingml/2006/main">
              <a:ext uri="{FF2B5EF4-FFF2-40B4-BE49-F238E27FC236}">
                <a16:creationId xmlns:a16="http://schemas.microsoft.com/office/drawing/2014/main" id="{1DA7D423-7655-4678-99D4-536615B7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未达标证据触发补强与重规划</a:t>
            </a:r>
          </a:p>
        </p:txBody>
      </p:sp>
      <p:sp>
        <p:nvSpPr>
          <p:cNvPr id="12" name="scope-mainline">
            <a:extLst xmlns:a="http://schemas.openxmlformats.org/drawingml/2006/main">
              <a:ext uri="{FF2B5EF4-FFF2-40B4-BE49-F238E27FC236}">
                <a16:creationId xmlns:a16="http://schemas.microsoft.com/office/drawing/2014/main" id="{7574F097-6F63-4B74-84FC-5612C06C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完整验收主线：Python 基础 → 数据结构与算法 → 后端开发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8A4D16-D781-4F73-B7C5-DCA2722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948393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AE4F8-A725-4DD5-96A9-8667F2512DA3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5057775" y="3562350"/>
            <a:ext cx="5429250" cy="22860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0F766E"/>
            </a:solidFill>
            <a:prstDash val="dash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9ADC5-06CF-4667-9671-2D42A60E73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4297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098A2-9701-46DB-B4BA-76A81A825E6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B309D-862B-475A-8F69-4F6F321BAB1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B79FA-9007-425E-836F-300E4BA9720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0050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EFF0A-8326-4D89-811A-51A509DA681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907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EF4FB9E-BC54-445E-8E76-A1051D23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D8F28B-6009-49B9-A153-8F59285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六阶段闭环覆盖目标、执行与反馈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D22066-F4EC-4265-81D4-B9333A01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现场验收沿同一条业务链连续完成</a:t>
            </a:r>
          </a:p>
        </p:txBody>
      </p:sp>
      <p:sp>
        <p:nvSpPr>
          <p:cNvPr id="4" name="loop-step-1">
            <a:extLst xmlns:a="http://schemas.openxmlformats.org/drawingml/2006/main">
              <a:ext uri="{FF2B5EF4-FFF2-40B4-BE49-F238E27FC236}">
                <a16:creationId xmlns:a16="http://schemas.microsoft.com/office/drawing/2014/main" id="{39F04890-87C5-403C-92F7-77FC3CB1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5" name="loop-step-2">
            <a:extLst xmlns:a="http://schemas.openxmlformats.org/drawingml/2006/main">
              <a:ext uri="{FF2B5EF4-FFF2-40B4-BE49-F238E27FC236}">
                <a16:creationId xmlns:a16="http://schemas.microsoft.com/office/drawing/2014/main" id="{79B69BEC-7272-4E30-9190-3272E15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诊断起点</a:t>
            </a:r>
          </a:p>
        </p:txBody>
      </p:sp>
      <p:sp>
        <p:nvSpPr>
          <p:cNvPr id="6" name="loop-step-3">
            <a:extLst xmlns:a="http://schemas.openxmlformats.org/drawingml/2006/main">
              <a:ext uri="{FF2B5EF4-FFF2-40B4-BE49-F238E27FC236}">
                <a16:creationId xmlns:a16="http://schemas.microsoft.com/office/drawing/2014/main" id="{074BE278-B94D-4000-AC88-11402497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生成路径</a:t>
            </a:r>
          </a:p>
        </p:txBody>
      </p:sp>
      <p:sp>
        <p:nvSpPr>
          <p:cNvPr id="7" name="loop-step-4">
            <a:extLst xmlns:a="http://schemas.openxmlformats.org/drawingml/2006/main">
              <a:ext uri="{FF2B5EF4-FFF2-40B4-BE49-F238E27FC236}">
                <a16:creationId xmlns:a16="http://schemas.microsoft.com/office/drawing/2014/main" id="{6743F2D5-AB03-489F-A119-18B9217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执行打卡</a:t>
            </a:r>
          </a:p>
        </p:txBody>
      </p:sp>
      <p:sp>
        <p:nvSpPr>
          <p:cNvPr id="8" name="loop-step-5">
            <a:extLst xmlns:a="http://schemas.openxmlformats.org/drawingml/2006/main">
              <a:ext uri="{FF2B5EF4-FFF2-40B4-BE49-F238E27FC236}">
                <a16:creationId xmlns:a16="http://schemas.microsoft.com/office/drawing/2014/main" id="{32E17B4C-275A-4DE8-9152-B9D35D22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证据验收</a:t>
            </a:r>
          </a:p>
        </p:txBody>
      </p:sp>
      <p:sp>
        <p:nvSpPr>
          <p:cNvPr id="9" name="loop-step-6">
            <a:extLst xmlns:a="http://schemas.openxmlformats.org/drawingml/2006/main">
              <a:ext uri="{FF2B5EF4-FFF2-40B4-BE49-F238E27FC236}">
                <a16:creationId xmlns:a16="http://schemas.microsoft.com/office/drawing/2014/main" id="{9A6E68BB-8E81-439B-9D29-ACEC9D26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重规划</a:t>
            </a:r>
          </a:p>
        </p:txBody>
      </p:sp>
      <p:sp>
        <p:nvSpPr>
          <p:cNvPr id="16" name="loop-annotation">
            <a:extLst xmlns:a="http://schemas.openxmlformats.org/drawingml/2006/main">
              <a:ext uri="{FF2B5EF4-FFF2-40B4-BE49-F238E27FC236}">
                <a16:creationId xmlns:a16="http://schemas.microsoft.com/office/drawing/2014/main" id="{1A471DD0-E951-4FC1-BA0C-A9306D92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未达标或约束变化时回到规划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4BCCE-842A-416E-925D-98376417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requirement">
            <a:extLst xmlns:a="http://schemas.openxmlformats.org/drawingml/2006/main">
              <a:ext uri="{FF2B5EF4-FFF2-40B4-BE49-F238E27FC236}">
                <a16:creationId xmlns:a16="http://schemas.microsoft.com/office/drawing/2014/main" id="{2E5BF965-1040-4741-BA75-C9E39DC5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业务要求：状态持久化、结构化输出、可检查通过条件</a:t>
            </a:r>
          </a:p>
        </p:txBody>
      </p:sp>
      <p:sp>
        <p:nvSpPr>
          <p:cNvPr id="19" name="loop-demo-rule">
            <a:extLst xmlns:a="http://schemas.openxmlformats.org/drawingml/2006/main">
              <a:ext uri="{FF2B5EF4-FFF2-40B4-BE49-F238E27FC236}">
                <a16:creationId xmlns:a16="http://schemas.microsoft.com/office/drawing/2014/main" id="{C2B873DD-A0CF-4C47-BBA8-827DD445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72100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现场要求：无预生成路径、无缓存规划、无人工改库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7F0260-C715-43D5-8C8D-2764B268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741724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2AB9B03-4FA2-47C5-9C85-5EBBEA31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CF6B02-7B5E-476F-B6A5-9EE1C486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功能框架围绕闭环分层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1E649C-0933-4A7F-907A-6031B417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业务操作、智能规划、学习模型和可信数据各司其职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1B6B2-DD45-4DE3-A85D-A4E84EB54C87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882015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主要功能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学生业务层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目标管理、基础诊断、学习路径、今日任务、证据验收、重规划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智能规划层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目标解析、内容生成、知识图谱、图约束搜索、规则校验、路径解释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学习模型层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学习者画像、BKT、执行偏差、掌握度快照、重规划判断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可信数据层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RAG、真实引用、文档版本、模型版本、Agent 轨迹与运行记录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functional-principle">
            <a:extLst xmlns:a="http://schemas.openxmlformats.org/drawingml/2006/main">
              <a:ext uri="{FF2B5EF4-FFF2-40B4-BE49-F238E27FC236}">
                <a16:creationId xmlns:a16="http://schemas.microsoft.com/office/drawing/2014/main" id="{C0109BA5-E717-4D99-AEF7-5E6FBA9E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核心原则：语言模型提供候选，系统和证据决定内容能否进入正式路径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23BEAD-7B1C-492F-86B2-43B9E315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1177893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7C08D-B3E1-4150-AFEE-B102843F516D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6096000" y="3924300"/>
            <a:ext cx="407670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87711-D4F2-4C16-BEF7-18FFE7A21EE9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6096000" y="3924300"/>
            <a:ext cx="194310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A56246-A022-46D5-BC8C-A3FBD0A2934E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905500" y="3924300"/>
            <a:ext cx="19050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4347F-A89C-450E-98DA-EB193E22880B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71900" y="3924300"/>
            <a:ext cx="232410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28529-E9D4-41A3-9100-76A37D239E19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638300" y="3924300"/>
            <a:ext cx="445770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DE168-81A5-4E26-8651-6DC79E545FA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991600" y="35147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DB9C4-8D4B-405C-981B-0BF12654FD5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58000" y="35147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6E074-2782-4330-A4FD-C2B457BDD81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24400" y="35147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9C3F7-23E3-4A52-83AF-BCEE11748DA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90800" y="35147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17452-7510-4EB7-B13C-3B79F10CCEF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905500" y="2457450"/>
            <a:ext cx="148590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DF3A9-F820-4CCD-8F0C-F9B9333D214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724900" y="20955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dash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5DEE5-17B4-4F79-84DF-99957AF83D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62600" y="20955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577B7-0669-4639-B6E8-4EFE3AF75FE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76550" y="20955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885BA20-6894-4E5A-B97D-5B822A3C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B3B42B-6140-4D28-B5EE-9B3F00F0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本地模块化单体支撑完整 AI 链路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E76D4C-5F27-41FB-B2D6-0F6B718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模块边界清楚，同时避免课程项目引入微服务复杂度</a:t>
            </a:r>
          </a:p>
        </p:txBody>
      </p:sp>
      <p:sp>
        <p:nvSpPr>
          <p:cNvPr id="4" name="arch-frontend">
            <a:extLst xmlns:a="http://schemas.openxmlformats.org/drawingml/2006/main">
              <a:ext uri="{FF2B5EF4-FFF2-40B4-BE49-F238E27FC236}">
                <a16:creationId xmlns:a16="http://schemas.microsoft.com/office/drawing/2014/main" id="{EC3EEC24-FD6A-41C5-8B77-D680D206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190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React 学生端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目标、路径、任务、测验</a:t>
            </a:r>
          </a:p>
        </p:txBody>
      </p:sp>
      <p:sp>
        <p:nvSpPr>
          <p:cNvPr id="5" name="arch-api">
            <a:extLst xmlns:a="http://schemas.openxmlformats.org/drawingml/2006/main">
              <a:ext uri="{FF2B5EF4-FFF2-40B4-BE49-F238E27FC236}">
                <a16:creationId xmlns:a16="http://schemas.microsoft.com/office/drawing/2014/main" id="{9712400C-0AF7-451B-B0CD-BDACD65D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33550"/>
            <a:ext cx="2190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REST API + Schema</a:t>
            </a:r>
          </a:p>
        </p:txBody>
      </p:sp>
      <p:sp>
        <p:nvSpPr>
          <p:cNvPr id="6" name="arch-agent">
            <a:extLst xmlns:a="http://schemas.openxmlformats.org/drawingml/2006/main">
              <a:ext uri="{FF2B5EF4-FFF2-40B4-BE49-F238E27FC236}">
                <a16:creationId xmlns:a16="http://schemas.microsoft.com/office/drawing/2014/main" id="{4DEE9BDA-1D5D-4DD4-A30C-3848087E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33550"/>
            <a:ext cx="266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LangGraph 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状态图、条件路由、重试</a:t>
            </a:r>
          </a:p>
        </p:txBody>
      </p:sp>
      <p:sp>
        <p:nvSpPr>
          <p:cNvPr id="7" name="arch-training">
            <a:extLst xmlns:a="http://schemas.openxmlformats.org/drawingml/2006/main">
              <a:ext uri="{FF2B5EF4-FFF2-40B4-BE49-F238E27FC236}">
                <a16:creationId xmlns:a16="http://schemas.microsoft.com/office/drawing/2014/main" id="{CDBA6EFB-723A-4091-BCAA-80AEB1FF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33550"/>
            <a:ext cx="2286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Training CLI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QLoRA + 模型评估</a:t>
            </a:r>
          </a:p>
        </p:txBody>
      </p:sp>
      <p:sp>
        <p:nvSpPr>
          <p:cNvPr id="11" name="arch-service-1">
            <a:extLst xmlns:a="http://schemas.openxmlformats.org/drawingml/2006/main">
              <a:ext uri="{FF2B5EF4-FFF2-40B4-BE49-F238E27FC236}">
                <a16:creationId xmlns:a16="http://schemas.microsoft.com/office/drawing/2014/main" id="{CE22A700-5E86-4483-AB25-66FC504B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Ollama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</p:txBody>
      </p:sp>
      <p:sp>
        <p:nvSpPr>
          <p:cNvPr id="12" name="arch-service-2">
            <a:extLst xmlns:a="http://schemas.openxmlformats.org/drawingml/2006/main">
              <a:ext uri="{FF2B5EF4-FFF2-40B4-BE49-F238E27FC236}">
                <a16:creationId xmlns:a16="http://schemas.microsoft.com/office/drawing/2014/main" id="{1AB1688B-3489-4CAC-907D-12287988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Chroma + FTS5</a:t>
            </a:r>
          </a:p>
        </p:txBody>
      </p:sp>
      <p:sp>
        <p:nvSpPr>
          <p:cNvPr id="13" name="arch-service-3">
            <a:extLst xmlns:a="http://schemas.openxmlformats.org/drawingml/2006/main">
              <a:ext uri="{FF2B5EF4-FFF2-40B4-BE49-F238E27FC236}">
                <a16:creationId xmlns:a16="http://schemas.microsoft.com/office/drawing/2014/main" id="{ED1CB3B5-E1DC-4EFF-AFC5-F444834D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DAG + 拓扑排序</a:t>
            </a:r>
          </a:p>
        </p:txBody>
      </p:sp>
      <p:sp>
        <p:nvSpPr>
          <p:cNvPr id="14" name="arch-service-4">
            <a:extLst xmlns:a="http://schemas.openxmlformats.org/drawingml/2006/main">
              <a:ext uri="{FF2B5EF4-FFF2-40B4-BE49-F238E27FC236}">
                <a16:creationId xmlns:a16="http://schemas.microsoft.com/office/drawing/2014/main" id="{5041C688-8126-4E02-AAFF-A8003712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051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规划与校验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图搜索 + 规则</a:t>
            </a:r>
          </a:p>
        </p:txBody>
      </p:sp>
      <p:sp>
        <p:nvSpPr>
          <p:cNvPr id="15" name="arch-service-5">
            <a:extLst xmlns:a="http://schemas.openxmlformats.org/drawingml/2006/main">
              <a:ext uri="{FF2B5EF4-FFF2-40B4-BE49-F238E27FC236}">
                <a16:creationId xmlns:a16="http://schemas.microsoft.com/office/drawing/2014/main" id="{F542F32E-D541-40AC-B7F3-3764AC6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051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BKT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掌握度与重规划</a:t>
            </a:r>
          </a:p>
        </p:txBody>
      </p:sp>
      <p:sp>
        <p:nvSpPr>
          <p:cNvPr id="21" name="arch-data-layer">
            <a:extLst xmlns:a="http://schemas.openxmlformats.org/drawingml/2006/main">
              <a:ext uri="{FF2B5EF4-FFF2-40B4-BE49-F238E27FC236}">
                <a16:creationId xmlns:a16="http://schemas.microsoft.com/office/drawing/2014/main" id="{E7926524-5BC0-443F-8EF9-D752B6F7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本地数据层  |  SQLite 业务数据  |  Chroma 向量索引  |  SQLite FTS5 文本检索  |  文件系统模型产物</a:t>
            </a:r>
          </a:p>
        </p:txBody>
      </p:sp>
      <p:sp>
        <p:nvSpPr>
          <p:cNvPr id="27" name="arch-boundary-1">
            <a:extLst xmlns:a="http://schemas.openxmlformats.org/drawingml/2006/main">
              <a:ext uri="{FF2B5EF4-FFF2-40B4-BE49-F238E27FC236}">
                <a16:creationId xmlns:a16="http://schemas.microsoft.com/office/drawing/2014/main" id="{7E71B1BD-D75C-47C1-A0BF-A1EDB913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LLM 只负责理解、生成候选和解释</a:t>
            </a:r>
          </a:p>
        </p:txBody>
      </p:sp>
      <p:sp>
        <p:nvSpPr>
          <p:cNvPr id="28" name="arch-boundary-2">
            <a:extLst xmlns:a="http://schemas.openxmlformats.org/drawingml/2006/main">
              <a:ext uri="{FF2B5EF4-FFF2-40B4-BE49-F238E27FC236}">
                <a16:creationId xmlns:a16="http://schemas.microsoft.com/office/drawing/2014/main" id="{D9CA6625-52EB-4E80-9963-D8459E08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4830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图谱、约束规划和规则校验决定路径是否可行</a:t>
            </a:r>
          </a:p>
        </p:txBody>
      </p:sp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018F2B-240E-459C-AF95-0100B5CB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666388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19FCD18-D47D-45EA-B429-9EA4D620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050DA9-9B30-4C2B-BE4C-40D4904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小参数模型学习任务格式，不记忆课程事实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60F19B-7BCA-4DDF-9CD3-B70F2EC9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Qwen2.5-1.5B 与 QLoRA 在效果、显存和训练时间之间取平衡</a:t>
            </a:r>
          </a:p>
        </p:txBody>
      </p:sp>
      <p:sp>
        <p:nvSpPr>
          <p:cNvPr id="4" name="model-band">
            <a:extLst xmlns:a="http://schemas.openxmlformats.org/drawingml/2006/main">
              <a:ext uri="{FF2B5EF4-FFF2-40B4-BE49-F238E27FC236}">
                <a16:creationId xmlns:a16="http://schemas.microsoft.com/office/drawing/2014/main" id="{3EE87D03-E08F-4E1A-9EA4-98A353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Qwen2.5-1.5B-Instruct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4-bit QLoRA  |  Ollama 本地推理</a:t>
            </a:r>
          </a:p>
        </p:txBody>
      </p:sp>
      <p:sp>
        <p:nvSpPr>
          <p:cNvPr id="5" name="model-config-list">
            <a:extLst xmlns:a="http://schemas.openxmlformats.org/drawingml/2006/main">
              <a:ext uri="{FF2B5EF4-FFF2-40B4-BE49-F238E27FC236}">
                <a16:creationId xmlns:a16="http://schemas.microsoft.com/office/drawing/2014/main" id="{067A8E0C-DA39-46CD-8E6F-350921A9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嵌入模型：nomic-embed-text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训练数据：600 至 1200 条审核后的 SFT 样本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训练划分：80% / 10% / 10%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默认配置：rank 16、alpha 32、dropout 0.05</a:t>
            </a:r>
          </a:p>
        </p:txBody>
      </p:sp>
      <p:sp>
        <p:nvSpPr>
          <p:cNvPr id="6" name="model-responsible-heading">
            <a:extLst xmlns:a="http://schemas.openxmlformats.org/drawingml/2006/main">
              <a:ext uri="{FF2B5EF4-FFF2-40B4-BE49-F238E27FC236}">
                <a16:creationId xmlns:a16="http://schemas.microsoft.com/office/drawing/2014/main" id="{3A3AE48B-13F9-477B-A408-E337C911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模型负责</a:t>
            </a:r>
          </a:p>
        </p:txBody>
      </p:sp>
      <p:sp>
        <p:nvSpPr>
          <p:cNvPr id="7" name="model-responsible-list">
            <a:extLst xmlns:a="http://schemas.openxmlformats.org/drawingml/2006/main">
              <a:ext uri="{FF2B5EF4-FFF2-40B4-BE49-F238E27FC236}">
                <a16:creationId xmlns:a16="http://schemas.microsoft.com/office/drawing/2014/main" id="{37E572FB-E75B-4CFA-9AE2-108BEBA2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理解目标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拆解知识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生成任务与题目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生成候选路径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解释调整原因</a:t>
            </a:r>
          </a:p>
        </p:txBody>
      </p:sp>
      <p:sp>
        <p:nvSpPr>
          <p:cNvPr id="8" name="model-not-responsible-heading">
            <a:extLst xmlns:a="http://schemas.openxmlformats.org/drawingml/2006/main">
              <a:ext uri="{FF2B5EF4-FFF2-40B4-BE49-F238E27FC236}">
                <a16:creationId xmlns:a16="http://schemas.microsoft.com/office/drawing/2014/main" id="{B9A719A8-FB07-414B-8874-3CB84F49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不由模型决定</a:t>
            </a:r>
          </a:p>
        </p:txBody>
      </p:sp>
      <p:sp>
        <p:nvSpPr>
          <p:cNvPr id="9" name="model-not-responsible-list">
            <a:extLst xmlns:a="http://schemas.openxmlformats.org/drawingml/2006/main">
              <a:ext uri="{FF2B5EF4-FFF2-40B4-BE49-F238E27FC236}">
                <a16:creationId xmlns:a16="http://schemas.microsoft.com/office/drawing/2014/main" id="{B6907C12-09B2-4BBF-9A31-0D358B9D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2305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课程事实真实性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最终路径可行性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掌握度更新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是否允许发布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D4072-0FB6-435A-BA05-E08057B5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E1330FA9-481D-4391-BC2F-AA405933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AB986FA-848F-469A-A7B0-D90D1A44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JSON 合法率</a:t>
            </a:r>
          </a:p>
        </p:txBody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CD1B334-8371-4F8C-8D9A-B112BF62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+10pp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7C94D87B-85B1-44DD-9455-03ECDDB3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结构化成功率提升</a:t>
            </a:r>
          </a:p>
        </p:txBody>
      </p:sp>
      <p:sp>
        <p:nvSpPr>
          <p:cNvPr id="1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87007ABD-4C83-49D8-B8E9-217BC718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E158419E-A47E-4FDF-BE8A-C8288FDD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引用存在率</a:t>
            </a:r>
          </a:p>
        </p:txBody>
      </p:sp>
      <p:sp>
        <p:nvSpPr>
          <p:cNvPr id="17" name="metric-value-4">
            <a:extLst xmlns:a="http://schemas.openxmlformats.org/drawingml/2006/main">
              <a:ext uri="{FF2B5EF4-FFF2-40B4-BE49-F238E27FC236}">
                <a16:creationId xmlns:a16="http://schemas.microsoft.com/office/drawing/2014/main" id="{0E515CA7-B35D-4A38-BCCF-911BB8FA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D0659E7C-1CC0-4C3B-9047-1606601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硬先修冲突率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19C45D-5899-4F3D-AF29-62CB970F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216265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717EC-CA79-4F47-9DAE-D714CC336B4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6775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8C9D8-B7A4-46E2-8299-39F68EA87C6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5320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BDCEE-E447-4155-B94E-82A652E9F68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3865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D8C4A-1F8D-4C7A-AF04-3E2A7B1BC10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D4E9B11-0C73-4480-86DE-60AC91F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53B530-C880-49F0-89B8-EEBD5394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RAG 为学习节点提供可追溯依据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CB838B-93C7-4859-924C-531E4097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混合检索保证语义匹配，同时保留课程术语的精确匹配</a:t>
            </a:r>
          </a:p>
        </p:txBody>
      </p:sp>
      <p:sp>
        <p:nvSpPr>
          <p:cNvPr id="4" name="rag-step-1">
            <a:extLst xmlns:a="http://schemas.openxmlformats.org/drawingml/2006/main">
              <a:ext uri="{FF2B5EF4-FFF2-40B4-BE49-F238E27FC236}">
                <a16:creationId xmlns:a16="http://schemas.microsoft.com/office/drawing/2014/main" id="{86A59AC2-7979-4FFE-AD7F-851CBD5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导入资料</a:t>
            </a:r>
          </a:p>
        </p:txBody>
      </p:sp>
      <p:sp>
        <p:nvSpPr>
          <p:cNvPr id="5" name="rag-step-2">
            <a:extLst xmlns:a="http://schemas.openxmlformats.org/drawingml/2006/main">
              <a:ext uri="{FF2B5EF4-FFF2-40B4-BE49-F238E27FC236}">
                <a16:creationId xmlns:a16="http://schemas.microsoft.com/office/drawing/2014/main" id="{37857115-0B03-4A5C-B3A0-BC13594A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语义切分</a:t>
            </a:r>
          </a:p>
        </p:txBody>
      </p:sp>
      <p:sp>
        <p:nvSpPr>
          <p:cNvPr id="6" name="rag-step-3">
            <a:extLst xmlns:a="http://schemas.openxmlformats.org/drawingml/2006/main">
              <a:ext uri="{FF2B5EF4-FFF2-40B4-BE49-F238E27FC236}">
                <a16:creationId xmlns:a16="http://schemas.microsoft.com/office/drawing/2014/main" id="{A8A9F95B-1FAF-476B-B7E7-705BEA84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建立索引</a:t>
            </a:r>
          </a:p>
        </p:txBody>
      </p:sp>
      <p:sp>
        <p:nvSpPr>
          <p:cNvPr id="7" name="rag-step-4">
            <a:extLst xmlns:a="http://schemas.openxmlformats.org/drawingml/2006/main">
              <a:ext uri="{FF2B5EF4-FFF2-40B4-BE49-F238E27FC236}">
                <a16:creationId xmlns:a16="http://schemas.microsoft.com/office/drawing/2014/main" id="{502D0923-53EC-4D56-9E4A-1A9D4962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8" name="rag-step-5">
            <a:extLst xmlns:a="http://schemas.openxmlformats.org/drawingml/2006/main">
              <a:ext uri="{FF2B5EF4-FFF2-40B4-BE49-F238E27FC236}">
                <a16:creationId xmlns:a16="http://schemas.microsoft.com/office/drawing/2014/main" id="{FCAACD3B-059E-4E56-AE6D-D830C619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生成引用</a:t>
            </a:r>
          </a:p>
        </p:txBody>
      </p:sp>
      <p:sp>
        <p:nvSpPr>
          <p:cNvPr id="13" name="rag-formula-heading">
            <a:extLst xmlns:a="http://schemas.openxmlformats.org/drawingml/2006/main">
              <a:ext uri="{FF2B5EF4-FFF2-40B4-BE49-F238E27FC236}">
                <a16:creationId xmlns:a16="http://schemas.microsoft.com/office/drawing/2014/main" id="{161F3A2E-FB00-4715-AD90-B354DE82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混合检索公式</a:t>
            </a:r>
          </a:p>
        </p:txBody>
      </p:sp>
      <p:sp>
        <p:nvSpPr>
          <p:cNvPr id="14" name="rag-formula">
            <a:extLst xmlns:a="http://schemas.openxmlformats.org/drawingml/2006/main">
              <a:ext uri="{FF2B5EF4-FFF2-40B4-BE49-F238E27FC236}">
                <a16:creationId xmlns:a16="http://schemas.microsoft.com/office/drawing/2014/main" id="{BBE0414E-2ACF-44F1-8F7E-2C594C43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0.65 × 向量相似度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+ 0.35 × 归一化 BM25</a:t>
            </a:r>
          </a:p>
        </p:txBody>
      </p:sp>
      <p:sp>
        <p:nvSpPr>
          <p:cNvPr id="15" name="rag-retrieval-list">
            <a:extLst xmlns:a="http://schemas.openxmlformats.org/drawingml/2006/main">
              <a:ext uri="{FF2B5EF4-FFF2-40B4-BE49-F238E27FC236}">
                <a16:creationId xmlns:a16="http://schemas.microsoft.com/office/drawing/2014/main" id="{983DF423-2B34-4C6A-803D-7B8A1E56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默认召回 8 个片段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过滤课程、知识域和文档版本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返回前 5 个片段作为上下文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505DC-4044-4154-B035-D12484CB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g-citation-heading">
            <a:extLst xmlns:a="http://schemas.openxmlformats.org/drawingml/2006/main">
              <a:ext uri="{FF2B5EF4-FFF2-40B4-BE49-F238E27FC236}">
                <a16:creationId xmlns:a16="http://schemas.microsoft.com/office/drawing/2014/main" id="{0E2ECFC2-20C2-4B68-80F6-AEEFEA2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引用记录示例</a:t>
            </a:r>
          </a:p>
        </p:txBody>
      </p:sp>
      <p:sp>
        <p:nvSpPr>
          <p:cNvPr id="18" name="citation-title">
            <a:extLst xmlns:a="http://schemas.openxmlformats.org/drawingml/2006/main">
              <a:ext uri="{FF2B5EF4-FFF2-40B4-BE49-F238E27FC236}">
                <a16:creationId xmlns:a16="http://schemas.microsoft.com/office/drawing/2014/main" id="{F530A5AC-ED56-43AF-B49B-D3509A6C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Python 程序设计课程大纲</a:t>
            </a:r>
          </a:p>
        </p:txBody>
      </p:sp>
      <p:sp>
        <p:nvSpPr>
          <p:cNvPr id="19" name="citation-detail">
            <a:extLst xmlns:a="http://schemas.openxmlformats.org/drawingml/2006/main">
              <a:ext uri="{FF2B5EF4-FFF2-40B4-BE49-F238E27FC236}">
                <a16:creationId xmlns:a16="http://schemas.microsoft.com/office/drawing/2014/main" id="{352C9A19-A932-43F1-B9D0-885B9770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章节：函数与模块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页码：12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片段：doc-python-001-c03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检索得分：0.82</a:t>
            </a:r>
          </a:p>
        </p:txBody>
      </p:sp>
      <p:sp>
        <p:nvSpPr>
          <p:cNvPr id="20" name="rag-trust-level">
            <a:extLst xmlns:a="http://schemas.openxmlformats.org/drawingml/2006/main">
              <a:ext uri="{FF2B5EF4-FFF2-40B4-BE49-F238E27FC236}">
                <a16:creationId xmlns:a16="http://schemas.microsoft.com/office/drawing/2014/main" id="{EB8C465F-3BF9-4FAF-830F-441EB7F5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无有效证据 → 标记 draft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有真实证据且规则通过 → verified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96A629-B893-4607-A250-7B416259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969906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320E2-37A6-4799-9F97-009FC848283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677150" y="4019550"/>
            <a:ext cx="2266950" cy="1438275"/>
          </a:xfrm>
          <a:prstGeom xmlns:a="http://schemas.openxmlformats.org/drawingml/2006/main" prst="bentConnector5">
            <a:avLst>
              <a:gd name="adj1" fmla="val 0"/>
              <a:gd name="adj2" fmla="val 15894"/>
              <a:gd name="adj3" fmla="val 89916"/>
            </a:avLst>
          </a:prstGeom>
          <a:ln xmlns:a="http://schemas.openxmlformats.org/drawingml/2006/main" w="19050">
            <a:solidFill>
              <a:srgbClr val="0F766E"/>
            </a:solidFill>
            <a:prstDash val="dash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F2711-ABD7-46B5-BED7-B6EC8EEBB3F5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415290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17B67-ED70-4B0D-8480-7C812D2AF21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77150" y="3476625"/>
            <a:ext cx="704850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7D89B-03EC-4183-8B04-536154769A8F}"/>
              </a:ext>
            </a:extLst>
          </p:cNvPr>
          <p:cNvCxnSpPr>
            <a:stCxn xmlns:a="http://schemas.openxmlformats.org/drawingml/2006/main" id="4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638550" y="3476625"/>
            <a:ext cx="876300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5FBF2-AEC4-4D20-8926-AFDF6D30E9F3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096000" y="2009775"/>
            <a:ext cx="2286000" cy="7905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169ED-D940-453C-8FB5-9CCE9E9985E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3638550" y="2009775"/>
            <a:ext cx="2457450" cy="7905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148309C-382F-4DDA-945E-D02AD620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E1DE14-824C-4249-A2D8-3DAF764A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LangGraph 通过共享状态编排多角色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77D68B-8EFB-4E83-90BE-E55F5D84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受控工作流保留专业分工，同时避免 Agent 自由协商带来的不确定性</a:t>
            </a:r>
          </a:p>
        </p:txBody>
      </p:sp>
      <p:sp>
        <p:nvSpPr>
          <p:cNvPr id="4" name="langgraph-state">
            <a:extLst xmlns:a="http://schemas.openxmlformats.org/drawingml/2006/main">
              <a:ext uri="{FF2B5EF4-FFF2-40B4-BE49-F238E27FC236}">
                <a16:creationId xmlns:a16="http://schemas.microsoft.com/office/drawing/2014/main" id="{212CAA9B-4C1A-4CBA-90F5-1EB913EA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3162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AgentState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目标、画像、证据、候选路径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校验结果、重试、运行轨迹</a:t>
            </a:r>
          </a:p>
        </p:txBody>
      </p:sp>
      <p:sp>
        <p:nvSpPr>
          <p:cNvPr id="5" name="langgraph-role-1">
            <a:extLst xmlns:a="http://schemas.openxmlformats.org/drawingml/2006/main">
              <a:ext uri="{FF2B5EF4-FFF2-40B4-BE49-F238E27FC236}">
                <a16:creationId xmlns:a16="http://schemas.microsoft.com/office/drawing/2014/main" id="{D51D9506-DB8A-4E84-9012-119ABCEE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目标解析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GoalInterpreter</a:t>
            </a:r>
          </a:p>
        </p:txBody>
      </p:sp>
      <p:sp>
        <p:nvSpPr>
          <p:cNvPr id="6" name="langgraph-role-2">
            <a:extLst xmlns:a="http://schemas.openxmlformats.org/drawingml/2006/main">
              <a:ext uri="{FF2B5EF4-FFF2-40B4-BE49-F238E27FC236}">
                <a16:creationId xmlns:a16="http://schemas.microsoft.com/office/drawing/2014/main" id="{1842B93F-9F87-46D3-AC6E-99A99CDB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81150"/>
            <a:ext cx="3124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概念与检索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Concept + RAG</a:t>
            </a:r>
          </a:p>
        </p:txBody>
      </p:sp>
      <p:sp>
        <p:nvSpPr>
          <p:cNvPr id="7" name="langgraph-role-3">
            <a:extLst xmlns:a="http://schemas.openxmlformats.org/drawingml/2006/main">
              <a:ext uri="{FF2B5EF4-FFF2-40B4-BE49-F238E27FC236}">
                <a16:creationId xmlns:a16="http://schemas.microsoft.com/office/drawing/2014/main" id="{86930A6A-6BE5-40E4-A908-A35CEAF2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内容与诊断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Content + Diagnostic</a:t>
            </a:r>
          </a:p>
        </p:txBody>
      </p:sp>
      <p:sp>
        <p:nvSpPr>
          <p:cNvPr id="8" name="langgraph-role-4">
            <a:extLst xmlns:a="http://schemas.openxmlformats.org/drawingml/2006/main">
              <a:ext uri="{FF2B5EF4-FFF2-40B4-BE49-F238E27FC236}">
                <a16:creationId xmlns:a16="http://schemas.microsoft.com/office/drawing/2014/main" id="{89B8356E-E980-4B81-B09B-5A96CF2D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3124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规划与校验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Planner + Validator</a:t>
            </a:r>
          </a:p>
        </p:txBody>
      </p:sp>
      <p:sp>
        <p:nvSpPr>
          <p:cNvPr id="9" name="langgraph-role-5">
            <a:extLst xmlns:a="http://schemas.openxmlformats.org/drawingml/2006/main">
              <a:ext uri="{FF2B5EF4-FFF2-40B4-BE49-F238E27FC236}">
                <a16:creationId xmlns:a16="http://schemas.microsoft.com/office/drawing/2014/main" id="{6D97FD82-6896-4FD3-BA22-D26BDB5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48250"/>
            <a:ext cx="3162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学习反馈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BKT + Replan</a:t>
            </a:r>
          </a:p>
        </p:txBody>
      </p:sp>
      <p:sp>
        <p:nvSpPr>
          <p:cNvPr id="16" name="langgraph-node-types">
            <a:extLst xmlns:a="http://schemas.openxmlformats.org/drawingml/2006/main">
              <a:ext uri="{FF2B5EF4-FFF2-40B4-BE49-F238E27FC236}">
                <a16:creationId xmlns:a16="http://schemas.microsoft.com/office/drawing/2014/main" id="{C93BBE38-1000-4DD0-85A9-A46B64DE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LLM 节点：理解、生成、解释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工具节点：检索、图搜索、校验、BKT</a:t>
            </a:r>
          </a:p>
        </p:txBody>
      </p:sp>
      <p:sp>
        <p:nvSpPr>
          <p:cNvPr id="17" name="langgraph-conditions">
            <a:extLst xmlns:a="http://schemas.openxmlformats.org/drawingml/2006/main">
              <a:ext uri="{FF2B5EF4-FFF2-40B4-BE49-F238E27FC236}">
                <a16:creationId xmlns:a16="http://schemas.microsoft.com/office/drawing/2014/main" id="{7BE9878A-7AFA-42AA-AAED-0A199B75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386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条件边：格式修复、规划重试、</a:t>
            </a:r>
          </a:p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不可行分支与重规划</a:t>
            </a:r>
          </a:p>
        </p:txBody>
      </p:sp>
      <p:sp>
        <p:nvSpPr>
          <p:cNvPr id="18" name="langgraph-clarification">
            <a:extLst xmlns:a="http://schemas.openxmlformats.org/drawingml/2006/main">
              <a:ext uri="{FF2B5EF4-FFF2-40B4-BE49-F238E27FC236}">
                <a16:creationId xmlns:a16="http://schemas.microsoft.com/office/drawing/2014/main" id="{2A658B71-C64B-4EAB-8940-13B4E405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674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统一编排图  |  共享结构化状态  |  不进行自由文本协商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BA1A68-EBA3-4308-B8D2-51247490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7390280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D1875-EE4B-4963-A1F2-857638FF7E6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267200" y="37052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90ACD-340B-4718-85E8-E3328B9453A5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305050" y="37052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9A7448D-D78A-40E2-B5F2-1D457F59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060F3A-2665-4031-9A04-01FE0BB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BKT 将学习证据转为计划调整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29B020-DEFA-4791-AC78-2E7AAB1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计划根据掌握度变化，不按日历机械推进</a:t>
            </a:r>
          </a:p>
        </p:txBody>
      </p:sp>
      <p:sp>
        <p:nvSpPr>
          <p:cNvPr id="4" name="bkt-scale-heading">
            <a:extLst xmlns:a="http://schemas.openxmlformats.org/drawingml/2006/main">
              <a:ext uri="{FF2B5EF4-FFF2-40B4-BE49-F238E27FC236}">
                <a16:creationId xmlns:a16="http://schemas.microsoft.com/office/drawing/2014/main" id="{9717DCA2-FAAC-49E1-A6DA-50A2C8F2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掌握度区间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AB671-E75E-417B-B645-E178F4DE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C8477-E654-4685-A3B4-FC539EB2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bkt-mark-0.45">
            <a:extLst xmlns:a="http://schemas.openxmlformats.org/drawingml/2006/main">
              <a:ext uri="{FF2B5EF4-FFF2-40B4-BE49-F238E27FC236}">
                <a16:creationId xmlns:a16="http://schemas.microsoft.com/office/drawing/2014/main" id="{5E1AF547-6289-4C4A-8D98-141E9715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0.45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9F6D8-834B-4A30-81ED-5DAFCD81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bkt-mark-0.75">
            <a:extLst xmlns:a="http://schemas.openxmlformats.org/drawingml/2006/main">
              <a:ext uri="{FF2B5EF4-FFF2-40B4-BE49-F238E27FC236}">
                <a16:creationId xmlns:a16="http://schemas.microsoft.com/office/drawing/2014/main" id="{3E7A2106-9726-42B8-8AB3-86549892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sp>
        <p:nvSpPr>
          <p:cNvPr id="10" name="bkt-weak-label">
            <a:extLst xmlns:a="http://schemas.openxmlformats.org/drawingml/2006/main">
              <a:ext uri="{FF2B5EF4-FFF2-40B4-BE49-F238E27FC236}">
                <a16:creationId xmlns:a16="http://schemas.microsoft.com/office/drawing/2014/main" id="{C833FC82-6714-4C5F-9C68-30EB89F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薄弱</a:t>
            </a:r>
          </a:p>
        </p:txBody>
      </p:sp>
      <p:sp>
        <p:nvSpPr>
          <p:cNvPr id="11" name="bkt-practicing-label">
            <a:extLst xmlns:a="http://schemas.openxmlformats.org/drawingml/2006/main">
              <a:ext uri="{FF2B5EF4-FFF2-40B4-BE49-F238E27FC236}">
                <a16:creationId xmlns:a16="http://schemas.microsoft.com/office/drawing/2014/main" id="{D64DA716-7628-4F54-B30A-ED7DF23D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继续练习</a:t>
            </a:r>
          </a:p>
        </p:txBody>
      </p:sp>
      <p:sp>
        <p:nvSpPr>
          <p:cNvPr id="12" name="bkt-unlock-label">
            <a:extLst xmlns:a="http://schemas.openxmlformats.org/drawingml/2006/main">
              <a:ext uri="{FF2B5EF4-FFF2-40B4-BE49-F238E27FC236}">
                <a16:creationId xmlns:a16="http://schemas.microsoft.com/office/drawing/2014/main" id="{ABA600A4-FF60-4C4C-8633-52E2ED30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解锁</a:t>
            </a:r>
          </a:p>
        </p:txBody>
      </p:sp>
      <p:sp>
        <p:nvSpPr>
          <p:cNvPr id="13" name="bkt-evidence">
            <a:extLst xmlns:a="http://schemas.openxmlformats.org/drawingml/2006/main">
              <a:ext uri="{FF2B5EF4-FFF2-40B4-BE49-F238E27FC236}">
                <a16:creationId xmlns:a16="http://schemas.microsoft.com/office/drawing/2014/main" id="{51A780C7-0BF1-4B97-8249-FDFC4C28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打卡 / 测验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学习内容</a:t>
            </a:r>
          </a:p>
        </p:txBody>
      </p:sp>
      <p:sp>
        <p:nvSpPr>
          <p:cNvPr id="14" name="bkt-update">
            <a:extLst xmlns:a="http://schemas.openxmlformats.org/drawingml/2006/main">
              <a:ext uri="{FF2B5EF4-FFF2-40B4-BE49-F238E27FC236}">
                <a16:creationId xmlns:a16="http://schemas.microsoft.com/office/drawing/2014/main" id="{294ACEFE-53CC-4D9F-A03C-FC286687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528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BKT 更新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掌握度快照</a:t>
            </a:r>
          </a:p>
        </p:txBody>
      </p:sp>
      <p:sp>
        <p:nvSpPr>
          <p:cNvPr id="15" name="bkt-decision">
            <a:extLst xmlns:a="http://schemas.openxmlformats.org/drawingml/2006/main">
              <a:ext uri="{FF2B5EF4-FFF2-40B4-BE49-F238E27FC236}">
                <a16:creationId xmlns:a16="http://schemas.microsoft.com/office/drawing/2014/main" id="{C1537955-69A1-4E4E-BDF9-D5E095E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ReplanDecider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保持或重规划</a:t>
            </a:r>
          </a:p>
        </p:txBody>
      </p:sp>
      <p:sp>
        <p:nvSpPr>
          <p:cNvPr id="18" name="replan-trigger-heading">
            <a:extLst xmlns:a="http://schemas.openxmlformats.org/drawingml/2006/main">
              <a:ext uri="{FF2B5EF4-FFF2-40B4-BE49-F238E27FC236}">
                <a16:creationId xmlns:a16="http://schemas.microsoft.com/office/drawing/2014/main" id="{319ADE98-C5E8-4F5E-A6C4-8ABCB2E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重规划触发条件</a:t>
            </a:r>
          </a:p>
        </p:txBody>
      </p:sp>
      <p:sp>
        <p:nvSpPr>
          <p:cNvPr id="19" name="replan-trigger-list">
            <a:extLst xmlns:a="http://schemas.openxmlformats.org/drawingml/2006/main">
              <a:ext uri="{FF2B5EF4-FFF2-40B4-BE49-F238E27FC236}">
                <a16:creationId xmlns:a16="http://schemas.microsoft.com/office/drawing/2014/main" id="{41B24489-45D8-4A8E-A8E9-409A93B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4514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掌握度低于 0.45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同一任务连续两次未完成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每周时间或截止日期变化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新证据与原有高掌握度冲突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目标范围发生变化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87D4C-80D5-4984-A463-63FC453B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plan-under">
            <a:extLst xmlns:a="http://schemas.openxmlformats.org/drawingml/2006/main">
              <a:ext uri="{FF2B5EF4-FFF2-40B4-BE49-F238E27FC236}">
                <a16:creationId xmlns:a16="http://schemas.microsoft.com/office/drawing/2014/main" id="{0B97D204-9984-4289-AD16-359B4F59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未达标：插入补强、降低任务粒度、顺延后续节点</a:t>
            </a:r>
          </a:p>
        </p:txBody>
      </p:sp>
      <p:sp>
        <p:nvSpPr>
          <p:cNvPr id="22" name="replan-transparency">
            <a:extLst xmlns:a="http://schemas.openxmlformats.org/drawingml/2006/main">
              <a:ext uri="{FF2B5EF4-FFF2-40B4-BE49-F238E27FC236}">
                <a16:creationId xmlns:a16="http://schemas.microsoft.com/office/drawing/2014/main" id="{E0AFF88D-CBE3-4EE2-B47A-2FE9E1DA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53000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变化透明：展示原路径、新路径、差异、原因和影响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B7AA69-57BD-4F90-B718-C30C5DCD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227694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E8C3E9A-D720-4EFE-A605-1BB85636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630EA8-2E6A-4406-B925-EE29B184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规则校验决定可行性，轨迹证明现场执行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88E393-670A-46EE-8D55-7F98A5E2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路径不是“看起来合理”，而是能够逐条检查和复现</a:t>
            </a:r>
          </a:p>
        </p:txBody>
      </p:sp>
      <p:sp>
        <p:nvSpPr>
          <p:cNvPr id="4" name="validation-heading">
            <a:extLst xmlns:a="http://schemas.openxmlformats.org/drawingml/2006/main">
              <a:ext uri="{FF2B5EF4-FFF2-40B4-BE49-F238E27FC236}">
                <a16:creationId xmlns:a16="http://schemas.microsoft.com/office/drawing/2014/main" id="{C11BFC4B-2944-4D6D-8BC7-44A9E5B4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规则校验</a:t>
            </a:r>
          </a:p>
        </p:txBody>
      </p:sp>
      <p:sp>
        <p:nvSpPr>
          <p:cNvPr id="5" name="validation-rules">
            <a:extLst xmlns:a="http://schemas.openxmlformats.org/drawingml/2006/main">
              <a:ext uri="{FF2B5EF4-FFF2-40B4-BE49-F238E27FC236}">
                <a16:creationId xmlns:a16="http://schemas.microsoft.com/office/drawing/2014/main" id="{3B093973-54EA-49B2-9E51-8B354A5A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VR-001 硬先修已完成或排在前序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VR-002 总学时不超过时间预算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VR-003 每日与每周任务不超负荷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VR-004 路径不存在重复节点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VR-005 每个正式节点有真实引用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VR-006 每个验收题映射有效知识节点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VR-008 重规划不破坏未完成硬先修</a:t>
            </a:r>
          </a:p>
        </p:txBody>
      </p:sp>
      <p:sp>
        <p:nvSpPr>
          <p:cNvPr id="6" name="validation-failure">
            <a:extLst xmlns:a="http://schemas.openxmlformats.org/drawingml/2006/main">
              <a:ext uri="{FF2B5EF4-FFF2-40B4-BE49-F238E27FC236}">
                <a16:creationId xmlns:a16="http://schemas.microsoft.com/office/drawing/2014/main" id="{A55F6A20-BEA8-474A-B024-B0E7CDF3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失败返回规则编号、受影响节点和修复建议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自动规划最多重试 3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1B694-4A50-485E-8943-A96C6BB0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383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2C05D79F-DAC2-49AC-AE2D-C7B8D8B0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现场验收 AT-015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5CA47-5A8B-4B2D-A51D-6EBE540C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demo-step-1">
            <a:extLst xmlns:a="http://schemas.openxmlformats.org/drawingml/2006/main">
              <a:ext uri="{FF2B5EF4-FFF2-40B4-BE49-F238E27FC236}">
                <a16:creationId xmlns:a16="http://schemas.microsoft.com/office/drawing/2014/main" id="{A802B40E-694D-4088-9BBD-6CA52567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现场输入目标与时间约束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69C3E-9840-459E-A4F7-2650E841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demo-step-2">
            <a:extLst xmlns:a="http://schemas.openxmlformats.org/drawingml/2006/main">
              <a:ext uri="{FF2B5EF4-FFF2-40B4-BE49-F238E27FC236}">
                <a16:creationId xmlns:a16="http://schemas.microsoft.com/office/drawing/2014/main" id="{9EA23812-34FB-431D-84CA-E2E15603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完成诊断并接受首次路径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65D17-B859-4C8D-8C37-AF287277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demo-step-3">
            <a:extLst xmlns:a="http://schemas.openxmlformats.org/drawingml/2006/main">
              <a:ext uri="{FF2B5EF4-FFF2-40B4-BE49-F238E27FC236}">
                <a16:creationId xmlns:a16="http://schemas.microsoft.com/office/drawing/2014/main" id="{7B4F5A72-3337-4611-930F-FE235B9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提交学习打卡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00902-258D-44C0-9E4F-AD264FBA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demo-step-4">
            <a:extLst xmlns:a="http://schemas.openxmlformats.org/drawingml/2006/main">
              <a:ext uri="{FF2B5EF4-FFF2-40B4-BE49-F238E27FC236}">
                <a16:creationId xmlns:a16="http://schemas.microsoft.com/office/drawing/2014/main" id="{B1D701B5-1DF2-480F-89FA-B1BCAA8C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提交未达标测验答案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D3B4A-32CC-4E3E-B7D0-437235EA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demo-step-5">
            <a:extLst xmlns:a="http://schemas.openxmlformats.org/drawingml/2006/main">
              <a:ext uri="{FF2B5EF4-FFF2-40B4-BE49-F238E27FC236}">
                <a16:creationId xmlns:a16="http://schemas.microsoft.com/office/drawing/2014/main" id="{C2D9424B-0CF6-4455-8315-8EE10DE5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观察 BKT 更新与补强任务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F8A79-AE17-48E9-99FB-1D981B3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0" name="demo-step-6">
            <a:extLst xmlns:a="http://schemas.openxmlformats.org/drawingml/2006/main">
              <a:ext uri="{FF2B5EF4-FFF2-40B4-BE49-F238E27FC236}">
                <a16:creationId xmlns:a16="http://schemas.microsoft.com/office/drawing/2014/main" id="{E924C028-C3D0-452A-BAE4-8ED134D3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接受重规划并查看路径差异</a:t>
            </a:r>
          </a:p>
        </p:txBody>
      </p:sp>
      <p:sp>
        <p:nvSpPr>
          <p:cNvPr id="21" name="demo-proof">
            <a:extLst xmlns:a="http://schemas.openxmlformats.org/drawingml/2006/main">
              <a:ext uri="{FF2B5EF4-FFF2-40B4-BE49-F238E27FC236}">
                <a16:creationId xmlns:a16="http://schemas.microsoft.com/office/drawing/2014/main" id="{404FAEEC-9D51-4C34-A67D-D922AA23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新建 run_id、现场时间戳和 Agent 轨迹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禁止预生成路径、缓存规划和人工改库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D359E8-B855-4145-9D15-394B474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4205047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F0476AD-F318-4736-BE96-FEDF634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A0225D-25E6-40F7-AB34-8D9C1E2C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项目按可验证里程碑推进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36D82D-849D-4B27-9998-FE4A7B95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每个阶段都必须交付可检查结果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77AFD-AC01-46D5-9FF8-96DE726BC966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可验收结果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需求基线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设计方案、SRS、数据与 API 边界冻结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数据与知识底座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课程资料、知识图谱、DAG 校验和 BKT 基础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数据与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训练数据集、混合检索和真实引用链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模型训练与评估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微调模型、基线与微调对比、受控降级方案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Agent 与规划闭环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后端可调用六阶段闭环，失败返回替代方案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 API 与前端联调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学生可以从界面完成完整闭环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 验收与交付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现场演练、测试报告、演示和答辩材料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lan-principle">
            <a:extLst xmlns:a="http://schemas.openxmlformats.org/drawingml/2006/main">
              <a:ext uri="{FF2B5EF4-FFF2-40B4-BE49-F238E27FC236}">
                <a16:creationId xmlns:a16="http://schemas.microsoft.com/office/drawing/2014/main" id="{40CBA035-E793-4D43-86CD-FC45B16D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优先保证真实闭环，非核心体验可以在范围压缩时后置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7B6297-E29F-463E-AF66-EA141A0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213804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3CD54D4-AD32-4438-822E-E523669B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4FE00E-EDB1-4AB0-AA68-976AB60C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当前完成需求基线，进入实施准备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26A876-9592-47A4-A533-4DE6B95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尚未开始编码，首批交付物用于建立最小可验证底座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C1F48-17F0-4800-B4E6-E135A2F221A4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设计方案与 SRS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技术环境验证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 Smoke Test 报告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功能与验收边界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Schema 设计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数据格式与样例数据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双人责任边界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演示脚本设计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首轮闭环演示脚本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现场验收方案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与图谱准备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知识图谱初始版本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current-status">
            <a:extLst xmlns:a="http://schemas.openxmlformats.org/drawingml/2006/main">
              <a:ext uri="{FF2B5EF4-FFF2-40B4-BE49-F238E27FC236}">
                <a16:creationId xmlns:a16="http://schemas.microsoft.com/office/drawing/2014/main" id="{E3145492-6FB3-439C-8923-F381226C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当前准确状态：设计与需求已完成，代码、训练数据和可运行原型尚未完成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8DC848-25E4-4487-9B29-4171A6D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3356002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CDD22-92DD-4999-80E4-825331A6E717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5143500" y="2743200"/>
            <a:ext cx="55245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45309"/>
            </a:solidFill>
            <a:prstDash val="dash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FAA7C-FF66-44D1-B94C-3B8A8B452CE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6012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8D91F-6547-49A3-B07D-48CB9E6C9D1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724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98CE5-67D7-4A12-8F78-D3D16B226C6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D6E39-D117-49EB-8C98-7A79E62F027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9D527-595F-4AF7-802D-D76DDE32957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860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8EC803B-6ECF-4A60-8819-2B5B4F67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9E0905-9B88-4FB5-8DEE-696D4B78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两人围绕同一闭环分担首次规划与重规划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44D19B-A9E9-4126-8C90-A8271411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A 对首次计划负责，B 对学习后的调整负责</a:t>
            </a:r>
          </a:p>
        </p:txBody>
      </p:sp>
      <p:sp>
        <p:nvSpPr>
          <p:cNvPr id="4" name="team-goal">
            <a:extLst xmlns:a="http://schemas.openxmlformats.org/drawingml/2006/main">
              <a:ext uri="{FF2B5EF4-FFF2-40B4-BE49-F238E27FC236}">
                <a16:creationId xmlns:a16="http://schemas.microsoft.com/office/drawing/2014/main" id="{D529EEF7-BB43-40B0-8663-2DC70EAC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5" name="team-diagnosis">
            <a:extLst xmlns:a="http://schemas.openxmlformats.org/drawingml/2006/main">
              <a:ext uri="{FF2B5EF4-FFF2-40B4-BE49-F238E27FC236}">
                <a16:creationId xmlns:a16="http://schemas.microsoft.com/office/drawing/2014/main" id="{A97BB156-376E-4680-8AD3-2007E9F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6" name="team-path">
            <a:extLst xmlns:a="http://schemas.openxmlformats.org/drawingml/2006/main">
              <a:ext uri="{FF2B5EF4-FFF2-40B4-BE49-F238E27FC236}">
                <a16:creationId xmlns:a16="http://schemas.microsoft.com/office/drawing/2014/main" id="{141179E9-2B20-44FF-B1AD-566FE379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生成路径</a:t>
            </a:r>
          </a:p>
        </p:txBody>
      </p:sp>
      <p:sp>
        <p:nvSpPr>
          <p:cNvPr id="7" name="team-execution">
            <a:extLst xmlns:a="http://schemas.openxmlformats.org/drawingml/2006/main">
              <a:ext uri="{FF2B5EF4-FFF2-40B4-BE49-F238E27FC236}">
                <a16:creationId xmlns:a16="http://schemas.microsoft.com/office/drawing/2014/main" id="{1AC0C278-851F-4310-9EC1-B95C727B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执行打卡</a:t>
            </a:r>
          </a:p>
        </p:txBody>
      </p:sp>
      <p:sp>
        <p:nvSpPr>
          <p:cNvPr id="8" name="team-evidence">
            <a:extLst xmlns:a="http://schemas.openxmlformats.org/drawingml/2006/main">
              <a:ext uri="{FF2B5EF4-FFF2-40B4-BE49-F238E27FC236}">
                <a16:creationId xmlns:a16="http://schemas.microsoft.com/office/drawing/2014/main" id="{E2A8B804-0ABA-4A20-807C-4D1D864A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证据验收</a:t>
            </a:r>
          </a:p>
        </p:txBody>
      </p:sp>
      <p:sp>
        <p:nvSpPr>
          <p:cNvPr id="9" name="team-replan">
            <a:extLst xmlns:a="http://schemas.openxmlformats.org/drawingml/2006/main">
              <a:ext uri="{FF2B5EF4-FFF2-40B4-BE49-F238E27FC236}">
                <a16:creationId xmlns:a16="http://schemas.microsoft.com/office/drawing/2014/main" id="{D0343ACC-B50E-45F0-BD94-0DECAD3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676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重规划</a:t>
            </a:r>
          </a:p>
        </p:txBody>
      </p:sp>
      <p:sp>
        <p:nvSpPr>
          <p:cNvPr id="16" name="member-a-heading">
            <a:extLst xmlns:a="http://schemas.openxmlformats.org/drawingml/2006/main">
              <a:ext uri="{FF2B5EF4-FFF2-40B4-BE49-F238E27FC236}">
                <a16:creationId xmlns:a16="http://schemas.microsoft.com/office/drawing/2014/main" id="{0EC998C8-1D1D-4540-9A3E-F7FE5F22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  |  首次学习计划</a:t>
            </a:r>
          </a:p>
        </p:txBody>
      </p:sp>
      <p:sp>
        <p:nvSpPr>
          <p:cNvPr id="17" name="member-b-heading">
            <a:extLst xmlns:a="http://schemas.openxmlformats.org/drawingml/2006/main">
              <a:ext uri="{FF2B5EF4-FFF2-40B4-BE49-F238E27FC236}">
                <a16:creationId xmlns:a16="http://schemas.microsoft.com/office/drawing/2014/main" id="{A8495768-BDC3-40FE-80A2-2DD53694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B  |  学习后重规划</a:t>
            </a:r>
          </a:p>
        </p:txBody>
      </p:sp>
      <p:sp>
        <p:nvSpPr>
          <p:cNvPr id="18" name="member-a-detail">
            <a:extLst xmlns:a="http://schemas.openxmlformats.org/drawingml/2006/main">
              <a:ext uri="{FF2B5EF4-FFF2-40B4-BE49-F238E27FC236}">
                <a16:creationId xmlns:a16="http://schemas.microsoft.com/office/drawing/2014/main" id="{D4A890F7-C277-4085-863B-ACE6B4F5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目标解析、诊断、内容生成、RAG、知识图谱、首次路径规划、规则校验和任务拆解。</a:t>
            </a:r>
          </a:p>
        </p:txBody>
      </p:sp>
      <p:sp>
        <p:nvSpPr>
          <p:cNvPr id="19" name="member-b-detail">
            <a:extLst xmlns:a="http://schemas.openxmlformats.org/drawingml/2006/main">
              <a:ext uri="{FF2B5EF4-FFF2-40B4-BE49-F238E27FC236}">
                <a16:creationId xmlns:a16="http://schemas.microsoft.com/office/drawing/2014/main" id="{5F0E64F8-7A0A-4070-8DDC-6C57C00E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接收打卡和学习内容，完成证据评分、BKT 更新、执行偏差、重规划判断、路径差异和后续任务安排。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98FCC-0E03-4248-BBF3-900A8C0E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red-responsibility">
            <a:extLst xmlns:a="http://schemas.openxmlformats.org/drawingml/2006/main">
              <a:ext uri="{FF2B5EF4-FFF2-40B4-BE49-F238E27FC236}">
                <a16:creationId xmlns:a16="http://schemas.microsoft.com/office/drawing/2014/main" id="{987FCB49-E8E5-49CF-9BBF-EEB17A43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共同负责： API 与数据结构契约、LangGraph 整体串联、训练数据审核、联调、三轮现场闭环演练和答辩材料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4AB787-5A88-4B93-9D11-6D821E04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4744187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D977F88-AC72-4D9F-935A-0F705E2F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6D527D-4CC2-486D-9C0B-85E0C846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风险控制优先保证真实闭环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A71953-9D2C-4DAE-A41B-08F4757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先证明系统能够完成闭环，再完善非核心体验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439E8-02FF-4DE3-A697-14E072464661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16490"/>
                <a:gridCol w="6403910"/>
              </a:tblGrid>
              <a:tr h="5651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主要风险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651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本机资源导致训练或推理压力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先完成 1.5B 最小可用版本，训练与推理分时运行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模型结构化输出不稳定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Schema、引用校验、格式修复和有限重试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651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课程数据和图谱准备量过大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完整验收先固定一条技能主线，其他目标用于泛化测试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现场闭环依赖缓存或人工操作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使用新的 run_id、时间戳、Agent 轨迹和三轮现场演练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651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两人协作导致接口不一致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尽早冻结 API 与数据结构契约，使用 Mock 并行开发和集成测试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3471547-A6E4-4F93-8E78-BD4D5C59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模型负责理解与生成，RAG 提供依据，图谱和规则保证可行，BKT 驱动调整。</a:t>
            </a:r>
          </a:p>
        </p:txBody>
      </p:sp>
      <p:sp>
        <p:nvSpPr>
          <p:cNvPr id="6" name="next-step-conclusion">
            <a:extLst xmlns:a="http://schemas.openxmlformats.org/drawingml/2006/main">
              <a:ext uri="{FF2B5EF4-FFF2-40B4-BE49-F238E27FC236}">
                <a16:creationId xmlns:a16="http://schemas.microsoft.com/office/drawing/2014/main" id="{368EA0D4-9E98-4548-BDFF-44D782BE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下一步：完成环境验证、数据底座和首个可调用的六阶段后端闭环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58C467-BD16-427B-A25C-054928DD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569902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2026-10-20T14:14:50.8830000Z</dcterms:created>
  <dcterms:modified xsi:type="dcterms:W3CDTF">2026-10-20T14:14:50.8830000Z</dcterms:modified>
</coreProperties>
</file>