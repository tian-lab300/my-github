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先给老师一个清晰的进度判断。已完成的是设计和需求基线，尚未完成的是代码、原型、训练数据和现场演示。下一步从环境验证、数据 Schema 和 RAG 规划主链路开始。</a:t>
            </a:r>
          </a:p>
          <a:p>
            <a:endParaRPr/>
          </a:p>
          <a:p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用低年级学生的典型场景讲痛点：不知道缺什么前置知识，无法判断计划是否可完成，也不知道学习效果变化后如何调整。项目目标是给出有依据、可执行、能随证据变化的路径。</a:t>
            </a:r>
          </a:p>
          <a:p>
            <a:endParaRPr/>
          </a:p>
          <a:p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范围是主动收敛的结果。本期只做学生端学习闭环，不扩展为完整教学平台。完整验收先固定 Python、数据结构与算法、后端开发这条主线，其他计算机目标作为泛化测试。</a:t>
            </a:r>
          </a:p>
          <a:p>
            <a:endParaRPr/>
          </a:p>
          <a:p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这一页是全篇主流程图。目标、诊断、路径、打卡、验收和重规划必须首尾相接。验收时提交未达标答案，系统应真实更新掌握度并把后续任务重新排好，而不是返回固定结果。</a:t>
            </a:r>
          </a:p>
          <a:p>
            <a:endParaRPr/>
          </a:p>
          <a:p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功能框架按学生业务、智能规划、学习模型和可信数据四层组织。每一层都能映射回上一页的闭环，不是额外堆叠的功能清单。</a:t>
            </a:r>
          </a:p>
          <a:p>
            <a:endParaRPr/>
          </a:p>
          <a:p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技术架构采用本地模块化单体。前端只通过 API 访问后端；LLM 只能通过网关调用；LangGraph 负责编排；RAG、图谱、规划和 BKT 保持独立职责；训练通过独立 CLI 运行。</a:t>
            </a:r>
          </a:p>
          <a:p>
            <a:endParaRPr/>
          </a:p>
          <a:p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模型选型围绕设备约束和任务分工。1.5B 模型通过 QLoRA 学习目标解析、结构化输出和候选规划，课程事实由 RAG 提供，路径可行性由规则决定，掌握度由 BKT 更新。</a:t>
            </a:r>
          </a:p>
          <a:p>
            <a:endParaRPr/>
          </a:p>
          <a:p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的目标是让每个正式学习节点都有可回查的资料依据。系统先导入和切分课程资料，再用向量与 BM25 混合检索。没有达到阈值的证据只能形成 draft，不能发布为正式路径。</a:t>
            </a:r>
          </a:p>
          <a:p>
            <a:endParaRPr/>
          </a:p>
          <a:p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这里要主动澄清：当前设计不是多个自治 Agent 自由对话，而是一个 LangGraph 编排图。所有专业角色共享 AgentState，LLM 节点负责语义任务，RAG、图搜索、校验和 BKT 是确定性工具。</a:t>
            </a:r>
          </a:p>
          <a:p>
            <a:endParaRPr/>
          </a:p>
          <a:p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BKT 把打卡和测验证据转换成掌握度。低于 0.45 插入补强，达到 0.75 解锁后续硬先修节点。现场演示的关键是让一份未达标答案真实触发掌握度下降、补强任务和后续任务顺延。</a:t>
            </a:r>
          </a:p>
          <a:p>
            <a:endParaRPr/>
          </a:p>
          <a:p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系统可信性来自两层证明。第一层是确定性规则判断路径是否满足先修、预算、负荷和引用要求；第二层是现场运行记录证明核心请求没有复用缓存。规划失败最多重试三次，之后必须返回冲突和替代方向。</a:t>
            </a:r>
          </a:p>
          <a:p>
            <a:endParaRPr/>
          </a:p>
          <a:p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计划按可验证里程碑推进，不按写了多少代码或做了多少页面判断完成。每个阶段都必须有可以检查的交付结果，最后才进入现场演练和答辩交付。</a:t>
            </a:r>
          </a:p>
          <a:p>
            <a:endParaRPr/>
          </a:p>
          <a:p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当前没有可运行系统，这一点要明确说明。已经完成的是设计、SRS、责任边界和验收设计；当前重点是环境验证、数据 Schema、演示脚本和 RAG 与图谱准备；这些完成后形成第一批可检查交付物。</a:t>
            </a:r>
          </a:p>
          <a:p>
            <a:endParaRPr/>
          </a:p>
          <a:p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分工按业务闭环划分，不按前端和后端简单切开。A 负责首次计划生成，B 负责学习后的计划重排，两人共同保证接口、数据结构、联调和现场闭环。</a:t>
            </a:r>
          </a:p>
          <a:p>
            <a:endParaRPr/>
          </a:p>
          <a:p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最后用风险说明项目优先级。资源和模型稳定性风险通过最小版本、Schema 和有限重试控制；数据准备量通过固定一条验收主线控制；现场可信性通过新的运行记录和轨迹控制；协作风险通过尽早冻结接口契约控制。</a:t>
            </a:r>
          </a:p>
          <a:p>
            <a:endParaRPr/>
          </a:p>
          <a:p>
            <a:r>
              <a:t>依据：项目设计方案 v1.3、需求规格说明书 v1.1、课堂汇报 PPT 设计稿。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74C29C4-7AF9-4D20-9216-F63BE2EA4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F1E451AD-7ECB-467F-929B-C2D28E76DA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679F70CF-617D-44A0-B2A7-2EB95301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EE79957-22EC-47AA-8CD8-D32AA3334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3F8F4A3B-821A-417D-8385-9C417122F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9DB2C54-D815-4BCF-9ECE-571488070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F440A37-574C-4BC3-82C6-F2BCB00F6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D20A1609-881A-4AEC-B05B-0A68535237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38415D4-FE28-435F-AA04-8D9E3FF4F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E7F87B0-C612-4E0E-9E8B-157F8B3E4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10B362D-3C59-4E37-A823-A1B2FD7CDF36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9525000" y="4305300"/>
            <a:ext cx="0" cy="419100"/>
          </a:xfrm>
          <a:prstGeom prst="straightConnector1">
            <a:avLst/>
          </a:prstGeom>
          <a:ln w="19050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6803338-8F84-4AA2-9BCE-8D030AFB1BF0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9525000" y="3200400"/>
            <a:ext cx="0" cy="419100"/>
          </a:xfrm>
          <a:prstGeom prst="straightConnector1">
            <a:avLst/>
          </a:prstGeom>
          <a:ln w="19050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7D957B5-87DB-4FF5-BE0B-9FD33EA42EDE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9525000" y="2095500"/>
            <a:ext cx="0" cy="419100"/>
          </a:xfrm>
          <a:prstGeom prst="straightConnector1">
            <a:avLst/>
          </a:prstGeom>
          <a:ln w="19050">
            <a:solidFill>
              <a:srgbClr val="0F766E"/>
            </a:solidFill>
            <a:prstDash val="solid"/>
            <a:headEnd type="arrow" w="med" len="med"/>
          </a:ln>
        </p:spPr>
      </p:cxnSp>
      <p:sp>
        <p:nvSpPr>
          <p:cNvPr id="13" name="cover-eyebrow">
            <a:extLst>
              <a:ext uri="{FF2B5EF4-FFF2-40B4-BE49-F238E27FC236}">
                <a16:creationId xmlns:a16="http://schemas.microsoft.com/office/drawing/2014/main" id="{E9195CAB-A493-4AB4-91E6-D8BB5043F536}"/>
              </a:ext>
            </a:extLst>
          </p:cNvPr>
          <p:cNvSpPr>
            <a:spLocks noGrp="1"/>
          </p:cNvSpPr>
          <p:nvPr/>
        </p:nvSpPr>
        <p:spPr>
          <a:xfrm>
            <a:off x="781050" y="78105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阶段性进展汇报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2A71F08E-62CC-4DBF-8C50-3E47E9B0A33F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5905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0000"/>
              </a:lnSpc>
              <a:buNone/>
              <a:def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智能学习规划助手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C0A80643-A1F2-47DB-835B-FDAC817F4C91}"/>
              </a:ext>
            </a:extLst>
          </p:cNvPr>
          <p:cNvSpPr>
            <a:spLocks noGrp="1"/>
          </p:cNvSpPr>
          <p:nvPr/>
        </p:nvSpPr>
        <p:spPr>
          <a:xfrm>
            <a:off x="800100" y="3181350"/>
            <a:ext cx="5143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从学习目标到动态学习计划</a:t>
            </a:r>
          </a:p>
        </p:txBody>
      </p:sp>
      <p:sp>
        <p:nvSpPr>
          <p:cNvPr id="4" name="cover-meta">
            <a:extLst>
              <a:ext uri="{FF2B5EF4-FFF2-40B4-BE49-F238E27FC236}">
                <a16:creationId xmlns:a16="http://schemas.microsoft.com/office/drawing/2014/main" id="{D2A0E3A2-AA8E-4FB0-AA11-4550081DB304}"/>
              </a:ext>
            </a:extLst>
          </p:cNvPr>
          <p:cNvSpPr>
            <a:spLocks noGrp="1"/>
          </p:cNvSpPr>
          <p:nvPr/>
        </p:nvSpPr>
        <p:spPr>
          <a:xfrm>
            <a:off x="800100" y="53340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2 人项目组  |  2026 年 10 月</a:t>
            </a:r>
          </a:p>
        </p:txBody>
      </p:sp>
      <p:sp>
        <p:nvSpPr>
          <p:cNvPr id="5" name="cover-node-1">
            <a:extLst>
              <a:ext uri="{FF2B5EF4-FFF2-40B4-BE49-F238E27FC236}">
                <a16:creationId xmlns:a16="http://schemas.microsoft.com/office/drawing/2014/main" id="{D5CDB34A-E69E-40EA-B97B-8B22763FEC22}"/>
              </a:ext>
            </a:extLst>
          </p:cNvPr>
          <p:cNvSpPr>
            <a:spLocks noGrp="1"/>
          </p:cNvSpPr>
          <p:nvPr/>
        </p:nvSpPr>
        <p:spPr>
          <a:xfrm>
            <a:off x="8334375" y="1409700"/>
            <a:ext cx="2381250" cy="685800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4288">
            <a:solidFill>
              <a:srgbClr val="0F766E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6" name="cover-node-2">
            <a:extLst>
              <a:ext uri="{FF2B5EF4-FFF2-40B4-BE49-F238E27FC236}">
                <a16:creationId xmlns:a16="http://schemas.microsoft.com/office/drawing/2014/main" id="{E3F314AF-E5F8-43E5-87B4-BCF4A453D292}"/>
              </a:ext>
            </a:extLst>
          </p:cNvPr>
          <p:cNvSpPr>
            <a:spLocks noGrp="1"/>
          </p:cNvSpPr>
          <p:nvPr/>
        </p:nvSpPr>
        <p:spPr>
          <a:xfrm>
            <a:off x="8334375" y="2514600"/>
            <a:ext cx="238125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基础诊断</a:t>
            </a:r>
          </a:p>
        </p:txBody>
      </p:sp>
      <p:sp>
        <p:nvSpPr>
          <p:cNvPr id="7" name="cover-node-3">
            <a:extLst>
              <a:ext uri="{FF2B5EF4-FFF2-40B4-BE49-F238E27FC236}">
                <a16:creationId xmlns:a16="http://schemas.microsoft.com/office/drawing/2014/main" id="{BD2D3DC4-12F3-47DC-BA98-F620DCB32720}"/>
              </a:ext>
            </a:extLst>
          </p:cNvPr>
          <p:cNvSpPr>
            <a:spLocks noGrp="1"/>
          </p:cNvSpPr>
          <p:nvPr/>
        </p:nvSpPr>
        <p:spPr>
          <a:xfrm>
            <a:off x="8334375" y="3619500"/>
            <a:ext cx="238125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个性化路径</a:t>
            </a:r>
          </a:p>
        </p:txBody>
      </p:sp>
      <p:sp>
        <p:nvSpPr>
          <p:cNvPr id="8" name="cover-node-4">
            <a:extLst>
              <a:ext uri="{FF2B5EF4-FFF2-40B4-BE49-F238E27FC236}">
                <a16:creationId xmlns:a16="http://schemas.microsoft.com/office/drawing/2014/main" id="{CBAB8556-186D-4B0C-9137-60634F1B7119}"/>
              </a:ext>
            </a:extLst>
          </p:cNvPr>
          <p:cNvSpPr>
            <a:spLocks noGrp="1"/>
          </p:cNvSpPr>
          <p:nvPr/>
        </p:nvSpPr>
        <p:spPr>
          <a:xfrm>
            <a:off x="8334375" y="4724400"/>
            <a:ext cx="238125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学习反馈</a:t>
            </a:r>
          </a:p>
        </p:txBody>
      </p:sp>
      <p:sp>
        <p:nvSpPr>
          <p:cNvPr id="12" name="cover-caption">
            <a:extLst>
              <a:ext uri="{FF2B5EF4-FFF2-40B4-BE49-F238E27FC236}">
                <a16:creationId xmlns:a16="http://schemas.microsoft.com/office/drawing/2014/main" id="{8C6BCF5F-C1E0-4B32-AC64-DAD0E8D0CC33}"/>
              </a:ext>
            </a:extLst>
          </p:cNvPr>
          <p:cNvSpPr>
            <a:spLocks noGrp="1"/>
          </p:cNvSpPr>
          <p:nvPr/>
        </p:nvSpPr>
        <p:spPr>
          <a:xfrm>
            <a:off x="7734300" y="58483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计划不是一次生成，而是持续更新</a:t>
            </a:r>
          </a:p>
        </p:txBody>
      </p:sp>
    </p:spTree>
    <p:extLst>
      <p:ext uri="{BB962C8B-B14F-4D97-AF65-F5344CB8AC3E}">
        <p14:creationId xmlns:p14="http://schemas.microsoft.com/office/powerpoint/2010/main" val="1786884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831FFD4-4F74-4735-9453-32DC153B213B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639050" y="2066925"/>
            <a:ext cx="285750" cy="0"/>
          </a:xfrm>
          <a:prstGeom prst="straightConnector1">
            <a:avLst/>
          </a:prstGeom>
          <a:ln w="19050">
            <a:solidFill>
              <a:srgbClr val="D9E2EC"/>
            </a:solidFill>
            <a:prstDash val="solid"/>
            <a:headEnd type="arrow" w="med" len="med"/>
          </a:ln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03C28C6-27D0-4892-B50A-DE2570CD1454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019550" y="2066925"/>
            <a:ext cx="285750" cy="0"/>
          </a:xfrm>
          <a:prstGeom prst="straightConnector1">
            <a:avLst/>
          </a:prstGeom>
          <a:ln w="19050">
            <a:solidFill>
              <a:srgbClr val="0F766E"/>
            </a:solidFill>
            <a:prstDash val="solid"/>
            <a:headEnd type="arrow" w="med" len="med"/>
          </a:ln>
        </p:spPr>
      </p:cxnSp>
      <p:sp>
        <p:nvSpPr>
          <p:cNvPr id="18" name="title-accent">
            <a:extLst>
              <a:ext uri="{FF2B5EF4-FFF2-40B4-BE49-F238E27FC236}">
                <a16:creationId xmlns:a16="http://schemas.microsoft.com/office/drawing/2014/main" id="{770C191D-AB44-48B5-92F3-B0D2635C2173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" cy="381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6A631DC-2E5F-4317-82B3-932D571591C2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需求与设计基线已完成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922BDE46-ABDA-4BF7-AE8E-4BD1EA783B16}"/>
              </a:ext>
            </a:extLst>
          </p:cNvPr>
          <p:cNvSpPr>
            <a:spLocks noGrp="1"/>
          </p:cNvSpPr>
          <p:nvPr/>
        </p:nvSpPr>
        <p:spPr>
          <a:xfrm>
            <a:off x="704850" y="102870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项目进入技术实施阶段</a:t>
            </a:r>
          </a:p>
        </p:txBody>
      </p:sp>
      <p:sp>
        <p:nvSpPr>
          <p:cNvPr id="4" name="status-complete">
            <a:extLst>
              <a:ext uri="{FF2B5EF4-FFF2-40B4-BE49-F238E27FC236}">
                <a16:creationId xmlns:a16="http://schemas.microsoft.com/office/drawing/2014/main" id="{1D7AB91C-71F2-4AF7-9136-26E3602BDAE3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3333750" cy="666750"/>
          </a:xfrm>
          <a:prstGeom prst="roundRect">
            <a:avLst>
              <a:gd name="adj" fmla="val 17143"/>
            </a:avLst>
          </a:prstGeom>
          <a:solidFill>
            <a:srgbClr val="F0FDFA"/>
          </a:solidFill>
          <a:ln w="14288">
            <a:solidFill>
              <a:srgbClr val="0F766E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已完成  |  设计与需求基线</a:t>
            </a:r>
          </a:p>
        </p:txBody>
      </p:sp>
      <p:sp>
        <p:nvSpPr>
          <p:cNvPr id="5" name="status-current">
            <a:extLst>
              <a:ext uri="{FF2B5EF4-FFF2-40B4-BE49-F238E27FC236}">
                <a16:creationId xmlns:a16="http://schemas.microsoft.com/office/drawing/2014/main" id="{513CFE0D-3109-42F7-A9FC-9A08884FD520}"/>
              </a:ext>
            </a:extLst>
          </p:cNvPr>
          <p:cNvSpPr>
            <a:spLocks noGrp="1"/>
          </p:cNvSpPr>
          <p:nvPr/>
        </p:nvSpPr>
        <p:spPr>
          <a:xfrm>
            <a:off x="4305300" y="1733550"/>
            <a:ext cx="3333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当前  |  技术实施准备</a:t>
            </a:r>
          </a:p>
        </p:txBody>
      </p:sp>
      <p:sp>
        <p:nvSpPr>
          <p:cNvPr id="6" name="status-next">
            <a:extLst>
              <a:ext uri="{FF2B5EF4-FFF2-40B4-BE49-F238E27FC236}">
                <a16:creationId xmlns:a16="http://schemas.microsoft.com/office/drawing/2014/main" id="{50FA2AA3-2916-416B-9D85-7C221D941F8E}"/>
              </a:ext>
            </a:extLst>
          </p:cNvPr>
          <p:cNvSpPr>
            <a:spLocks noGrp="1"/>
          </p:cNvSpPr>
          <p:nvPr/>
        </p:nvSpPr>
        <p:spPr>
          <a:xfrm>
            <a:off x="7924800" y="1733550"/>
            <a:ext cx="35814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待完成  |  原型与现场演示</a:t>
            </a:r>
          </a:p>
        </p:txBody>
      </p:sp>
      <p:sp>
        <p:nvSpPr>
          <p:cNvPr id="9" name="completed-heading">
            <a:extLst>
              <a:ext uri="{FF2B5EF4-FFF2-40B4-BE49-F238E27FC236}">
                <a16:creationId xmlns:a16="http://schemas.microsoft.com/office/drawing/2014/main" id="{CA371E5F-9021-4DCD-9DAA-FC3988814CE3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0" name="completed-list">
            <a:extLst>
              <a:ext uri="{FF2B5EF4-FFF2-40B4-BE49-F238E27FC236}">
                <a16:creationId xmlns:a16="http://schemas.microsoft.com/office/drawing/2014/main" id="{01C3019B-488B-4342-A1B8-D083B8A8603E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31432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设计方案 v1.3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需求规格说明书 v1.1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双人责任边界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现场闭环验收设计</a:t>
            </a:r>
          </a:p>
        </p:txBody>
      </p:sp>
      <p:sp>
        <p:nvSpPr>
          <p:cNvPr id="11" name="pending-heading">
            <a:extLst>
              <a:ext uri="{FF2B5EF4-FFF2-40B4-BE49-F238E27FC236}">
                <a16:creationId xmlns:a16="http://schemas.microsoft.com/office/drawing/2014/main" id="{C875CCDE-57DC-4CF7-B1B0-B42FD23DA74A}"/>
              </a:ext>
            </a:extLst>
          </p:cNvPr>
          <p:cNvSpPr>
            <a:spLocks noGrp="1"/>
          </p:cNvSpPr>
          <p:nvPr/>
        </p:nvSpPr>
        <p:spPr>
          <a:xfrm>
            <a:off x="4171950" y="28956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尚未完成</a:t>
            </a:r>
          </a:p>
        </p:txBody>
      </p:sp>
      <p:sp>
        <p:nvSpPr>
          <p:cNvPr id="12" name="pending-list">
            <a:extLst>
              <a:ext uri="{FF2B5EF4-FFF2-40B4-BE49-F238E27FC236}">
                <a16:creationId xmlns:a16="http://schemas.microsoft.com/office/drawing/2014/main" id="{4626A761-71CF-42BD-8EA1-C9B213A9A912}"/>
              </a:ext>
            </a:extLst>
          </p:cNvPr>
          <p:cNvSpPr>
            <a:spLocks noGrp="1"/>
          </p:cNvSpPr>
          <p:nvPr/>
        </p:nvSpPr>
        <p:spPr>
          <a:xfrm>
            <a:off x="4171950" y="3333750"/>
            <a:ext cx="31432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核心代码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可运行原型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训练数据集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现场演示</a:t>
            </a:r>
          </a:p>
        </p:txBody>
      </p:sp>
      <p:sp>
        <p:nvSpPr>
          <p:cNvPr id="13" name="next-heading">
            <a:extLst>
              <a:ext uri="{FF2B5EF4-FFF2-40B4-BE49-F238E27FC236}">
                <a16:creationId xmlns:a16="http://schemas.microsoft.com/office/drawing/2014/main" id="{586D8F92-9340-46B1-B043-05D665B0D43F}"/>
              </a:ext>
            </a:extLst>
          </p:cNvPr>
          <p:cNvSpPr>
            <a:spLocks noGrp="1"/>
          </p:cNvSpPr>
          <p:nvPr/>
        </p:nvSpPr>
        <p:spPr>
          <a:xfrm>
            <a:off x="7981950" y="28956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近期行动</a:t>
            </a:r>
          </a:p>
        </p:txBody>
      </p:sp>
      <p:sp>
        <p:nvSpPr>
          <p:cNvPr id="14" name="next-list">
            <a:extLst>
              <a:ext uri="{FF2B5EF4-FFF2-40B4-BE49-F238E27FC236}">
                <a16:creationId xmlns:a16="http://schemas.microsoft.com/office/drawing/2014/main" id="{BE6D08CB-4715-4E76-A5E9-F5642E0DC52D}"/>
              </a:ext>
            </a:extLst>
          </p:cNvPr>
          <p:cNvSpPr>
            <a:spLocks noGrp="1"/>
          </p:cNvSpPr>
          <p:nvPr/>
        </p:nvSpPr>
        <p:spPr>
          <a:xfrm>
            <a:off x="7981950" y="3333750"/>
            <a:ext cx="32385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技术环境验证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数据 Schema 设计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RAG 与知识图谱准备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规划主链路实现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BA7DB7-FF4C-4643-85B2-980DAC4B6CF9}"/>
              </a:ext>
            </a:extLst>
          </p:cNvPr>
          <p:cNvSpPr>
            <a:spLocks noGrp="1"/>
          </p:cNvSpPr>
          <p:nvPr/>
        </p:nvSpPr>
        <p:spPr>
          <a:xfrm>
            <a:off x="685800" y="584835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6" name="status-summary">
            <a:extLst>
              <a:ext uri="{FF2B5EF4-FFF2-40B4-BE49-F238E27FC236}">
                <a16:creationId xmlns:a16="http://schemas.microsoft.com/office/drawing/2014/main" id="{64787ED0-FFAC-4094-8B9D-92A5725601C4}"/>
              </a:ext>
            </a:extLst>
          </p:cNvPr>
          <p:cNvSpPr>
            <a:spLocks noGrp="1"/>
          </p:cNvSpPr>
          <p:nvPr/>
        </p:nvSpPr>
        <p:spPr>
          <a:xfrm>
            <a:off x="685800" y="6038850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本次汇报说明准备怎么做，以及为什么这套方案能够被验收</a:t>
            </a:r>
          </a:p>
        </p:txBody>
      </p:sp>
      <p:sp>
        <p:nvSpPr>
          <p:cNvPr id="17" name="page-number">
            <a:extLst>
              <a:ext uri="{FF2B5EF4-FFF2-40B4-BE49-F238E27FC236}">
                <a16:creationId xmlns:a16="http://schemas.microsoft.com/office/drawing/2014/main" id="{0374F1E1-FDA7-4EB4-A6B3-C5AE9CC3F120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02 / 16</a:t>
            </a:r>
          </a:p>
        </p:txBody>
      </p:sp>
    </p:spTree>
    <p:extLst>
      <p:ext uri="{BB962C8B-B14F-4D97-AF65-F5344CB8AC3E}">
        <p14:creationId xmlns:p14="http://schemas.microsoft.com/office/powerpoint/2010/main" val="1496366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-accent">
            <a:extLst>
              <a:ext uri="{FF2B5EF4-FFF2-40B4-BE49-F238E27FC236}">
                <a16:creationId xmlns:a16="http://schemas.microsoft.com/office/drawing/2014/main" id="{D20FEAAB-0653-45B3-AFBF-4E2065111C64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" cy="381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E8693EA-8323-4ADE-88D9-998D8238F1C3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学生缺少可执行的学习路径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9084E96D-6413-4FED-AEB0-1D5CC56C335C}"/>
              </a:ext>
            </a:extLst>
          </p:cNvPr>
          <p:cNvSpPr>
            <a:spLocks noGrp="1"/>
          </p:cNvSpPr>
          <p:nvPr/>
        </p:nvSpPr>
        <p:spPr>
          <a:xfrm>
            <a:off x="704850" y="102870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资源列表无法回答“先学什么、是否来得及、如何调整”</a:t>
            </a:r>
          </a:p>
        </p:txBody>
      </p:sp>
      <p:sp>
        <p:nvSpPr>
          <p:cNvPr id="4" name="student-avatar">
            <a:extLst>
              <a:ext uri="{FF2B5EF4-FFF2-40B4-BE49-F238E27FC236}">
                <a16:creationId xmlns:a16="http://schemas.microsoft.com/office/drawing/2014/main" id="{E0BAFC40-2FB5-46AC-9D43-CF4097455767}"/>
              </a:ext>
            </a:extLst>
          </p:cNvPr>
          <p:cNvSpPr>
            <a:spLocks noGrp="1"/>
          </p:cNvSpPr>
          <p:nvPr/>
        </p:nvSpPr>
        <p:spPr>
          <a:xfrm>
            <a:off x="781050" y="2038350"/>
            <a:ext cx="1447800" cy="1447800"/>
          </a:xfrm>
          <a:prstGeom prst="ellipse">
            <a:avLst/>
          </a:prstGeom>
          <a:solidFill>
            <a:srgbClr val="F0FDFA"/>
          </a:solidFill>
          <a:ln w="19050">
            <a:solidFill>
              <a:srgbClr val="0F766E"/>
            </a:solidFill>
            <a:prstDash val="solid"/>
          </a:ln>
        </p:spPr>
        <p:txBody>
          <a:bodyPr lIns="76200" tIns="76200" rIns="76200" bIns="76200" anchor="ctr">
            <a:noAutofit/>
          </a:bodyPr>
          <a:lstStyle>
            <a:def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5000"/>
              </a:lnSpc>
              <a:buNone/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大一大二</a:t>
            </a:r>
          </a:p>
          <a:p>
            <a:pPr algn="ctr">
              <a:lnSpc>
                <a:spcPct val="105000"/>
              </a:lnSpc>
              <a:buNone/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计算机专业</a:t>
            </a:r>
          </a:p>
        </p:txBody>
      </p:sp>
      <p:sp>
        <p:nvSpPr>
          <p:cNvPr id="5" name="persona-label">
            <a:extLst>
              <a:ext uri="{FF2B5EF4-FFF2-40B4-BE49-F238E27FC236}">
                <a16:creationId xmlns:a16="http://schemas.microsoft.com/office/drawing/2014/main" id="{A14F5272-D328-46FB-BE2F-3217DD7ADAD9}"/>
              </a:ext>
            </a:extLst>
          </p:cNvPr>
          <p:cNvSpPr>
            <a:spLocks noGrp="1"/>
          </p:cNvSpPr>
          <p:nvPr/>
        </p:nvSpPr>
        <p:spPr>
          <a:xfrm>
            <a:off x="2514600" y="211455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典型状态</a:t>
            </a:r>
          </a:p>
        </p:txBody>
      </p:sp>
      <p:sp>
        <p:nvSpPr>
          <p:cNvPr id="6" name="persona-copy">
            <a:extLst>
              <a:ext uri="{FF2B5EF4-FFF2-40B4-BE49-F238E27FC236}">
                <a16:creationId xmlns:a16="http://schemas.microsoft.com/office/drawing/2014/main" id="{9DF47804-9C15-4716-A540-32D7C860ACC7}"/>
              </a:ext>
            </a:extLst>
          </p:cNvPr>
          <p:cNvSpPr>
            <a:spLocks noGrp="1"/>
          </p:cNvSpPr>
          <p:nvPr/>
        </p:nvSpPr>
        <p:spPr>
          <a:xfrm>
            <a:off x="2514600" y="2514600"/>
            <a:ext cx="30480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学过 Python 语法，能完成简单程序，但尚未形成系统的知识结构。</a:t>
            </a:r>
          </a:p>
        </p:txBody>
      </p:sp>
      <p:sp>
        <p:nvSpPr>
          <p:cNvPr id="7" name="pain-title-1">
            <a:extLst>
              <a:ext uri="{FF2B5EF4-FFF2-40B4-BE49-F238E27FC236}">
                <a16:creationId xmlns:a16="http://schemas.microsoft.com/office/drawing/2014/main" id="{91739D26-FA2F-4789-AD67-8256C54F1A69}"/>
              </a:ext>
            </a:extLst>
          </p:cNvPr>
          <p:cNvSpPr>
            <a:spLocks noGrp="1"/>
          </p:cNvSpPr>
          <p:nvPr/>
        </p:nvSpPr>
        <p:spPr>
          <a:xfrm>
            <a:off x="6324600" y="17907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缺少前置知识判断</a:t>
            </a:r>
          </a:p>
        </p:txBody>
      </p:sp>
      <p:sp>
        <p:nvSpPr>
          <p:cNvPr id="8" name="pain-copy-1">
            <a:extLst>
              <a:ext uri="{FF2B5EF4-FFF2-40B4-BE49-F238E27FC236}">
                <a16:creationId xmlns:a16="http://schemas.microsoft.com/office/drawing/2014/main" id="{1C328308-1ED8-4866-947F-0B304265E969}"/>
              </a:ext>
            </a:extLst>
          </p:cNvPr>
          <p:cNvSpPr>
            <a:spLocks noGrp="1"/>
          </p:cNvSpPr>
          <p:nvPr/>
        </p:nvSpPr>
        <p:spPr>
          <a:xfrm>
            <a:off x="6324600" y="2190750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不知道目标技能之前还缺什么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CB61848-2D1E-4505-8AF1-1C1D7DB2A658}"/>
              </a:ext>
            </a:extLst>
          </p:cNvPr>
          <p:cNvSpPr>
            <a:spLocks noGrp="1"/>
          </p:cNvSpPr>
          <p:nvPr/>
        </p:nvSpPr>
        <p:spPr>
          <a:xfrm>
            <a:off x="6324600" y="2705100"/>
            <a:ext cx="447675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0" name="pain-title-2">
            <a:extLst>
              <a:ext uri="{FF2B5EF4-FFF2-40B4-BE49-F238E27FC236}">
                <a16:creationId xmlns:a16="http://schemas.microsoft.com/office/drawing/2014/main" id="{8CB68C6D-FCE3-473F-BC3A-F727E7282EDD}"/>
              </a:ext>
            </a:extLst>
          </p:cNvPr>
          <p:cNvSpPr>
            <a:spLocks noGrp="1"/>
          </p:cNvSpPr>
          <p:nvPr/>
        </p:nvSpPr>
        <p:spPr>
          <a:xfrm>
            <a:off x="6324600" y="29908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时间预算不可验证</a:t>
            </a:r>
          </a:p>
        </p:txBody>
      </p:sp>
      <p:sp>
        <p:nvSpPr>
          <p:cNvPr id="11" name="pain-copy-2">
            <a:extLst>
              <a:ext uri="{FF2B5EF4-FFF2-40B4-BE49-F238E27FC236}">
                <a16:creationId xmlns:a16="http://schemas.microsoft.com/office/drawing/2014/main" id="{CCB3A36A-5B7E-4676-B86E-683B21BE032F}"/>
              </a:ext>
            </a:extLst>
          </p:cNvPr>
          <p:cNvSpPr>
            <a:spLocks noGrp="1"/>
          </p:cNvSpPr>
          <p:nvPr/>
        </p:nvSpPr>
        <p:spPr>
          <a:xfrm>
            <a:off x="6324600" y="3390900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无法判断计划能否在期限内完成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B71E34-19E1-4148-83CA-789460260A1B}"/>
              </a:ext>
            </a:extLst>
          </p:cNvPr>
          <p:cNvSpPr>
            <a:spLocks noGrp="1"/>
          </p:cNvSpPr>
          <p:nvPr/>
        </p:nvSpPr>
        <p:spPr>
          <a:xfrm>
            <a:off x="6324600" y="3905250"/>
            <a:ext cx="447675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3" name="pain-title-3">
            <a:extLst>
              <a:ext uri="{FF2B5EF4-FFF2-40B4-BE49-F238E27FC236}">
                <a16:creationId xmlns:a16="http://schemas.microsoft.com/office/drawing/2014/main" id="{492E03AF-F7CE-48F1-BC91-400B4133CC22}"/>
              </a:ext>
            </a:extLst>
          </p:cNvPr>
          <p:cNvSpPr>
            <a:spLocks noGrp="1"/>
          </p:cNvSpPr>
          <p:nvPr/>
        </p:nvSpPr>
        <p:spPr>
          <a:xfrm>
            <a:off x="6324600" y="41910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计划不会随证据变化</a:t>
            </a:r>
          </a:p>
        </p:txBody>
      </p:sp>
      <p:sp>
        <p:nvSpPr>
          <p:cNvPr id="14" name="pain-copy-3">
            <a:extLst>
              <a:ext uri="{FF2B5EF4-FFF2-40B4-BE49-F238E27FC236}">
                <a16:creationId xmlns:a16="http://schemas.microsoft.com/office/drawing/2014/main" id="{A9392594-28F7-4775-A987-1B9A3FDB30B7}"/>
              </a:ext>
            </a:extLst>
          </p:cNvPr>
          <p:cNvSpPr>
            <a:spLocks noGrp="1"/>
          </p:cNvSpPr>
          <p:nvPr/>
        </p:nvSpPr>
        <p:spPr>
          <a:xfrm>
            <a:off x="6324600" y="4591050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测验未达标后仍按原顺序推进</a:t>
            </a:r>
          </a:p>
        </p:txBody>
      </p:sp>
      <p:sp>
        <p:nvSpPr>
          <p:cNvPr id="15" name="goal-band">
            <a:extLst>
              <a:ext uri="{FF2B5EF4-FFF2-40B4-BE49-F238E27FC236}">
                <a16:creationId xmlns:a16="http://schemas.microsoft.com/office/drawing/2014/main" id="{CF55A6D2-1448-478B-8BDF-4895E8FD0925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10820400" cy="685800"/>
          </a:xfrm>
          <a:prstGeom prst="rect">
            <a:avLst/>
          </a:prstGeom>
          <a:solidFill>
            <a:srgbClr val="F0FDFA"/>
          </a:solidFill>
          <a:ln w="9525">
            <a:solidFill>
              <a:srgbClr val="0F766E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项目目标：给出有依据、可执行、能随学习证据调整的学习路径</a:t>
            </a:r>
          </a:p>
        </p:txBody>
      </p:sp>
      <p:sp>
        <p:nvSpPr>
          <p:cNvPr id="16" name="page-number">
            <a:extLst>
              <a:ext uri="{FF2B5EF4-FFF2-40B4-BE49-F238E27FC236}">
                <a16:creationId xmlns:a16="http://schemas.microsoft.com/office/drawing/2014/main" id="{BE71EDB5-59D2-4801-8A58-009E177235C8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03 / 16</a:t>
            </a:r>
          </a:p>
        </p:txBody>
      </p:sp>
    </p:spTree>
    <p:extLst>
      <p:ext uri="{BB962C8B-B14F-4D97-AF65-F5344CB8AC3E}">
        <p14:creationId xmlns:p14="http://schemas.microsoft.com/office/powerpoint/2010/main" val="217676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-accent">
            <a:extLst>
              <a:ext uri="{FF2B5EF4-FFF2-40B4-BE49-F238E27FC236}">
                <a16:creationId xmlns:a16="http://schemas.microsoft.com/office/drawing/2014/main" id="{8B3F5D5A-42AF-40EF-B31E-D0E1061E2F0A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" cy="381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FE4B9FA-DF2F-4549-B615-98CE88D6E5A6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项目聚焦学生端学习闭环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6C842C27-37E0-48FF-B047-77DA290D2CB6}"/>
              </a:ext>
            </a:extLst>
          </p:cNvPr>
          <p:cNvSpPr>
            <a:spLocks noGrp="1"/>
          </p:cNvSpPr>
          <p:nvPr/>
        </p:nvSpPr>
        <p:spPr>
          <a:xfrm>
            <a:off x="704850" y="102870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用明确边界保证核心技术链路能够完成和验收</a:t>
            </a:r>
          </a:p>
        </p:txBody>
      </p:sp>
      <p:sp>
        <p:nvSpPr>
          <p:cNvPr id="4" name="scope-in-heading">
            <a:extLst>
              <a:ext uri="{FF2B5EF4-FFF2-40B4-BE49-F238E27FC236}">
                <a16:creationId xmlns:a16="http://schemas.microsoft.com/office/drawing/2014/main" id="{A5E0CE35-782E-4BF3-8D62-A20004F76B5B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本期范围</a:t>
            </a:r>
          </a:p>
        </p:txBody>
      </p:sp>
      <p:sp>
        <p:nvSpPr>
          <p:cNvPr id="5" name="scope-in-list">
            <a:extLst>
              <a:ext uri="{FF2B5EF4-FFF2-40B4-BE49-F238E27FC236}">
                <a16:creationId xmlns:a16="http://schemas.microsoft.com/office/drawing/2014/main" id="{B8455AC8-0CFF-4AEF-87E0-D7903B90E232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447675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目标创建与自然语言解析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基础诊断与学习者画像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RAG、知识图谱与路径规划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打卡、测验、BKT 与重规划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QLoRA 微调、模型评估与轨迹</a:t>
            </a:r>
          </a:p>
        </p:txBody>
      </p:sp>
      <p:sp>
        <p:nvSpPr>
          <p:cNvPr id="6" name="scope-out-heading">
            <a:extLst>
              <a:ext uri="{FF2B5EF4-FFF2-40B4-BE49-F238E27FC236}">
                <a16:creationId xmlns:a16="http://schemas.microsoft.com/office/drawing/2014/main" id="{3992B754-A58C-4F19-B2B0-C21CE7C85685}"/>
              </a:ext>
            </a:extLst>
          </p:cNvPr>
          <p:cNvSpPr>
            <a:spLocks noGrp="1"/>
          </p:cNvSpPr>
          <p:nvPr/>
        </p:nvSpPr>
        <p:spPr>
          <a:xfrm>
            <a:off x="6115050" y="156210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非目标</a:t>
            </a:r>
          </a:p>
        </p:txBody>
      </p:sp>
      <p:sp>
        <p:nvSpPr>
          <p:cNvPr id="7" name="scope-out-list">
            <a:extLst>
              <a:ext uri="{FF2B5EF4-FFF2-40B4-BE49-F238E27FC236}">
                <a16:creationId xmlns:a16="http://schemas.microsoft.com/office/drawing/2014/main" id="{A989B5FD-57B2-4643-9319-C15537BEB4F5}"/>
              </a:ext>
            </a:extLst>
          </p:cNvPr>
          <p:cNvSpPr>
            <a:spLocks noGrp="1"/>
          </p:cNvSpPr>
          <p:nvPr/>
        </p:nvSpPr>
        <p:spPr>
          <a:xfrm>
            <a:off x="6115050" y="1981200"/>
            <a:ext cx="485775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教师端与多人课堂管理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教务系统与统一身份认证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互联网资料自动抓取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代码沙箱与在线判题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生产级云部署与高可用集群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243DA7-EEE2-40E8-9F21-A150BD8B6F4D}"/>
              </a:ext>
            </a:extLst>
          </p:cNvPr>
          <p:cNvSpPr>
            <a:spLocks noGrp="1"/>
          </p:cNvSpPr>
          <p:nvPr/>
        </p:nvSpPr>
        <p:spPr>
          <a:xfrm>
            <a:off x="5810250" y="1657350"/>
            <a:ext cx="9525" cy="327660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9" name="success-criterion-1">
            <a:extLst>
              <a:ext uri="{FF2B5EF4-FFF2-40B4-BE49-F238E27FC236}">
                <a16:creationId xmlns:a16="http://schemas.microsoft.com/office/drawing/2014/main" id="{2A8D450E-C946-4022-B864-58AE4E6C57F8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331470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路径满足先修与时间预算</a:t>
            </a:r>
          </a:p>
        </p:txBody>
      </p:sp>
      <p:sp>
        <p:nvSpPr>
          <p:cNvPr id="10" name="success-criterion-2">
            <a:extLst>
              <a:ext uri="{FF2B5EF4-FFF2-40B4-BE49-F238E27FC236}">
                <a16:creationId xmlns:a16="http://schemas.microsoft.com/office/drawing/2014/main" id="{0F840498-C990-4DD4-B7F0-4B2211062658}"/>
              </a:ext>
            </a:extLst>
          </p:cNvPr>
          <p:cNvSpPr>
            <a:spLocks noGrp="1"/>
          </p:cNvSpPr>
          <p:nvPr/>
        </p:nvSpPr>
        <p:spPr>
          <a:xfrm>
            <a:off x="4286250" y="5181600"/>
            <a:ext cx="331470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每个正式节点有真实引用</a:t>
            </a:r>
          </a:p>
        </p:txBody>
      </p:sp>
      <p:sp>
        <p:nvSpPr>
          <p:cNvPr id="11" name="success-criterion-3">
            <a:extLst>
              <a:ext uri="{FF2B5EF4-FFF2-40B4-BE49-F238E27FC236}">
                <a16:creationId xmlns:a16="http://schemas.microsoft.com/office/drawing/2014/main" id="{485D3F99-1116-4FC7-86EC-865AE041E766}"/>
              </a:ext>
            </a:extLst>
          </p:cNvPr>
          <p:cNvSpPr>
            <a:spLocks noGrp="1"/>
          </p:cNvSpPr>
          <p:nvPr/>
        </p:nvSpPr>
        <p:spPr>
          <a:xfrm>
            <a:off x="7886700" y="5181600"/>
            <a:ext cx="331470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未达标证据触发补强与重规划</a:t>
            </a:r>
          </a:p>
        </p:txBody>
      </p:sp>
      <p:sp>
        <p:nvSpPr>
          <p:cNvPr id="12" name="scope-mainline">
            <a:extLst>
              <a:ext uri="{FF2B5EF4-FFF2-40B4-BE49-F238E27FC236}">
                <a16:creationId xmlns:a16="http://schemas.microsoft.com/office/drawing/2014/main" id="{70293D16-C1A4-46EA-AD4D-0274A4CFE712}"/>
              </a:ext>
            </a:extLst>
          </p:cNvPr>
          <p:cNvSpPr>
            <a:spLocks noGrp="1"/>
          </p:cNvSpPr>
          <p:nvPr/>
        </p:nvSpPr>
        <p:spPr>
          <a:xfrm>
            <a:off x="685800" y="6038850"/>
            <a:ext cx="952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完整验收主线：Python 基础 → 数据结构与算法 → 后端开发</a:t>
            </a:r>
          </a:p>
        </p:txBody>
      </p:sp>
      <p:sp>
        <p:nvSpPr>
          <p:cNvPr id="13" name="page-number">
            <a:extLst>
              <a:ext uri="{FF2B5EF4-FFF2-40B4-BE49-F238E27FC236}">
                <a16:creationId xmlns:a16="http://schemas.microsoft.com/office/drawing/2014/main" id="{55127493-4485-4009-9BB1-18F6CFB9D625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04 / 16</a:t>
            </a:r>
          </a:p>
        </p:txBody>
      </p:sp>
    </p:spTree>
    <p:extLst>
      <p:ext uri="{BB962C8B-B14F-4D97-AF65-F5344CB8AC3E}">
        <p14:creationId xmlns:p14="http://schemas.microsoft.com/office/powerpoint/2010/main" val="1471167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A05A59DE-BA85-46F5-AC5A-09C21B395239}"/>
              </a:ext>
            </a:extLst>
          </p:cNvPr>
          <p:cNvCxnSpPr>
            <a:stCxn id="9" idx="2"/>
            <a:endCxn id="6" idx="2"/>
          </p:cNvCxnSpPr>
          <p:nvPr/>
        </p:nvCxnSpPr>
        <p:spPr>
          <a:xfrm flipH="1">
            <a:off x="5057775" y="3562350"/>
            <a:ext cx="5429250" cy="228600"/>
          </a:xfrm>
          <a:prstGeom prst="bentConnector4">
            <a:avLst/>
          </a:prstGeom>
          <a:ln w="23813">
            <a:solidFill>
              <a:srgbClr val="0F766E"/>
            </a:solidFill>
            <a:prstDash val="dash"/>
            <a:headEnd type="arrow" w="med" len="med"/>
          </a:ln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3DC79B4-8954-4C07-A430-914E2050612B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9429750" y="3067050"/>
            <a:ext cx="304800" cy="0"/>
          </a:xfrm>
          <a:prstGeom prst="straightConnector1">
            <a:avLst/>
          </a:prstGeom>
          <a:ln w="23813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B41EC378-7AED-4824-9131-04FFDB323513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7620000" y="3067050"/>
            <a:ext cx="304800" cy="0"/>
          </a:xfrm>
          <a:prstGeom prst="straightConnector1">
            <a:avLst/>
          </a:prstGeom>
          <a:ln w="23813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1DDFBDB-37DB-4DF0-B454-0ED0D0CF4BE0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810250" y="3067050"/>
            <a:ext cx="304800" cy="0"/>
          </a:xfrm>
          <a:prstGeom prst="straightConnector1">
            <a:avLst/>
          </a:prstGeom>
          <a:ln w="23813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FE761ED-1367-482C-85DC-060AEE169333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000500" y="3067050"/>
            <a:ext cx="304800" cy="0"/>
          </a:xfrm>
          <a:prstGeom prst="straightConnector1">
            <a:avLst/>
          </a:prstGeom>
          <a:ln w="23813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8127F27-C720-4B4F-A5D4-5353D0C3658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190750" y="3067050"/>
            <a:ext cx="304800" cy="0"/>
          </a:xfrm>
          <a:prstGeom prst="straightConnector1">
            <a:avLst/>
          </a:prstGeom>
          <a:ln w="23813">
            <a:solidFill>
              <a:srgbClr val="0F766E"/>
            </a:solidFill>
            <a:prstDash val="solid"/>
            <a:headEnd type="arrow" w="med" len="med"/>
          </a:ln>
        </p:spPr>
      </p:cxnSp>
      <p:sp>
        <p:nvSpPr>
          <p:cNvPr id="21" name="title-accent">
            <a:extLst>
              <a:ext uri="{FF2B5EF4-FFF2-40B4-BE49-F238E27FC236}">
                <a16:creationId xmlns:a16="http://schemas.microsoft.com/office/drawing/2014/main" id="{86E9CDC5-09B2-44D0-BE0F-035967A0B8E3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" cy="381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E9467B1-DBF8-4E3D-9AE8-52766A5EE356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六阶段闭环覆盖目标、执行与反馈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776B7214-86EF-4AAA-91D6-0911939184FC}"/>
              </a:ext>
            </a:extLst>
          </p:cNvPr>
          <p:cNvSpPr>
            <a:spLocks noGrp="1"/>
          </p:cNvSpPr>
          <p:nvPr/>
        </p:nvSpPr>
        <p:spPr>
          <a:xfrm>
            <a:off x="704850" y="102870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现场验收沿同一条业务链连续完成</a:t>
            </a:r>
          </a:p>
        </p:txBody>
      </p:sp>
      <p:sp>
        <p:nvSpPr>
          <p:cNvPr id="4" name="loop-step-1">
            <a:extLst>
              <a:ext uri="{FF2B5EF4-FFF2-40B4-BE49-F238E27FC236}">
                <a16:creationId xmlns:a16="http://schemas.microsoft.com/office/drawing/2014/main" id="{9960A905-486D-448F-AE3E-2D2BB05D672F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15049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  <a:p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定目标</a:t>
            </a:r>
          </a:p>
        </p:txBody>
      </p:sp>
      <p:sp>
        <p:nvSpPr>
          <p:cNvPr id="5" name="loop-step-2">
            <a:extLst>
              <a:ext uri="{FF2B5EF4-FFF2-40B4-BE49-F238E27FC236}">
                <a16:creationId xmlns:a16="http://schemas.microsoft.com/office/drawing/2014/main" id="{21BD60FD-4CE1-4E4C-8964-84C6FA2557A1}"/>
              </a:ext>
            </a:extLst>
          </p:cNvPr>
          <p:cNvSpPr>
            <a:spLocks noGrp="1"/>
          </p:cNvSpPr>
          <p:nvPr/>
        </p:nvSpPr>
        <p:spPr>
          <a:xfrm>
            <a:off x="2495550" y="2571750"/>
            <a:ext cx="15049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  <a:p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诊断起点</a:t>
            </a:r>
          </a:p>
        </p:txBody>
      </p:sp>
      <p:sp>
        <p:nvSpPr>
          <p:cNvPr id="6" name="loop-step-3">
            <a:extLst>
              <a:ext uri="{FF2B5EF4-FFF2-40B4-BE49-F238E27FC236}">
                <a16:creationId xmlns:a16="http://schemas.microsoft.com/office/drawing/2014/main" id="{BB9A60FC-647C-43D3-8242-D131B3BADFED}"/>
              </a:ext>
            </a:extLst>
          </p:cNvPr>
          <p:cNvSpPr>
            <a:spLocks noGrp="1"/>
          </p:cNvSpPr>
          <p:nvPr/>
        </p:nvSpPr>
        <p:spPr>
          <a:xfrm>
            <a:off x="4305300" y="2571750"/>
            <a:ext cx="15049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  <a:p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生成路径</a:t>
            </a:r>
          </a:p>
        </p:txBody>
      </p:sp>
      <p:sp>
        <p:nvSpPr>
          <p:cNvPr id="7" name="loop-step-4">
            <a:extLst>
              <a:ext uri="{FF2B5EF4-FFF2-40B4-BE49-F238E27FC236}">
                <a16:creationId xmlns:a16="http://schemas.microsoft.com/office/drawing/2014/main" id="{B81D2B96-C5E7-417B-8B03-6AEF003B7BCC}"/>
              </a:ext>
            </a:extLst>
          </p:cNvPr>
          <p:cNvSpPr>
            <a:spLocks noGrp="1"/>
          </p:cNvSpPr>
          <p:nvPr/>
        </p:nvSpPr>
        <p:spPr>
          <a:xfrm>
            <a:off x="6115050" y="2571750"/>
            <a:ext cx="15049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  <a:p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执行打卡</a:t>
            </a:r>
          </a:p>
        </p:txBody>
      </p:sp>
      <p:sp>
        <p:nvSpPr>
          <p:cNvPr id="8" name="loop-step-5">
            <a:extLst>
              <a:ext uri="{FF2B5EF4-FFF2-40B4-BE49-F238E27FC236}">
                <a16:creationId xmlns:a16="http://schemas.microsoft.com/office/drawing/2014/main" id="{1F3A8539-B79C-4880-B533-9C9D5B9B56D2}"/>
              </a:ext>
            </a:extLst>
          </p:cNvPr>
          <p:cNvSpPr>
            <a:spLocks noGrp="1"/>
          </p:cNvSpPr>
          <p:nvPr/>
        </p:nvSpPr>
        <p:spPr>
          <a:xfrm>
            <a:off x="7924800" y="2571750"/>
            <a:ext cx="15049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  <a:p>
            <a:pPr algn="ctr">
              <a:lnSpc>
                <a:spcPct val="102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证据验收</a:t>
            </a:r>
          </a:p>
        </p:txBody>
      </p:sp>
      <p:sp>
        <p:nvSpPr>
          <p:cNvPr id="9" name="loop-step-6">
            <a:extLst>
              <a:ext uri="{FF2B5EF4-FFF2-40B4-BE49-F238E27FC236}">
                <a16:creationId xmlns:a16="http://schemas.microsoft.com/office/drawing/2014/main" id="{6BABA786-DB5B-4DDB-947C-6D0DBBD4BE09}"/>
              </a:ext>
            </a:extLst>
          </p:cNvPr>
          <p:cNvSpPr>
            <a:spLocks noGrp="1"/>
          </p:cNvSpPr>
          <p:nvPr/>
        </p:nvSpPr>
        <p:spPr>
          <a:xfrm>
            <a:off x="9734550" y="2571750"/>
            <a:ext cx="1504950" cy="990600"/>
          </a:xfrm>
          <a:prstGeom prst="roundRect">
            <a:avLst>
              <a:gd name="adj" fmla="val 11538"/>
            </a:avLst>
          </a:prstGeom>
          <a:solidFill>
            <a:srgbClr val="F0FDFA"/>
          </a:solidFill>
          <a:ln w="14288">
            <a:solidFill>
              <a:srgbClr val="0F766E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  <a:p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重规划</a:t>
            </a:r>
          </a:p>
        </p:txBody>
      </p:sp>
      <p:sp>
        <p:nvSpPr>
          <p:cNvPr id="16" name="loop-annotation">
            <a:extLst>
              <a:ext uri="{FF2B5EF4-FFF2-40B4-BE49-F238E27FC236}">
                <a16:creationId xmlns:a16="http://schemas.microsoft.com/office/drawing/2014/main" id="{7C606D35-E60C-4C0A-8484-D86859D60929}"/>
              </a:ext>
            </a:extLst>
          </p:cNvPr>
          <p:cNvSpPr>
            <a:spLocks noGrp="1"/>
          </p:cNvSpPr>
          <p:nvPr/>
        </p:nvSpPr>
        <p:spPr>
          <a:xfrm>
            <a:off x="7543800" y="40957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未达标或约束变化时回到规划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BCE841B-FE46-4C72-93C3-47751383317F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8" name="loop-requirement">
            <a:extLst>
              <a:ext uri="{FF2B5EF4-FFF2-40B4-BE49-F238E27FC236}">
                <a16:creationId xmlns:a16="http://schemas.microsoft.com/office/drawing/2014/main" id="{428C2C8E-2596-491D-9F50-58E15E780686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504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业务要求：状态持久化、结构化输出、可检查通过条件</a:t>
            </a:r>
          </a:p>
        </p:txBody>
      </p:sp>
      <p:sp>
        <p:nvSpPr>
          <p:cNvPr id="19" name="loop-demo-rule">
            <a:extLst>
              <a:ext uri="{FF2B5EF4-FFF2-40B4-BE49-F238E27FC236}">
                <a16:creationId xmlns:a16="http://schemas.microsoft.com/office/drawing/2014/main" id="{BE3F0B17-7495-4CB6-9815-9828FF9E65C5}"/>
              </a:ext>
            </a:extLst>
          </p:cNvPr>
          <p:cNvSpPr>
            <a:spLocks noGrp="1"/>
          </p:cNvSpPr>
          <p:nvPr/>
        </p:nvSpPr>
        <p:spPr>
          <a:xfrm>
            <a:off x="6419850" y="5372100"/>
            <a:ext cx="5086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08000"/>
              </a:lnSpc>
              <a:buNone/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现场要求：无预生成路径、无缓存规划、无人工改库</a:t>
            </a:r>
          </a:p>
        </p:txBody>
      </p:sp>
      <p:sp>
        <p:nvSpPr>
          <p:cNvPr id="20" name="page-number">
            <a:extLst>
              <a:ext uri="{FF2B5EF4-FFF2-40B4-BE49-F238E27FC236}">
                <a16:creationId xmlns:a16="http://schemas.microsoft.com/office/drawing/2014/main" id="{8E5E4231-DEAE-488A-A1C5-F369291B9B9F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05 / 16</a:t>
            </a:r>
          </a:p>
        </p:txBody>
      </p:sp>
    </p:spTree>
    <p:extLst>
      <p:ext uri="{BB962C8B-B14F-4D97-AF65-F5344CB8AC3E}">
        <p14:creationId xmlns:p14="http://schemas.microsoft.com/office/powerpoint/2010/main" val="1491992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-accent">
            <a:extLst>
              <a:ext uri="{FF2B5EF4-FFF2-40B4-BE49-F238E27FC236}">
                <a16:creationId xmlns:a16="http://schemas.microsoft.com/office/drawing/2014/main" id="{DA20A50D-0F63-4CF1-9FE8-D7EE18F057CF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" cy="381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8D35B50-400F-4678-BC1A-095EEB0C90C0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功能框架围绕闭环分层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5025FF97-7F16-4475-B1A8-2F79958D512E}"/>
              </a:ext>
            </a:extLst>
          </p:cNvPr>
          <p:cNvSpPr>
            <a:spLocks noGrp="1"/>
          </p:cNvSpPr>
          <p:nvPr/>
        </p:nvSpPr>
        <p:spPr>
          <a:xfrm>
            <a:off x="704850" y="102870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业务操作、智能规划、学习模型和可信数据各司其职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7964CD9-508E-4AEB-811B-CEE3D481D845}"/>
              </a:ext>
            </a:extLst>
          </p:cNvPr>
          <p:cNvGraphicFramePr/>
          <p:nvPr/>
        </p:nvGraphicFramePr>
        <p:xfrm>
          <a:off x="685800" y="1676400"/>
          <a:ext cx="10820400" cy="400050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主要功能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学生业务层</a:t>
                      </a:r>
                    </a:p>
                  </a:txBody>
                  <a:tcPr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目标管理、基础诊断、学习路径、今日任务、证据验收、重规划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智能规划层</a:t>
                      </a:r>
                    </a:p>
                  </a:txBody>
                  <a:tcPr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目标解析、内容生成、知识图谱、图约束搜索、规则校验、路径解释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学习模型层</a:t>
                      </a:r>
                    </a:p>
                  </a:txBody>
                  <a:tcPr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学习者画像、BKT、执行偏差、掌握度快照、重规划判断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可信数据层</a:t>
                      </a:r>
                    </a:p>
                  </a:txBody>
                  <a:tcPr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35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RAG、真实引用、文档版本、模型版本、Agent 轨迹与运行记录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functional-principle">
            <a:extLst>
              <a:ext uri="{FF2B5EF4-FFF2-40B4-BE49-F238E27FC236}">
                <a16:creationId xmlns:a16="http://schemas.microsoft.com/office/drawing/2014/main" id="{EFC1FC5E-6D48-4AD9-AF99-AC5A88D717B8}"/>
              </a:ext>
            </a:extLst>
          </p:cNvPr>
          <p:cNvSpPr>
            <a:spLocks noGrp="1"/>
          </p:cNvSpPr>
          <p:nvPr/>
        </p:nvSpPr>
        <p:spPr>
          <a:xfrm>
            <a:off x="685800" y="5886450"/>
            <a:ext cx="971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核心原则：语言模型提供候选，系统和证据决定内容能否进入正式路径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9CA949A3-00A5-4527-8C92-67484DD3AD94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06 / 16</a:t>
            </a:r>
          </a:p>
        </p:txBody>
      </p:sp>
    </p:spTree>
    <p:extLst>
      <p:ext uri="{BB962C8B-B14F-4D97-AF65-F5344CB8AC3E}">
        <p14:creationId xmlns:p14="http://schemas.microsoft.com/office/powerpoint/2010/main" val="356446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FB9359CE-5E4A-4115-80C7-9B84E0E60873}"/>
              </a:ext>
            </a:extLst>
          </p:cNvPr>
          <p:cNvCxnSpPr>
            <a:stCxn id="15" idx="2"/>
            <a:endCxn id="21" idx="0"/>
          </p:cNvCxnSpPr>
          <p:nvPr/>
        </p:nvCxnSpPr>
        <p:spPr>
          <a:xfrm flipH="1">
            <a:off x="6096000" y="3924300"/>
            <a:ext cx="4076700" cy="476250"/>
          </a:xfrm>
          <a:prstGeom prst="bentConnector4">
            <a:avLst>
              <a:gd name="adj1" fmla="val 0"/>
              <a:gd name="adj2" fmla="val 50000"/>
            </a:avLst>
          </a:prstGeom>
          <a:ln w="14288">
            <a:solidFill>
              <a:srgbClr val="D9E2EC"/>
            </a:solidFill>
            <a:prstDash val="solid"/>
            <a:headEnd type="arrow" w="med" len="med"/>
          </a:ln>
        </p:spPr>
      </p:cxn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D51DCBA3-C8A7-4FD5-BC16-944F829D19A3}"/>
              </a:ext>
            </a:extLst>
          </p:cNvPr>
          <p:cNvCxnSpPr>
            <a:stCxn id="14" idx="2"/>
            <a:endCxn id="21" idx="0"/>
          </p:cNvCxnSpPr>
          <p:nvPr/>
        </p:nvCxnSpPr>
        <p:spPr>
          <a:xfrm flipH="1">
            <a:off x="6096000" y="3924300"/>
            <a:ext cx="1943100" cy="476250"/>
          </a:xfrm>
          <a:prstGeom prst="bentConnector4">
            <a:avLst>
              <a:gd name="adj1" fmla="val 0"/>
              <a:gd name="adj2" fmla="val 50000"/>
            </a:avLst>
          </a:prstGeom>
          <a:ln w="14288">
            <a:solidFill>
              <a:srgbClr val="D9E2EC"/>
            </a:solidFill>
            <a:prstDash val="solid"/>
            <a:headEnd type="arrow" w="med" len="med"/>
          </a:ln>
        </p:spPr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F1AB7AF9-932D-470C-8EFD-A461B08E0AA5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>
            <a:off x="5905500" y="3924300"/>
            <a:ext cx="190500" cy="476250"/>
          </a:xfrm>
          <a:prstGeom prst="bentConnector4">
            <a:avLst>
              <a:gd name="adj1" fmla="val 0"/>
              <a:gd name="adj2" fmla="val 50000"/>
            </a:avLst>
          </a:prstGeom>
          <a:ln w="14288">
            <a:solidFill>
              <a:srgbClr val="D9E2EC"/>
            </a:solidFill>
            <a:prstDash val="solid"/>
            <a:headEnd type="arrow" w="med" len="med"/>
          </a:ln>
        </p:spPr>
      </p:cxn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2FD0114B-D264-4890-B230-2ACD99DDA6B6}"/>
              </a:ext>
            </a:extLst>
          </p:cNvPr>
          <p:cNvCxnSpPr>
            <a:stCxn id="12" idx="2"/>
            <a:endCxn id="21" idx="0"/>
          </p:cNvCxnSpPr>
          <p:nvPr/>
        </p:nvCxnSpPr>
        <p:spPr>
          <a:xfrm>
            <a:off x="3771900" y="3924300"/>
            <a:ext cx="2324100" cy="476250"/>
          </a:xfrm>
          <a:prstGeom prst="bentConnector4">
            <a:avLst>
              <a:gd name="adj1" fmla="val 0"/>
              <a:gd name="adj2" fmla="val 50000"/>
            </a:avLst>
          </a:prstGeom>
          <a:ln w="14288">
            <a:solidFill>
              <a:srgbClr val="D9E2EC"/>
            </a:solidFill>
            <a:prstDash val="solid"/>
            <a:headEnd type="arrow" w="med" len="med"/>
          </a:ln>
        </p:spPr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F396D73E-B544-48BE-A9F3-5BF3FD849AB6}"/>
              </a:ext>
            </a:extLst>
          </p:cNvPr>
          <p:cNvCxnSpPr>
            <a:stCxn id="11" idx="2"/>
            <a:endCxn id="21" idx="0"/>
          </p:cNvCxnSpPr>
          <p:nvPr/>
        </p:nvCxnSpPr>
        <p:spPr>
          <a:xfrm>
            <a:off x="1638300" y="3924300"/>
            <a:ext cx="4457700" cy="476250"/>
          </a:xfrm>
          <a:prstGeom prst="bentConnector4">
            <a:avLst>
              <a:gd name="adj1" fmla="val 0"/>
              <a:gd name="adj2" fmla="val 50000"/>
            </a:avLst>
          </a:prstGeom>
          <a:ln w="14288">
            <a:solidFill>
              <a:srgbClr val="D9E2EC"/>
            </a:solidFill>
            <a:prstDash val="solid"/>
            <a:headEnd type="arrow" w="med" len="med"/>
          </a:ln>
        </p:spPr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309DB0E2-3B57-4657-BDC8-1FDAABF9DCB5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8991600" y="3514725"/>
            <a:ext cx="228600" cy="0"/>
          </a:xfrm>
          <a:prstGeom prst="straightConnector1">
            <a:avLst/>
          </a:prstGeom>
          <a:ln w="14288">
            <a:solidFill>
              <a:srgbClr val="D9E2EC"/>
            </a:solidFill>
            <a:prstDash val="solid"/>
            <a:headEnd type="arrow" w="med" len="med"/>
          </a:ln>
        </p:spPr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6BA361A-C991-40A2-9FE4-270EA4FF5AB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6858000" y="3514725"/>
            <a:ext cx="228600" cy="0"/>
          </a:xfrm>
          <a:prstGeom prst="straightConnector1">
            <a:avLst/>
          </a:prstGeom>
          <a:ln w="14288">
            <a:solidFill>
              <a:srgbClr val="D9E2EC"/>
            </a:solidFill>
            <a:prstDash val="solid"/>
            <a:headEnd type="arrow" w="med" len="med"/>
          </a:ln>
        </p:spPr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B411E94-CD70-4C62-9661-36DA611F7001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4724400" y="3514725"/>
            <a:ext cx="228600" cy="0"/>
          </a:xfrm>
          <a:prstGeom prst="straightConnector1">
            <a:avLst/>
          </a:prstGeom>
          <a:ln w="14288">
            <a:solidFill>
              <a:srgbClr val="D9E2EC"/>
            </a:solidFill>
            <a:prstDash val="solid"/>
            <a:headEnd type="arrow" w="med" len="med"/>
          </a:ln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9EB8FF3-58A8-48B5-BAA9-6712273B3288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2590800" y="3514725"/>
            <a:ext cx="228600" cy="0"/>
          </a:xfrm>
          <a:prstGeom prst="straightConnector1">
            <a:avLst/>
          </a:prstGeom>
          <a:ln w="14288">
            <a:solidFill>
              <a:srgbClr val="D9E2EC"/>
            </a:solidFill>
            <a:prstDash val="solid"/>
            <a:headEnd type="arrow" w="med" len="med"/>
          </a:ln>
        </p:spPr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9433CC28-470F-4AD9-8074-4D9FF0E884C3}"/>
              </a:ext>
            </a:extLst>
          </p:cNvPr>
          <p:cNvCxnSpPr>
            <a:stCxn id="6" idx="2"/>
            <a:endCxn id="13" idx="0"/>
          </p:cNvCxnSpPr>
          <p:nvPr/>
        </p:nvCxnSpPr>
        <p:spPr>
          <a:xfrm flipH="1">
            <a:off x="5905500" y="2457450"/>
            <a:ext cx="1485900" cy="6477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EF63BE7-376B-4F3E-A6AE-41A41CA51D6C}"/>
              </a:ext>
            </a:extLst>
          </p:cNvPr>
          <p:cNvCxnSpPr>
            <a:stCxn id="7" idx="1"/>
            <a:endCxn id="6" idx="3"/>
          </p:cNvCxnSpPr>
          <p:nvPr/>
        </p:nvCxnSpPr>
        <p:spPr>
          <a:xfrm flipH="1">
            <a:off x="8724900" y="2095500"/>
            <a:ext cx="495300" cy="0"/>
          </a:xfrm>
          <a:prstGeom prst="straightConnector1">
            <a:avLst/>
          </a:prstGeom>
          <a:ln w="19050">
            <a:solidFill>
              <a:srgbClr val="627D98"/>
            </a:solidFill>
            <a:prstDash val="dash"/>
            <a:headEnd type="arrow" w="med" len="med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4A2AE12-2D90-4264-BAD3-F0E9F690113E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562600" y="2095500"/>
            <a:ext cx="495300" cy="0"/>
          </a:xfrm>
          <a:prstGeom prst="straightConnector1">
            <a:avLst/>
          </a:prstGeom>
          <a:ln w="19050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EDEBDDA-FD6C-43E5-B8C5-F20547830235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876550" y="2095500"/>
            <a:ext cx="495300" cy="0"/>
          </a:xfrm>
          <a:prstGeom prst="straightConnector1">
            <a:avLst/>
          </a:prstGeom>
          <a:ln w="19050">
            <a:solidFill>
              <a:srgbClr val="0F766E"/>
            </a:solidFill>
            <a:prstDash val="solid"/>
            <a:headEnd type="arrow" w="med" len="med"/>
          </a:ln>
        </p:spPr>
      </p:cxnSp>
      <p:sp>
        <p:nvSpPr>
          <p:cNvPr id="30" name="title-accent">
            <a:extLst>
              <a:ext uri="{FF2B5EF4-FFF2-40B4-BE49-F238E27FC236}">
                <a16:creationId xmlns:a16="http://schemas.microsoft.com/office/drawing/2014/main" id="{AF0C75AE-8861-4ADC-818D-9504D09DABF6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" cy="381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1FFF494-90FF-41A8-A01C-FEF4D9C9CCF6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本地模块化单体支撑完整 AI 链路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3C967A1F-4BE9-4CB4-9752-FF082B637008}"/>
              </a:ext>
            </a:extLst>
          </p:cNvPr>
          <p:cNvSpPr>
            <a:spLocks noGrp="1"/>
          </p:cNvSpPr>
          <p:nvPr/>
        </p:nvSpPr>
        <p:spPr>
          <a:xfrm>
            <a:off x="704850" y="102870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模块边界清楚，同时避免课程项目引入微服务复杂度</a:t>
            </a:r>
          </a:p>
        </p:txBody>
      </p:sp>
      <p:sp>
        <p:nvSpPr>
          <p:cNvPr id="4" name="arch-frontend">
            <a:extLst>
              <a:ext uri="{FF2B5EF4-FFF2-40B4-BE49-F238E27FC236}">
                <a16:creationId xmlns:a16="http://schemas.microsoft.com/office/drawing/2014/main" id="{8D470427-A0EF-4C42-B5AC-899077E16958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2190750" cy="723900"/>
          </a:xfrm>
          <a:prstGeom prst="roundRect">
            <a:avLst>
              <a:gd name="adj" fmla="val 15789"/>
            </a:avLst>
          </a:prstGeom>
          <a:solidFill>
            <a:srgbClr val="F0FDFA"/>
          </a:solidFill>
          <a:ln w="14288">
            <a:solidFill>
              <a:srgbClr val="0F766E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React 学生端</a:t>
            </a:r>
          </a:p>
          <a:p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目标、路径、任务、测验</a:t>
            </a:r>
          </a:p>
        </p:txBody>
      </p:sp>
      <p:sp>
        <p:nvSpPr>
          <p:cNvPr id="5" name="arch-api">
            <a:extLst>
              <a:ext uri="{FF2B5EF4-FFF2-40B4-BE49-F238E27FC236}">
                <a16:creationId xmlns:a16="http://schemas.microsoft.com/office/drawing/2014/main" id="{995BDD8C-82BB-4E13-A17D-0902E78AFF7F}"/>
              </a:ext>
            </a:extLst>
          </p:cNvPr>
          <p:cNvSpPr>
            <a:spLocks noGrp="1"/>
          </p:cNvSpPr>
          <p:nvPr/>
        </p:nvSpPr>
        <p:spPr>
          <a:xfrm>
            <a:off x="3371850" y="1733550"/>
            <a:ext cx="219075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FastAPI</a:t>
            </a:r>
          </a:p>
          <a:p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REST API + Schema</a:t>
            </a:r>
          </a:p>
        </p:txBody>
      </p:sp>
      <p:sp>
        <p:nvSpPr>
          <p:cNvPr id="6" name="arch-agent">
            <a:extLst>
              <a:ext uri="{FF2B5EF4-FFF2-40B4-BE49-F238E27FC236}">
                <a16:creationId xmlns:a16="http://schemas.microsoft.com/office/drawing/2014/main" id="{F559706A-A912-4012-BD68-385B04736711}"/>
              </a:ext>
            </a:extLst>
          </p:cNvPr>
          <p:cNvSpPr>
            <a:spLocks noGrp="1"/>
          </p:cNvSpPr>
          <p:nvPr/>
        </p:nvSpPr>
        <p:spPr>
          <a:xfrm>
            <a:off x="6057900" y="1733550"/>
            <a:ext cx="26670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4288">
            <a:solidFill>
              <a:srgbClr val="0F766E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LangGraph Agent</a:t>
            </a:r>
          </a:p>
          <a:p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状态图、条件路由、重试</a:t>
            </a:r>
          </a:p>
        </p:txBody>
      </p:sp>
      <p:sp>
        <p:nvSpPr>
          <p:cNvPr id="7" name="arch-training">
            <a:extLst>
              <a:ext uri="{FF2B5EF4-FFF2-40B4-BE49-F238E27FC236}">
                <a16:creationId xmlns:a16="http://schemas.microsoft.com/office/drawing/2014/main" id="{371F4988-D77F-4952-A120-CC0BD7DE55C7}"/>
              </a:ext>
            </a:extLst>
          </p:cNvPr>
          <p:cNvSpPr>
            <a:spLocks noGrp="1"/>
          </p:cNvSpPr>
          <p:nvPr/>
        </p:nvSpPr>
        <p:spPr>
          <a:xfrm>
            <a:off x="9220200" y="1733550"/>
            <a:ext cx="22860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Training CLI</a:t>
            </a:r>
          </a:p>
          <a:p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QLoRA + 模型评估</a:t>
            </a:r>
          </a:p>
        </p:txBody>
      </p:sp>
      <p:sp>
        <p:nvSpPr>
          <p:cNvPr id="11" name="arch-service-1">
            <a:extLst>
              <a:ext uri="{FF2B5EF4-FFF2-40B4-BE49-F238E27FC236}">
                <a16:creationId xmlns:a16="http://schemas.microsoft.com/office/drawing/2014/main" id="{C325E737-2F16-4DDC-8210-6D44A8608663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19050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Ollama</a:t>
            </a:r>
          </a:p>
          <a:p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LLM Gateway</a:t>
            </a:r>
          </a:p>
        </p:txBody>
      </p:sp>
      <p:sp>
        <p:nvSpPr>
          <p:cNvPr id="12" name="arch-service-2">
            <a:extLst>
              <a:ext uri="{FF2B5EF4-FFF2-40B4-BE49-F238E27FC236}">
                <a16:creationId xmlns:a16="http://schemas.microsoft.com/office/drawing/2014/main" id="{217EE862-D378-4CC9-9C9B-3F6FF509742E}"/>
              </a:ext>
            </a:extLst>
          </p:cNvPr>
          <p:cNvSpPr>
            <a:spLocks noGrp="1"/>
          </p:cNvSpPr>
          <p:nvPr/>
        </p:nvSpPr>
        <p:spPr>
          <a:xfrm>
            <a:off x="2819400" y="3105150"/>
            <a:ext cx="19050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RAG</a:t>
            </a:r>
          </a:p>
          <a:p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Chroma + FTS5</a:t>
            </a:r>
          </a:p>
        </p:txBody>
      </p:sp>
      <p:sp>
        <p:nvSpPr>
          <p:cNvPr id="13" name="arch-service-3">
            <a:extLst>
              <a:ext uri="{FF2B5EF4-FFF2-40B4-BE49-F238E27FC236}">
                <a16:creationId xmlns:a16="http://schemas.microsoft.com/office/drawing/2014/main" id="{D9B4E381-51FB-4A21-9953-F82CABAC33DD}"/>
              </a:ext>
            </a:extLst>
          </p:cNvPr>
          <p:cNvSpPr>
            <a:spLocks noGrp="1"/>
          </p:cNvSpPr>
          <p:nvPr/>
        </p:nvSpPr>
        <p:spPr>
          <a:xfrm>
            <a:off x="4953000" y="3105150"/>
            <a:ext cx="19050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知识图谱</a:t>
            </a:r>
          </a:p>
          <a:p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DAG + 拓扑排序</a:t>
            </a:r>
          </a:p>
        </p:txBody>
      </p:sp>
      <p:sp>
        <p:nvSpPr>
          <p:cNvPr id="14" name="arch-service-4">
            <a:extLst>
              <a:ext uri="{FF2B5EF4-FFF2-40B4-BE49-F238E27FC236}">
                <a16:creationId xmlns:a16="http://schemas.microsoft.com/office/drawing/2014/main" id="{8F8F6931-1C00-4B70-91A5-87F06DDC0ED8}"/>
              </a:ext>
            </a:extLst>
          </p:cNvPr>
          <p:cNvSpPr>
            <a:spLocks noGrp="1"/>
          </p:cNvSpPr>
          <p:nvPr/>
        </p:nvSpPr>
        <p:spPr>
          <a:xfrm>
            <a:off x="7086600" y="3105150"/>
            <a:ext cx="1905000" cy="819150"/>
          </a:xfrm>
          <a:prstGeom prst="roundRect">
            <a:avLst>
              <a:gd name="adj" fmla="val 13953"/>
            </a:avLst>
          </a:prstGeom>
          <a:solidFill>
            <a:srgbClr val="F0FDFA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规划与校验</a:t>
            </a:r>
          </a:p>
          <a:p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图搜索 + 规则</a:t>
            </a:r>
          </a:p>
        </p:txBody>
      </p:sp>
      <p:sp>
        <p:nvSpPr>
          <p:cNvPr id="15" name="arch-service-5">
            <a:extLst>
              <a:ext uri="{FF2B5EF4-FFF2-40B4-BE49-F238E27FC236}">
                <a16:creationId xmlns:a16="http://schemas.microsoft.com/office/drawing/2014/main" id="{1A34C06D-B510-410D-AE76-C4D5AE96E361}"/>
              </a:ext>
            </a:extLst>
          </p:cNvPr>
          <p:cNvSpPr>
            <a:spLocks noGrp="1"/>
          </p:cNvSpPr>
          <p:nvPr/>
        </p:nvSpPr>
        <p:spPr>
          <a:xfrm>
            <a:off x="9220200" y="3105150"/>
            <a:ext cx="19050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BKT</a:t>
            </a:r>
          </a:p>
          <a:p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掌握度与重规划</a:t>
            </a:r>
          </a:p>
        </p:txBody>
      </p:sp>
      <p:sp>
        <p:nvSpPr>
          <p:cNvPr id="21" name="arch-data-layer">
            <a:extLst>
              <a:ext uri="{FF2B5EF4-FFF2-40B4-BE49-F238E27FC236}">
                <a16:creationId xmlns:a16="http://schemas.microsoft.com/office/drawing/2014/main" id="{98D1DC00-2FCA-453D-A2E8-452AEA9ADCEC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10820400" cy="723900"/>
          </a:xfrm>
          <a:prstGeom prst="rect">
            <a:avLst/>
          </a:prstGeom>
          <a:solidFill>
            <a:srgbClr val="F5F7FA"/>
          </a:solidFill>
          <a:ln w="9525">
            <a:solidFill>
              <a:srgbClr val="D9E2EC"/>
            </a:solidFill>
            <a:prstDash val="solid"/>
          </a:ln>
        </p:spPr>
        <p:txBody>
          <a:bodyPr lIns="95250" tIns="95250" rIns="95250" bIns="95250" anchor="ctr">
            <a:noAutofit/>
          </a:bodyPr>
          <a:lstStyle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本地数据层  |  SQLite 业务数据  |  Chroma 向量索引  |  SQLite FTS5 文本检索  |  文件系统模型产物</a:t>
            </a:r>
          </a:p>
        </p:txBody>
      </p:sp>
      <p:sp>
        <p:nvSpPr>
          <p:cNvPr id="27" name="arch-boundary-1">
            <a:extLst>
              <a:ext uri="{FF2B5EF4-FFF2-40B4-BE49-F238E27FC236}">
                <a16:creationId xmlns:a16="http://schemas.microsoft.com/office/drawing/2014/main" id="{63AA7933-1DB7-4D18-B46E-6A19A2AF872E}"/>
              </a:ext>
            </a:extLst>
          </p:cNvPr>
          <p:cNvSpPr>
            <a:spLocks noGrp="1"/>
          </p:cNvSpPr>
          <p:nvPr/>
        </p:nvSpPr>
        <p:spPr>
          <a:xfrm>
            <a:off x="685800" y="544830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LLM 只负责理解、生成候选和解释</a:t>
            </a:r>
          </a:p>
        </p:txBody>
      </p:sp>
      <p:sp>
        <p:nvSpPr>
          <p:cNvPr id="28" name="arch-boundary-2">
            <a:extLst>
              <a:ext uri="{FF2B5EF4-FFF2-40B4-BE49-F238E27FC236}">
                <a16:creationId xmlns:a16="http://schemas.microsoft.com/office/drawing/2014/main" id="{3CDF1D20-60D5-4FDA-8EBA-1C33B5CE0F00}"/>
              </a:ext>
            </a:extLst>
          </p:cNvPr>
          <p:cNvSpPr>
            <a:spLocks noGrp="1"/>
          </p:cNvSpPr>
          <p:nvPr/>
        </p:nvSpPr>
        <p:spPr>
          <a:xfrm>
            <a:off x="6038850" y="5448300"/>
            <a:ext cx="546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08000"/>
              </a:lnSpc>
              <a:buNone/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图谱、约束规划和规则校验决定路径是否可行</a:t>
            </a:r>
          </a:p>
        </p:txBody>
      </p:sp>
      <p:sp>
        <p:nvSpPr>
          <p:cNvPr id="29" name="page-number">
            <a:extLst>
              <a:ext uri="{FF2B5EF4-FFF2-40B4-BE49-F238E27FC236}">
                <a16:creationId xmlns:a16="http://schemas.microsoft.com/office/drawing/2014/main" id="{69012EEC-7A2F-4A12-A97B-F2039E597DD9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07 / 16</a:t>
            </a:r>
          </a:p>
        </p:txBody>
      </p:sp>
    </p:spTree>
    <p:extLst>
      <p:ext uri="{BB962C8B-B14F-4D97-AF65-F5344CB8AC3E}">
        <p14:creationId xmlns:p14="http://schemas.microsoft.com/office/powerpoint/2010/main" val="609025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-accent">
            <a:extLst>
              <a:ext uri="{FF2B5EF4-FFF2-40B4-BE49-F238E27FC236}">
                <a16:creationId xmlns:a16="http://schemas.microsoft.com/office/drawing/2014/main" id="{CF117737-2D03-49D0-8EBE-341205E1D9F7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" cy="381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F6F4432-59D0-4C55-AB81-D58E531D7C0F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小参数模型学习任务格式，不记忆课程事实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9D83D226-671E-490E-A8C7-BE379C1AF22F}"/>
              </a:ext>
            </a:extLst>
          </p:cNvPr>
          <p:cNvSpPr>
            <a:spLocks noGrp="1"/>
          </p:cNvSpPr>
          <p:nvPr/>
        </p:nvSpPr>
        <p:spPr>
          <a:xfrm>
            <a:off x="704850" y="102870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Qwen2.5-1.5B 与 QLoRA 在效果、显存和训练时间之间取平衡</a:t>
            </a:r>
          </a:p>
        </p:txBody>
      </p:sp>
      <p:sp>
        <p:nvSpPr>
          <p:cNvPr id="4" name="model-band">
            <a:extLst>
              <a:ext uri="{FF2B5EF4-FFF2-40B4-BE49-F238E27FC236}">
                <a16:creationId xmlns:a16="http://schemas.microsoft.com/office/drawing/2014/main" id="{0F98CA02-C04B-4AB7-92BF-B1AB1642B84E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4762500" cy="1028700"/>
          </a:xfrm>
          <a:prstGeom prst="rect">
            <a:avLst/>
          </a:prstGeom>
          <a:solidFill>
            <a:srgbClr val="F0FDFA"/>
          </a:solidFill>
          <a:ln w="14288">
            <a:solidFill>
              <a:srgbClr val="0F766E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Qwen2.5-1.5B-Instruct</a:t>
            </a:r>
          </a:p>
          <a:p>
            <a:pPr algn="ctr">
              <a:lnSpc>
                <a:spcPct val="108000"/>
              </a:lnSpc>
              <a:buNone/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4-bit QLoRA  |  Ollama 本地推理</a:t>
            </a:r>
          </a:p>
        </p:txBody>
      </p:sp>
      <p:sp>
        <p:nvSpPr>
          <p:cNvPr id="5" name="model-config-list">
            <a:extLst>
              <a:ext uri="{FF2B5EF4-FFF2-40B4-BE49-F238E27FC236}">
                <a16:creationId xmlns:a16="http://schemas.microsoft.com/office/drawing/2014/main" id="{CC84FC7E-B558-4F1B-99AF-2B972319BC31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4762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嵌入模型：nomic-embed-text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训练数据：600 至 1200 条审核后的 SFT 样本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训练划分：80% / 10% / 10%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默认配置：rank 16、alpha 32、dropout 0.05</a:t>
            </a:r>
          </a:p>
        </p:txBody>
      </p:sp>
      <p:sp>
        <p:nvSpPr>
          <p:cNvPr id="6" name="model-responsible-heading">
            <a:extLst>
              <a:ext uri="{FF2B5EF4-FFF2-40B4-BE49-F238E27FC236}">
                <a16:creationId xmlns:a16="http://schemas.microsoft.com/office/drawing/2014/main" id="{531497FC-942D-46ED-87DE-4AD06D00D462}"/>
              </a:ext>
            </a:extLst>
          </p:cNvPr>
          <p:cNvSpPr>
            <a:spLocks noGrp="1"/>
          </p:cNvSpPr>
          <p:nvPr/>
        </p:nvSpPr>
        <p:spPr>
          <a:xfrm>
            <a:off x="6115050" y="16573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模型负责</a:t>
            </a:r>
          </a:p>
        </p:txBody>
      </p:sp>
      <p:sp>
        <p:nvSpPr>
          <p:cNvPr id="7" name="model-responsible-list">
            <a:extLst>
              <a:ext uri="{FF2B5EF4-FFF2-40B4-BE49-F238E27FC236}">
                <a16:creationId xmlns:a16="http://schemas.microsoft.com/office/drawing/2014/main" id="{BCEA3904-7723-4758-AF1D-B138C4227E40}"/>
              </a:ext>
            </a:extLst>
          </p:cNvPr>
          <p:cNvSpPr>
            <a:spLocks noGrp="1"/>
          </p:cNvSpPr>
          <p:nvPr/>
        </p:nvSpPr>
        <p:spPr>
          <a:xfrm>
            <a:off x="6115050" y="2038350"/>
            <a:ext cx="2381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理解目标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拆解知识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生成任务与题目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生成候选路径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解释调整原因</a:t>
            </a:r>
          </a:p>
        </p:txBody>
      </p:sp>
      <p:sp>
        <p:nvSpPr>
          <p:cNvPr id="8" name="model-not-responsible-heading">
            <a:extLst>
              <a:ext uri="{FF2B5EF4-FFF2-40B4-BE49-F238E27FC236}">
                <a16:creationId xmlns:a16="http://schemas.microsoft.com/office/drawing/2014/main" id="{60E3F72A-ECEE-4B89-8D6C-A8CBB014E7AF}"/>
              </a:ext>
            </a:extLst>
          </p:cNvPr>
          <p:cNvSpPr>
            <a:spLocks noGrp="1"/>
          </p:cNvSpPr>
          <p:nvPr/>
        </p:nvSpPr>
        <p:spPr>
          <a:xfrm>
            <a:off x="9201150" y="16573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不由模型决定</a:t>
            </a:r>
          </a:p>
        </p:txBody>
      </p:sp>
      <p:sp>
        <p:nvSpPr>
          <p:cNvPr id="9" name="model-not-responsible-list">
            <a:extLst>
              <a:ext uri="{FF2B5EF4-FFF2-40B4-BE49-F238E27FC236}">
                <a16:creationId xmlns:a16="http://schemas.microsoft.com/office/drawing/2014/main" id="{68F82BC3-7C12-4FF4-AB5F-BD61E1314243}"/>
              </a:ext>
            </a:extLst>
          </p:cNvPr>
          <p:cNvSpPr>
            <a:spLocks noGrp="1"/>
          </p:cNvSpPr>
          <p:nvPr/>
        </p:nvSpPr>
        <p:spPr>
          <a:xfrm>
            <a:off x="9201150" y="2038350"/>
            <a:ext cx="23050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课程事实真实性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最终路径可行性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掌握度更新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是否允许发布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FF48A9-65F5-47E8-B60D-6C079A3CF38F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1" name="metric-value-1">
            <a:extLst>
              <a:ext uri="{FF2B5EF4-FFF2-40B4-BE49-F238E27FC236}">
                <a16:creationId xmlns:a16="http://schemas.microsoft.com/office/drawing/2014/main" id="{3A8F4868-C466-485B-BACA-5C5FA1C4B253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95%</a:t>
            </a:r>
          </a:p>
        </p:txBody>
      </p:sp>
      <p:sp>
        <p:nvSpPr>
          <p:cNvPr id="12" name="metric-label-1">
            <a:extLst>
              <a:ext uri="{FF2B5EF4-FFF2-40B4-BE49-F238E27FC236}">
                <a16:creationId xmlns:a16="http://schemas.microsoft.com/office/drawing/2014/main" id="{BC35FAEC-F704-48A5-8D34-8E6D49D6DF24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JSON 合法率</a:t>
            </a:r>
          </a:p>
        </p:txBody>
      </p:sp>
      <p:sp>
        <p:nvSpPr>
          <p:cNvPr id="13" name="metric-value-2">
            <a:extLst>
              <a:ext uri="{FF2B5EF4-FFF2-40B4-BE49-F238E27FC236}">
                <a16:creationId xmlns:a16="http://schemas.microsoft.com/office/drawing/2014/main" id="{D7C9F36E-FDB6-491A-AB69-AB48BA2AF431}"/>
              </a:ext>
            </a:extLst>
          </p:cNvPr>
          <p:cNvSpPr>
            <a:spLocks noGrp="1"/>
          </p:cNvSpPr>
          <p:nvPr/>
        </p:nvSpPr>
        <p:spPr>
          <a:xfrm>
            <a:off x="3409950" y="537210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+10pp</a:t>
            </a:r>
          </a:p>
        </p:txBody>
      </p:sp>
      <p:sp>
        <p:nvSpPr>
          <p:cNvPr id="14" name="metric-label-2">
            <a:extLst>
              <a:ext uri="{FF2B5EF4-FFF2-40B4-BE49-F238E27FC236}">
                <a16:creationId xmlns:a16="http://schemas.microsoft.com/office/drawing/2014/main" id="{F365ADBD-1363-45B0-87A3-E920378A5F40}"/>
              </a:ext>
            </a:extLst>
          </p:cNvPr>
          <p:cNvSpPr>
            <a:spLocks noGrp="1"/>
          </p:cNvSpPr>
          <p:nvPr/>
        </p:nvSpPr>
        <p:spPr>
          <a:xfrm>
            <a:off x="3409950" y="58102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结构化成功率提升</a:t>
            </a:r>
          </a:p>
        </p:txBody>
      </p:sp>
      <p:sp>
        <p:nvSpPr>
          <p:cNvPr id="15" name="metric-value-3">
            <a:extLst>
              <a:ext uri="{FF2B5EF4-FFF2-40B4-BE49-F238E27FC236}">
                <a16:creationId xmlns:a16="http://schemas.microsoft.com/office/drawing/2014/main" id="{00721771-41CB-41F0-8924-8F31A379D827}"/>
              </a:ext>
            </a:extLst>
          </p:cNvPr>
          <p:cNvSpPr>
            <a:spLocks noGrp="1"/>
          </p:cNvSpPr>
          <p:nvPr/>
        </p:nvSpPr>
        <p:spPr>
          <a:xfrm>
            <a:off x="6134100" y="537210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6" name="metric-label-3">
            <a:extLst>
              <a:ext uri="{FF2B5EF4-FFF2-40B4-BE49-F238E27FC236}">
                <a16:creationId xmlns:a16="http://schemas.microsoft.com/office/drawing/2014/main" id="{38D75512-4881-40CB-A6E6-C7522B507E87}"/>
              </a:ext>
            </a:extLst>
          </p:cNvPr>
          <p:cNvSpPr>
            <a:spLocks noGrp="1"/>
          </p:cNvSpPr>
          <p:nvPr/>
        </p:nvSpPr>
        <p:spPr>
          <a:xfrm>
            <a:off x="6134100" y="58102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引用存在率</a:t>
            </a:r>
          </a:p>
        </p:txBody>
      </p:sp>
      <p:sp>
        <p:nvSpPr>
          <p:cNvPr id="17" name="metric-value-4">
            <a:extLst>
              <a:ext uri="{FF2B5EF4-FFF2-40B4-BE49-F238E27FC236}">
                <a16:creationId xmlns:a16="http://schemas.microsoft.com/office/drawing/2014/main" id="{42102BAD-08E0-48AD-8478-08F77FB74AB1}"/>
              </a:ext>
            </a:extLst>
          </p:cNvPr>
          <p:cNvSpPr>
            <a:spLocks noGrp="1"/>
          </p:cNvSpPr>
          <p:nvPr/>
        </p:nvSpPr>
        <p:spPr>
          <a:xfrm>
            <a:off x="8858250" y="5372100"/>
            <a:ext cx="228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8" name="metric-label-4">
            <a:extLst>
              <a:ext uri="{FF2B5EF4-FFF2-40B4-BE49-F238E27FC236}">
                <a16:creationId xmlns:a16="http://schemas.microsoft.com/office/drawing/2014/main" id="{A3298861-96D0-41EA-AD4F-0412813F1BEE}"/>
              </a:ext>
            </a:extLst>
          </p:cNvPr>
          <p:cNvSpPr>
            <a:spLocks noGrp="1"/>
          </p:cNvSpPr>
          <p:nvPr/>
        </p:nvSpPr>
        <p:spPr>
          <a:xfrm>
            <a:off x="8858250" y="58102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硬先修冲突率</a:t>
            </a:r>
          </a:p>
        </p:txBody>
      </p:sp>
      <p:sp>
        <p:nvSpPr>
          <p:cNvPr id="19" name="page-number">
            <a:extLst>
              <a:ext uri="{FF2B5EF4-FFF2-40B4-BE49-F238E27FC236}">
                <a16:creationId xmlns:a16="http://schemas.microsoft.com/office/drawing/2014/main" id="{5EF3FB67-80A1-4372-BCC8-DA5E592F4500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08 / 16</a:t>
            </a:r>
          </a:p>
        </p:txBody>
      </p:sp>
    </p:spTree>
    <p:extLst>
      <p:ext uri="{BB962C8B-B14F-4D97-AF65-F5344CB8AC3E}">
        <p14:creationId xmlns:p14="http://schemas.microsoft.com/office/powerpoint/2010/main" val="2075107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207973C-0B2E-4FA4-8A94-2DA38B4DBFBA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667750" y="1971675"/>
            <a:ext cx="476250" cy="0"/>
          </a:xfrm>
          <a:prstGeom prst="straightConnector1">
            <a:avLst/>
          </a:prstGeom>
          <a:ln w="19050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11F6115-8121-421D-85C0-406BCDA1CCC1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6553200" y="1971675"/>
            <a:ext cx="476250" cy="0"/>
          </a:xfrm>
          <a:prstGeom prst="straightConnector1">
            <a:avLst/>
          </a:prstGeom>
          <a:ln w="19050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D53E482-1E01-4B58-8603-2E6C34D8F0BF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438650" y="1971675"/>
            <a:ext cx="476250" cy="0"/>
          </a:xfrm>
          <a:prstGeom prst="straightConnector1">
            <a:avLst/>
          </a:prstGeom>
          <a:ln w="19050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3E419B4-4421-4CDF-8513-DAD42D2FA186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324100" y="1971675"/>
            <a:ext cx="476250" cy="0"/>
          </a:xfrm>
          <a:prstGeom prst="straightConnector1">
            <a:avLst/>
          </a:prstGeom>
          <a:ln w="19050">
            <a:solidFill>
              <a:srgbClr val="0F766E"/>
            </a:solidFill>
            <a:prstDash val="solid"/>
            <a:headEnd type="arrow" w="med" len="med"/>
          </a:ln>
        </p:spPr>
      </p:cxnSp>
      <p:sp>
        <p:nvSpPr>
          <p:cNvPr id="22" name="title-accent">
            <a:extLst>
              <a:ext uri="{FF2B5EF4-FFF2-40B4-BE49-F238E27FC236}">
                <a16:creationId xmlns:a16="http://schemas.microsoft.com/office/drawing/2014/main" id="{CDDBB9DD-80DD-46AD-913A-DF221659F00A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" cy="381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88B41E00-4FA1-41BC-A929-D6939C2CAE2F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RAG 为学习节点提供可追溯依据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E61113CA-974B-44D5-B31A-BD140E36D7B2}"/>
              </a:ext>
            </a:extLst>
          </p:cNvPr>
          <p:cNvSpPr>
            <a:spLocks noGrp="1"/>
          </p:cNvSpPr>
          <p:nvPr/>
        </p:nvSpPr>
        <p:spPr>
          <a:xfrm>
            <a:off x="704850" y="102870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混合检索保证语义匹配，同时保留课程术语的精确匹配</a:t>
            </a:r>
          </a:p>
        </p:txBody>
      </p:sp>
      <p:sp>
        <p:nvSpPr>
          <p:cNvPr id="4" name="rag-step-1">
            <a:extLst>
              <a:ext uri="{FF2B5EF4-FFF2-40B4-BE49-F238E27FC236}">
                <a16:creationId xmlns:a16="http://schemas.microsoft.com/office/drawing/2014/main" id="{3CF8EF56-24C2-4C08-AC66-3250FD30D184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63830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导入资料</a:t>
            </a:r>
          </a:p>
        </p:txBody>
      </p:sp>
      <p:sp>
        <p:nvSpPr>
          <p:cNvPr id="5" name="rag-step-2">
            <a:extLst>
              <a:ext uri="{FF2B5EF4-FFF2-40B4-BE49-F238E27FC236}">
                <a16:creationId xmlns:a16="http://schemas.microsoft.com/office/drawing/2014/main" id="{78D46A9E-A2F8-4232-BEFD-6AA335415BCC}"/>
              </a:ext>
            </a:extLst>
          </p:cNvPr>
          <p:cNvSpPr>
            <a:spLocks noGrp="1"/>
          </p:cNvSpPr>
          <p:nvPr/>
        </p:nvSpPr>
        <p:spPr>
          <a:xfrm>
            <a:off x="2800350" y="1657350"/>
            <a:ext cx="163830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语义切分</a:t>
            </a:r>
          </a:p>
        </p:txBody>
      </p:sp>
      <p:sp>
        <p:nvSpPr>
          <p:cNvPr id="6" name="rag-step-3">
            <a:extLst>
              <a:ext uri="{FF2B5EF4-FFF2-40B4-BE49-F238E27FC236}">
                <a16:creationId xmlns:a16="http://schemas.microsoft.com/office/drawing/2014/main" id="{A16C6A48-C74D-487F-ABB7-9A7F3D745CCD}"/>
              </a:ext>
            </a:extLst>
          </p:cNvPr>
          <p:cNvSpPr>
            <a:spLocks noGrp="1"/>
          </p:cNvSpPr>
          <p:nvPr/>
        </p:nvSpPr>
        <p:spPr>
          <a:xfrm>
            <a:off x="4914900" y="1657350"/>
            <a:ext cx="163830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建立索引</a:t>
            </a:r>
          </a:p>
        </p:txBody>
      </p:sp>
      <p:sp>
        <p:nvSpPr>
          <p:cNvPr id="7" name="rag-step-4">
            <a:extLst>
              <a:ext uri="{FF2B5EF4-FFF2-40B4-BE49-F238E27FC236}">
                <a16:creationId xmlns:a16="http://schemas.microsoft.com/office/drawing/2014/main" id="{1A7FF053-38A8-4A50-8435-2FA366B3397E}"/>
              </a:ext>
            </a:extLst>
          </p:cNvPr>
          <p:cNvSpPr>
            <a:spLocks noGrp="1"/>
          </p:cNvSpPr>
          <p:nvPr/>
        </p:nvSpPr>
        <p:spPr>
          <a:xfrm>
            <a:off x="7029450" y="1657350"/>
            <a:ext cx="1638300" cy="628650"/>
          </a:xfrm>
          <a:prstGeom prst="roundRect">
            <a:avLst>
              <a:gd name="adj" fmla="val 18182"/>
            </a:avLst>
          </a:prstGeom>
          <a:solidFill>
            <a:srgbClr val="F0FDFA"/>
          </a:solidFill>
          <a:ln w="14288">
            <a:solidFill>
              <a:srgbClr val="0F766E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混合检索</a:t>
            </a:r>
          </a:p>
        </p:txBody>
      </p:sp>
      <p:sp>
        <p:nvSpPr>
          <p:cNvPr id="8" name="rag-step-5">
            <a:extLst>
              <a:ext uri="{FF2B5EF4-FFF2-40B4-BE49-F238E27FC236}">
                <a16:creationId xmlns:a16="http://schemas.microsoft.com/office/drawing/2014/main" id="{9DE1A188-62C2-4540-A2C9-3500632D3D8A}"/>
              </a:ext>
            </a:extLst>
          </p:cNvPr>
          <p:cNvSpPr>
            <a:spLocks noGrp="1"/>
          </p:cNvSpPr>
          <p:nvPr/>
        </p:nvSpPr>
        <p:spPr>
          <a:xfrm>
            <a:off x="9144000" y="1657350"/>
            <a:ext cx="163830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生成引用</a:t>
            </a:r>
          </a:p>
        </p:txBody>
      </p:sp>
      <p:sp>
        <p:nvSpPr>
          <p:cNvPr id="13" name="rag-formula-heading">
            <a:extLst>
              <a:ext uri="{FF2B5EF4-FFF2-40B4-BE49-F238E27FC236}">
                <a16:creationId xmlns:a16="http://schemas.microsoft.com/office/drawing/2014/main" id="{B8297193-984E-4EB7-B813-3A97445E1A18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514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混合检索公式</a:t>
            </a:r>
          </a:p>
        </p:txBody>
      </p:sp>
      <p:sp>
        <p:nvSpPr>
          <p:cNvPr id="14" name="rag-formula">
            <a:extLst>
              <a:ext uri="{FF2B5EF4-FFF2-40B4-BE49-F238E27FC236}">
                <a16:creationId xmlns:a16="http://schemas.microsoft.com/office/drawing/2014/main" id="{06BEF084-C9F8-484A-BF1B-0A00E3405FEB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5143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0000"/>
              </a:lnSpc>
              <a:buNone/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0.65 × 向量相似度</a:t>
            </a:r>
          </a:p>
          <a:p>
            <a:pPr algn="l">
              <a:lnSpc>
                <a:spcPct val="110000"/>
              </a:lnSpc>
              <a:buNone/>
              <a:def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+ 0.35 × 归一化 BM25</a:t>
            </a:r>
          </a:p>
        </p:txBody>
      </p:sp>
      <p:sp>
        <p:nvSpPr>
          <p:cNvPr id="15" name="rag-retrieval-list">
            <a:extLst>
              <a:ext uri="{FF2B5EF4-FFF2-40B4-BE49-F238E27FC236}">
                <a16:creationId xmlns:a16="http://schemas.microsoft.com/office/drawing/2014/main" id="{C155B409-4826-4F0D-A8EE-6176A789FD7E}"/>
              </a:ext>
            </a:extLst>
          </p:cNvPr>
          <p:cNvSpPr>
            <a:spLocks noGrp="1"/>
          </p:cNvSpPr>
          <p:nvPr/>
        </p:nvSpPr>
        <p:spPr>
          <a:xfrm>
            <a:off x="685800" y="4248150"/>
            <a:ext cx="5048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默认召回 8 个片段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过滤课程、知识域和文档版本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返回前 5 个片段作为上下文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F3554A9-1F6C-4D68-AD61-23B969C48FAB}"/>
              </a:ext>
            </a:extLst>
          </p:cNvPr>
          <p:cNvSpPr>
            <a:spLocks noGrp="1"/>
          </p:cNvSpPr>
          <p:nvPr/>
        </p:nvSpPr>
        <p:spPr>
          <a:xfrm>
            <a:off x="6115050" y="2781300"/>
            <a:ext cx="9525" cy="31432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7" name="rag-citation-heading">
            <a:extLst>
              <a:ext uri="{FF2B5EF4-FFF2-40B4-BE49-F238E27FC236}">
                <a16:creationId xmlns:a16="http://schemas.microsoft.com/office/drawing/2014/main" id="{69591856-7BC4-49BE-8AD6-0BA0358ED8F3}"/>
              </a:ext>
            </a:extLst>
          </p:cNvPr>
          <p:cNvSpPr>
            <a:spLocks noGrp="1"/>
          </p:cNvSpPr>
          <p:nvPr/>
        </p:nvSpPr>
        <p:spPr>
          <a:xfrm>
            <a:off x="6438900" y="27813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引用记录示例</a:t>
            </a:r>
          </a:p>
        </p:txBody>
      </p:sp>
      <p:sp>
        <p:nvSpPr>
          <p:cNvPr id="18" name="citation-title">
            <a:extLst>
              <a:ext uri="{FF2B5EF4-FFF2-40B4-BE49-F238E27FC236}">
                <a16:creationId xmlns:a16="http://schemas.microsoft.com/office/drawing/2014/main" id="{0196C08F-C795-4BAC-A791-CF04AEB0BDBA}"/>
              </a:ext>
            </a:extLst>
          </p:cNvPr>
          <p:cNvSpPr>
            <a:spLocks noGrp="1"/>
          </p:cNvSpPr>
          <p:nvPr/>
        </p:nvSpPr>
        <p:spPr>
          <a:xfrm>
            <a:off x="6438900" y="32385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Python 程序设计课程大纲</a:t>
            </a:r>
          </a:p>
        </p:txBody>
      </p:sp>
      <p:sp>
        <p:nvSpPr>
          <p:cNvPr id="19" name="citation-detail">
            <a:extLst>
              <a:ext uri="{FF2B5EF4-FFF2-40B4-BE49-F238E27FC236}">
                <a16:creationId xmlns:a16="http://schemas.microsoft.com/office/drawing/2014/main" id="{E1C88ECD-E3C9-4F0B-8860-3CE28DE26B1B}"/>
              </a:ext>
            </a:extLst>
          </p:cNvPr>
          <p:cNvSpPr>
            <a:spLocks noGrp="1"/>
          </p:cNvSpPr>
          <p:nvPr/>
        </p:nvSpPr>
        <p:spPr>
          <a:xfrm>
            <a:off x="6438900" y="3733800"/>
            <a:ext cx="4762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14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章节：函数与模块</a:t>
            </a:r>
          </a:p>
          <a:p>
            <a:pPr algn="l">
              <a:lnSpc>
                <a:spcPct val="114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页码：12</a:t>
            </a:r>
          </a:p>
          <a:p>
            <a:pPr algn="l">
              <a:lnSpc>
                <a:spcPct val="114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片段：doc-python-001-c03</a:t>
            </a:r>
          </a:p>
          <a:p>
            <a:pPr algn="l">
              <a:lnSpc>
                <a:spcPct val="114000"/>
              </a:lnSpc>
              <a:buNone/>
              <a:def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检索得分：0.82</a:t>
            </a:r>
          </a:p>
        </p:txBody>
      </p:sp>
      <p:sp>
        <p:nvSpPr>
          <p:cNvPr id="20" name="rag-trust-level">
            <a:extLst>
              <a:ext uri="{FF2B5EF4-FFF2-40B4-BE49-F238E27FC236}">
                <a16:creationId xmlns:a16="http://schemas.microsoft.com/office/drawing/2014/main" id="{A47C76FF-08A8-4AE7-B1F5-31605DA260D6}"/>
              </a:ext>
            </a:extLst>
          </p:cNvPr>
          <p:cNvSpPr>
            <a:spLocks noGrp="1"/>
          </p:cNvSpPr>
          <p:nvPr/>
        </p:nvSpPr>
        <p:spPr>
          <a:xfrm>
            <a:off x="6438900" y="5010150"/>
            <a:ext cx="476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无有效证据 → 标记 draft</a:t>
            </a:r>
          </a:p>
          <a:p>
            <a:pPr algn="l">
              <a:lnSpc>
                <a:spcPct val="108000"/>
              </a:lnSpc>
              <a:buNone/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有真实证据且规则通过 → verified</a:t>
            </a:r>
          </a:p>
        </p:txBody>
      </p:sp>
      <p:sp>
        <p:nvSpPr>
          <p:cNvPr id="21" name="page-number">
            <a:extLst>
              <a:ext uri="{FF2B5EF4-FFF2-40B4-BE49-F238E27FC236}">
                <a16:creationId xmlns:a16="http://schemas.microsoft.com/office/drawing/2014/main" id="{5F348B92-C1E0-4732-864C-349E4084E0C9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09 / 16</a:t>
            </a:r>
          </a:p>
        </p:txBody>
      </p:sp>
    </p:spTree>
    <p:extLst>
      <p:ext uri="{BB962C8B-B14F-4D97-AF65-F5344CB8AC3E}">
        <p14:creationId xmlns:p14="http://schemas.microsoft.com/office/powerpoint/2010/main" val="1335120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58700296-6300-4BA2-99BC-240A341666A6}"/>
              </a:ext>
            </a:extLst>
          </p:cNvPr>
          <p:cNvCxnSpPr>
            <a:stCxn id="8" idx="2"/>
            <a:endCxn id="9" idx="3"/>
          </p:cNvCxnSpPr>
          <p:nvPr/>
        </p:nvCxnSpPr>
        <p:spPr>
          <a:xfrm flipH="1">
            <a:off x="7677150" y="4019550"/>
            <a:ext cx="2266950" cy="1438275"/>
          </a:xfrm>
          <a:prstGeom prst="bentConnector5">
            <a:avLst>
              <a:gd name="adj1" fmla="val 0"/>
              <a:gd name="adj2" fmla="val 15894"/>
              <a:gd name="adj3" fmla="val 89916"/>
            </a:avLst>
          </a:prstGeom>
          <a:ln w="19050">
            <a:solidFill>
              <a:srgbClr val="0F766E"/>
            </a:solidFill>
            <a:prstDash val="dash"/>
            <a:headEnd type="arrow" w="med" len="med"/>
          </a:ln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5A1AEC1-FD3F-4780-A3C6-E1D6D5C0C4D7}"/>
              </a:ext>
            </a:extLst>
          </p:cNvPr>
          <p:cNvCxnSpPr>
            <a:stCxn id="4" idx="2"/>
            <a:endCxn id="9" idx="0"/>
          </p:cNvCxnSpPr>
          <p:nvPr/>
        </p:nvCxnSpPr>
        <p:spPr>
          <a:xfrm>
            <a:off x="6096000" y="4152900"/>
            <a:ext cx="0" cy="895350"/>
          </a:xfrm>
          <a:prstGeom prst="straightConnector1">
            <a:avLst/>
          </a:prstGeom>
          <a:ln w="19050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B5624C07-15A3-4CA4-9C6D-DB0FD22B5F96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7677150" y="3476625"/>
            <a:ext cx="704850" cy="114300"/>
          </a:xfrm>
          <a:prstGeom prst="bentConnector3">
            <a:avLst>
              <a:gd name="adj1" fmla="val 50000"/>
            </a:avLst>
          </a:prstGeom>
          <a:ln w="19050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CDBBE23A-549D-4B55-BAD6-CD6FE32AAD8E}"/>
              </a:ext>
            </a:extLst>
          </p:cNvPr>
          <p:cNvCxnSpPr>
            <a:stCxn id="4" idx="1"/>
            <a:endCxn id="7" idx="3"/>
          </p:cNvCxnSpPr>
          <p:nvPr/>
        </p:nvCxnSpPr>
        <p:spPr>
          <a:xfrm flipH="1">
            <a:off x="3638550" y="3476625"/>
            <a:ext cx="876300" cy="114300"/>
          </a:xfrm>
          <a:prstGeom prst="bentConnector3">
            <a:avLst>
              <a:gd name="adj1" fmla="val 50000"/>
            </a:avLst>
          </a:prstGeom>
          <a:ln w="19050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B5DA9A16-4636-409B-819F-EB9D5786625F}"/>
              </a:ext>
            </a:extLst>
          </p:cNvPr>
          <p:cNvCxnSpPr>
            <a:stCxn id="6" idx="1"/>
            <a:endCxn id="4" idx="0"/>
          </p:cNvCxnSpPr>
          <p:nvPr/>
        </p:nvCxnSpPr>
        <p:spPr>
          <a:xfrm flipH="1">
            <a:off x="6096000" y="2009775"/>
            <a:ext cx="2286000" cy="790575"/>
          </a:xfrm>
          <a:prstGeom prst="bentConnector2">
            <a:avLst/>
          </a:prstGeom>
          <a:ln w="19050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BE75DEF3-619B-4C33-89E8-10E4A88D051C}"/>
              </a:ext>
            </a:extLst>
          </p:cNvPr>
          <p:cNvCxnSpPr>
            <a:stCxn id="5" idx="3"/>
            <a:endCxn id="4" idx="0"/>
          </p:cNvCxnSpPr>
          <p:nvPr/>
        </p:nvCxnSpPr>
        <p:spPr>
          <a:xfrm>
            <a:off x="3638550" y="2009775"/>
            <a:ext cx="2457450" cy="790575"/>
          </a:xfrm>
          <a:prstGeom prst="bentConnector2">
            <a:avLst/>
          </a:prstGeom>
          <a:ln w="19050">
            <a:solidFill>
              <a:srgbClr val="0F766E"/>
            </a:solidFill>
            <a:prstDash val="solid"/>
            <a:headEnd type="arrow" w="med" len="med"/>
          </a:ln>
        </p:spPr>
      </p:cxnSp>
      <p:sp>
        <p:nvSpPr>
          <p:cNvPr id="20" name="title-accent">
            <a:extLst>
              <a:ext uri="{FF2B5EF4-FFF2-40B4-BE49-F238E27FC236}">
                <a16:creationId xmlns:a16="http://schemas.microsoft.com/office/drawing/2014/main" id="{4047FD46-24DC-4EAF-AD53-B6A208C5196A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" cy="381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165D8BB-E1B2-4274-BE88-99095201A7C6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LangGraph 通过共享状态编排多角色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E50A8730-5400-4825-AABD-0FCDD6A265E5}"/>
              </a:ext>
            </a:extLst>
          </p:cNvPr>
          <p:cNvSpPr>
            <a:spLocks noGrp="1"/>
          </p:cNvSpPr>
          <p:nvPr/>
        </p:nvSpPr>
        <p:spPr>
          <a:xfrm>
            <a:off x="704850" y="102870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受控工作流保留专业分工，同时避免 Agent 自由协商带来的不确定性</a:t>
            </a:r>
          </a:p>
        </p:txBody>
      </p:sp>
      <p:sp>
        <p:nvSpPr>
          <p:cNvPr id="4" name="langgraph-state">
            <a:extLst>
              <a:ext uri="{FF2B5EF4-FFF2-40B4-BE49-F238E27FC236}">
                <a16:creationId xmlns:a16="http://schemas.microsoft.com/office/drawing/2014/main" id="{0E4518AB-73B0-455F-84E0-4C6CBB149E35}"/>
              </a:ext>
            </a:extLst>
          </p:cNvPr>
          <p:cNvSpPr>
            <a:spLocks noGrp="1"/>
          </p:cNvSpPr>
          <p:nvPr/>
        </p:nvSpPr>
        <p:spPr>
          <a:xfrm>
            <a:off x="4514850" y="2800350"/>
            <a:ext cx="3162300" cy="1352550"/>
          </a:xfrm>
          <a:prstGeom prst="roundRect">
            <a:avLst>
              <a:gd name="adj" fmla="val 8451"/>
            </a:avLst>
          </a:prstGeom>
          <a:solidFill>
            <a:srgbClr val="F0FDFA"/>
          </a:solidFill>
          <a:ln w="19050">
            <a:solidFill>
              <a:srgbClr val="0F766E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AgentState</a:t>
            </a:r>
          </a:p>
          <a:p>
            <a:pPr algn="ctr">
              <a:lnSpc>
                <a:spcPct val="102000"/>
              </a:lnSpc>
              <a:buNone/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目标、画像、证据、候选路径</a:t>
            </a:r>
          </a:p>
          <a:p>
            <a:pPr algn="ctr">
              <a:lnSpc>
                <a:spcPct val="102000"/>
              </a:lnSpc>
              <a:buNone/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校验结果、重试、运行轨迹</a:t>
            </a:r>
          </a:p>
        </p:txBody>
      </p:sp>
      <p:sp>
        <p:nvSpPr>
          <p:cNvPr id="5" name="langgraph-role-1">
            <a:extLst>
              <a:ext uri="{FF2B5EF4-FFF2-40B4-BE49-F238E27FC236}">
                <a16:creationId xmlns:a16="http://schemas.microsoft.com/office/drawing/2014/main" id="{FE9482FF-9ABF-4D09-9C8E-C2E61E4EAFA7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295275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目标解析</a:t>
            </a:r>
          </a:p>
          <a:p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GoalInterpreter</a:t>
            </a:r>
          </a:p>
        </p:txBody>
      </p:sp>
      <p:sp>
        <p:nvSpPr>
          <p:cNvPr id="6" name="langgraph-role-2">
            <a:extLst>
              <a:ext uri="{FF2B5EF4-FFF2-40B4-BE49-F238E27FC236}">
                <a16:creationId xmlns:a16="http://schemas.microsoft.com/office/drawing/2014/main" id="{0FDCC439-019B-4BA7-A24E-4FF757ED15BE}"/>
              </a:ext>
            </a:extLst>
          </p:cNvPr>
          <p:cNvSpPr>
            <a:spLocks noGrp="1"/>
          </p:cNvSpPr>
          <p:nvPr/>
        </p:nvSpPr>
        <p:spPr>
          <a:xfrm>
            <a:off x="8382000" y="1581150"/>
            <a:ext cx="31242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概念与检索</a:t>
            </a:r>
          </a:p>
          <a:p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Concept + RAG</a:t>
            </a:r>
          </a:p>
        </p:txBody>
      </p:sp>
      <p:sp>
        <p:nvSpPr>
          <p:cNvPr id="7" name="langgraph-role-3">
            <a:extLst>
              <a:ext uri="{FF2B5EF4-FFF2-40B4-BE49-F238E27FC236}">
                <a16:creationId xmlns:a16="http://schemas.microsoft.com/office/drawing/2014/main" id="{2A707BD2-0E9B-415B-BEA6-1CA08F9AA2A3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295275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内容与诊断</a:t>
            </a:r>
          </a:p>
          <a:p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Content + Diagnostic</a:t>
            </a:r>
          </a:p>
        </p:txBody>
      </p:sp>
      <p:sp>
        <p:nvSpPr>
          <p:cNvPr id="8" name="langgraph-role-4">
            <a:extLst>
              <a:ext uri="{FF2B5EF4-FFF2-40B4-BE49-F238E27FC236}">
                <a16:creationId xmlns:a16="http://schemas.microsoft.com/office/drawing/2014/main" id="{2304CCF1-C248-4067-9805-386A44632AAC}"/>
              </a:ext>
            </a:extLst>
          </p:cNvPr>
          <p:cNvSpPr>
            <a:spLocks noGrp="1"/>
          </p:cNvSpPr>
          <p:nvPr/>
        </p:nvSpPr>
        <p:spPr>
          <a:xfrm>
            <a:off x="8382000" y="3162300"/>
            <a:ext cx="31242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规划与校验</a:t>
            </a:r>
          </a:p>
          <a:p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Planner + Validator</a:t>
            </a:r>
          </a:p>
        </p:txBody>
      </p:sp>
      <p:sp>
        <p:nvSpPr>
          <p:cNvPr id="9" name="langgraph-role-5">
            <a:extLst>
              <a:ext uri="{FF2B5EF4-FFF2-40B4-BE49-F238E27FC236}">
                <a16:creationId xmlns:a16="http://schemas.microsoft.com/office/drawing/2014/main" id="{AE52DD32-157F-4142-9D9C-CC0A1D4F7497}"/>
              </a:ext>
            </a:extLst>
          </p:cNvPr>
          <p:cNvSpPr>
            <a:spLocks noGrp="1"/>
          </p:cNvSpPr>
          <p:nvPr/>
        </p:nvSpPr>
        <p:spPr>
          <a:xfrm>
            <a:off x="4514850" y="5048250"/>
            <a:ext cx="31623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学习反馈</a:t>
            </a:r>
          </a:p>
          <a:p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BKT + Replan</a:t>
            </a:r>
          </a:p>
        </p:txBody>
      </p:sp>
      <p:sp>
        <p:nvSpPr>
          <p:cNvPr id="16" name="langgraph-node-types">
            <a:extLst>
              <a:ext uri="{FF2B5EF4-FFF2-40B4-BE49-F238E27FC236}">
                <a16:creationId xmlns:a16="http://schemas.microsoft.com/office/drawing/2014/main" id="{AB0A5A6B-B95B-4B68-8254-77489793B5D2}"/>
              </a:ext>
            </a:extLst>
          </p:cNvPr>
          <p:cNvSpPr>
            <a:spLocks noGrp="1"/>
          </p:cNvSpPr>
          <p:nvPr/>
        </p:nvSpPr>
        <p:spPr>
          <a:xfrm>
            <a:off x="704850" y="4438650"/>
            <a:ext cx="342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LLM 节点：理解、生成、解释</a:t>
            </a:r>
          </a:p>
          <a:p>
            <a:pPr algn="l">
              <a:lnSpc>
                <a:spcPct val="108000"/>
              </a:lnSpc>
              <a:buNone/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工具节点：检索、图搜索、校验、BKT</a:t>
            </a:r>
          </a:p>
        </p:txBody>
      </p:sp>
      <p:sp>
        <p:nvSpPr>
          <p:cNvPr id="17" name="langgraph-conditions">
            <a:extLst>
              <a:ext uri="{FF2B5EF4-FFF2-40B4-BE49-F238E27FC236}">
                <a16:creationId xmlns:a16="http://schemas.microsoft.com/office/drawing/2014/main" id="{D560B21C-2894-48A3-AA31-8FD26F6AC987}"/>
              </a:ext>
            </a:extLst>
          </p:cNvPr>
          <p:cNvSpPr>
            <a:spLocks noGrp="1"/>
          </p:cNvSpPr>
          <p:nvPr/>
        </p:nvSpPr>
        <p:spPr>
          <a:xfrm>
            <a:off x="8382000" y="4438650"/>
            <a:ext cx="3124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08000"/>
              </a:lnSpc>
              <a:buNone/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条件边：格式修复、规划重试、</a:t>
            </a:r>
          </a:p>
          <a:p>
            <a:pPr algn="r">
              <a:lnSpc>
                <a:spcPct val="108000"/>
              </a:lnSpc>
              <a:buNone/>
              <a:def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不可行分支与重规划</a:t>
            </a:r>
          </a:p>
        </p:txBody>
      </p:sp>
      <p:sp>
        <p:nvSpPr>
          <p:cNvPr id="18" name="langgraph-clarification">
            <a:extLst>
              <a:ext uri="{FF2B5EF4-FFF2-40B4-BE49-F238E27FC236}">
                <a16:creationId xmlns:a16="http://schemas.microsoft.com/office/drawing/2014/main" id="{3B95416F-D24F-4FB7-8092-AD4FC0FEAB2C}"/>
              </a:ext>
            </a:extLst>
          </p:cNvPr>
          <p:cNvSpPr>
            <a:spLocks noGrp="1"/>
          </p:cNvSpPr>
          <p:nvPr/>
        </p:nvSpPr>
        <p:spPr>
          <a:xfrm>
            <a:off x="3162300" y="6267450"/>
            <a:ext cx="586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统一编排图  |  共享结构化状态  |  不进行自由文本协商</a:t>
            </a:r>
          </a:p>
        </p:txBody>
      </p:sp>
      <p:sp>
        <p:nvSpPr>
          <p:cNvPr id="19" name="page-number">
            <a:extLst>
              <a:ext uri="{FF2B5EF4-FFF2-40B4-BE49-F238E27FC236}">
                <a16:creationId xmlns:a16="http://schemas.microsoft.com/office/drawing/2014/main" id="{C193981E-1046-4FDC-8252-6991E9E970BE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380184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A01517D-2D9F-4571-A866-8FA1D7CC7C26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4267200" y="3705225"/>
            <a:ext cx="342900" cy="0"/>
          </a:xfrm>
          <a:prstGeom prst="straightConnector1">
            <a:avLst/>
          </a:prstGeom>
          <a:ln w="19050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D7EB807-CE59-4520-88F2-D8639FAFC2F0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2305050" y="3705225"/>
            <a:ext cx="342900" cy="0"/>
          </a:xfrm>
          <a:prstGeom prst="straightConnector1">
            <a:avLst/>
          </a:prstGeom>
          <a:ln w="19050">
            <a:solidFill>
              <a:srgbClr val="0F766E"/>
            </a:solidFill>
            <a:prstDash val="solid"/>
            <a:headEnd type="arrow" w="med" len="med"/>
          </a:ln>
        </p:spPr>
      </p:cxnSp>
      <p:sp>
        <p:nvSpPr>
          <p:cNvPr id="24" name="title-accent">
            <a:extLst>
              <a:ext uri="{FF2B5EF4-FFF2-40B4-BE49-F238E27FC236}">
                <a16:creationId xmlns:a16="http://schemas.microsoft.com/office/drawing/2014/main" id="{3E2FA27C-82FE-47F7-9ED8-67B6BAF0070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" cy="381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8D36D7B-0DDE-4EF2-98EE-B7BC37A9DEE3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BKT 将学习证据转为计划调整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C9F40E80-6247-495B-8161-93421D84E240}"/>
              </a:ext>
            </a:extLst>
          </p:cNvPr>
          <p:cNvSpPr>
            <a:spLocks noGrp="1"/>
          </p:cNvSpPr>
          <p:nvPr/>
        </p:nvSpPr>
        <p:spPr>
          <a:xfrm>
            <a:off x="704850" y="102870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计划根据掌握度变化，不按日历机械推进</a:t>
            </a:r>
          </a:p>
        </p:txBody>
      </p:sp>
      <p:sp>
        <p:nvSpPr>
          <p:cNvPr id="4" name="bkt-scale-heading">
            <a:extLst>
              <a:ext uri="{FF2B5EF4-FFF2-40B4-BE49-F238E27FC236}">
                <a16:creationId xmlns:a16="http://schemas.microsoft.com/office/drawing/2014/main" id="{9A030179-1B81-479C-9583-E6AAF18BD90B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掌握度区间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514F67-997F-4A28-AF1A-F1BEF5CD195A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4953000" cy="3810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2A35DA6-2B41-4B30-81D5-DE65EA754F91}"/>
              </a:ext>
            </a:extLst>
          </p:cNvPr>
          <p:cNvSpPr>
            <a:spLocks noGrp="1"/>
          </p:cNvSpPr>
          <p:nvPr/>
        </p:nvSpPr>
        <p:spPr>
          <a:xfrm>
            <a:off x="1352550" y="2400300"/>
            <a:ext cx="152400" cy="152400"/>
          </a:xfrm>
          <a:prstGeom prst="ellipse">
            <a:avLst/>
          </a:prstGeom>
          <a:solidFill>
            <a:srgbClr val="B45309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bkt-mark-0.45">
            <a:extLst>
              <a:ext uri="{FF2B5EF4-FFF2-40B4-BE49-F238E27FC236}">
                <a16:creationId xmlns:a16="http://schemas.microsoft.com/office/drawing/2014/main" id="{7C101D7A-B409-4579-B3F5-4F2EAEF5BD95}"/>
              </a:ext>
            </a:extLst>
          </p:cNvPr>
          <p:cNvSpPr>
            <a:spLocks noGrp="1"/>
          </p:cNvSpPr>
          <p:nvPr/>
        </p:nvSpPr>
        <p:spPr>
          <a:xfrm>
            <a:off x="1085850" y="2667000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0.45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BB54F6B-79D0-4065-826F-C8FA34FD9F91}"/>
              </a:ext>
            </a:extLst>
          </p:cNvPr>
          <p:cNvSpPr>
            <a:spLocks noGrp="1"/>
          </p:cNvSpPr>
          <p:nvPr/>
        </p:nvSpPr>
        <p:spPr>
          <a:xfrm>
            <a:off x="3733800" y="2400300"/>
            <a:ext cx="152400" cy="152400"/>
          </a:xfrm>
          <a:prstGeom prst="ellipse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9" name="bkt-mark-0.75">
            <a:extLst>
              <a:ext uri="{FF2B5EF4-FFF2-40B4-BE49-F238E27FC236}">
                <a16:creationId xmlns:a16="http://schemas.microsoft.com/office/drawing/2014/main" id="{83962A75-AFA8-4913-8B54-A4FF534E178A}"/>
              </a:ext>
            </a:extLst>
          </p:cNvPr>
          <p:cNvSpPr>
            <a:spLocks noGrp="1"/>
          </p:cNvSpPr>
          <p:nvPr/>
        </p:nvSpPr>
        <p:spPr>
          <a:xfrm>
            <a:off x="3467100" y="2667000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0.75</a:t>
            </a:r>
          </a:p>
        </p:txBody>
      </p:sp>
      <p:sp>
        <p:nvSpPr>
          <p:cNvPr id="10" name="bkt-weak-label">
            <a:extLst>
              <a:ext uri="{FF2B5EF4-FFF2-40B4-BE49-F238E27FC236}">
                <a16:creationId xmlns:a16="http://schemas.microsoft.com/office/drawing/2014/main" id="{57F7103C-DF8E-4F53-B29D-69A8ED5FB314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薄弱</a:t>
            </a:r>
          </a:p>
        </p:txBody>
      </p:sp>
      <p:sp>
        <p:nvSpPr>
          <p:cNvPr id="11" name="bkt-practicing-label">
            <a:extLst>
              <a:ext uri="{FF2B5EF4-FFF2-40B4-BE49-F238E27FC236}">
                <a16:creationId xmlns:a16="http://schemas.microsoft.com/office/drawing/2014/main" id="{4E8D110A-ECA5-49AD-8276-26E68DCC8289}"/>
              </a:ext>
            </a:extLst>
          </p:cNvPr>
          <p:cNvSpPr>
            <a:spLocks noGrp="1"/>
          </p:cNvSpPr>
          <p:nvPr/>
        </p:nvSpPr>
        <p:spPr>
          <a:xfrm>
            <a:off x="2628900" y="20955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继续练习</a:t>
            </a:r>
          </a:p>
        </p:txBody>
      </p:sp>
      <p:sp>
        <p:nvSpPr>
          <p:cNvPr id="12" name="bkt-unlock-label">
            <a:extLst>
              <a:ext uri="{FF2B5EF4-FFF2-40B4-BE49-F238E27FC236}">
                <a16:creationId xmlns:a16="http://schemas.microsoft.com/office/drawing/2014/main" id="{31ADEE96-0D0F-403A-A404-17189194FB94}"/>
              </a:ext>
            </a:extLst>
          </p:cNvPr>
          <p:cNvSpPr>
            <a:spLocks noGrp="1"/>
          </p:cNvSpPr>
          <p:nvPr/>
        </p:nvSpPr>
        <p:spPr>
          <a:xfrm>
            <a:off x="4457700" y="20955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08000"/>
              </a:lnSpc>
              <a:buNone/>
              <a:def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解锁</a:t>
            </a:r>
          </a:p>
        </p:txBody>
      </p:sp>
      <p:sp>
        <p:nvSpPr>
          <p:cNvPr id="13" name="bkt-evidence">
            <a:extLst>
              <a:ext uri="{FF2B5EF4-FFF2-40B4-BE49-F238E27FC236}">
                <a16:creationId xmlns:a16="http://schemas.microsoft.com/office/drawing/2014/main" id="{10B269A9-F334-4A97-976A-6F38E17E7ED1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161925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打卡 / 测验</a:t>
            </a:r>
          </a:p>
          <a:p>
            <a:pPr algn="ctr">
              <a:lnSpc>
                <a:spcPct val="102000"/>
              </a:lnSpc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学习内容</a:t>
            </a:r>
          </a:p>
        </p:txBody>
      </p:sp>
      <p:sp>
        <p:nvSpPr>
          <p:cNvPr id="14" name="bkt-update">
            <a:extLst>
              <a:ext uri="{FF2B5EF4-FFF2-40B4-BE49-F238E27FC236}">
                <a16:creationId xmlns:a16="http://schemas.microsoft.com/office/drawing/2014/main" id="{F73B2D81-7695-43F4-B9AD-7EB3BCE35E3E}"/>
              </a:ext>
            </a:extLst>
          </p:cNvPr>
          <p:cNvSpPr>
            <a:spLocks noGrp="1"/>
          </p:cNvSpPr>
          <p:nvPr/>
        </p:nvSpPr>
        <p:spPr>
          <a:xfrm>
            <a:off x="2647950" y="3352800"/>
            <a:ext cx="1619250" cy="704850"/>
          </a:xfrm>
          <a:prstGeom prst="roundRect">
            <a:avLst>
              <a:gd name="adj" fmla="val 16216"/>
            </a:avLst>
          </a:prstGeom>
          <a:solidFill>
            <a:srgbClr val="F0FDFA"/>
          </a:solidFill>
          <a:ln w="14288">
            <a:solidFill>
              <a:srgbClr val="0F766E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BKT 更新</a:t>
            </a:r>
          </a:p>
          <a:p>
            <a:pPr algn="ctr">
              <a:lnSpc>
                <a:spcPct val="102000"/>
              </a:lnSpc>
              <a:buNone/>
              <a:def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掌握度快照</a:t>
            </a:r>
          </a:p>
        </p:txBody>
      </p:sp>
      <p:sp>
        <p:nvSpPr>
          <p:cNvPr id="15" name="bkt-decision">
            <a:extLst>
              <a:ext uri="{FF2B5EF4-FFF2-40B4-BE49-F238E27FC236}">
                <a16:creationId xmlns:a16="http://schemas.microsoft.com/office/drawing/2014/main" id="{EE1087E5-85C1-4BA3-A616-DBD819F2065E}"/>
              </a:ext>
            </a:extLst>
          </p:cNvPr>
          <p:cNvSpPr>
            <a:spLocks noGrp="1"/>
          </p:cNvSpPr>
          <p:nvPr/>
        </p:nvSpPr>
        <p:spPr>
          <a:xfrm>
            <a:off x="4610100" y="3352800"/>
            <a:ext cx="161925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ReplanDecider</a:t>
            </a:r>
          </a:p>
          <a:p>
            <a:pPr algn="ctr">
              <a:lnSpc>
                <a:spcPct val="102000"/>
              </a:lnSpc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保持或重规划</a:t>
            </a:r>
          </a:p>
        </p:txBody>
      </p:sp>
      <p:sp>
        <p:nvSpPr>
          <p:cNvPr id="18" name="replan-trigger-heading">
            <a:extLst>
              <a:ext uri="{FF2B5EF4-FFF2-40B4-BE49-F238E27FC236}">
                <a16:creationId xmlns:a16="http://schemas.microsoft.com/office/drawing/2014/main" id="{3F7DE9EF-78AC-43DE-964F-3BAF0013F755}"/>
              </a:ext>
            </a:extLst>
          </p:cNvPr>
          <p:cNvSpPr>
            <a:spLocks noGrp="1"/>
          </p:cNvSpPr>
          <p:nvPr/>
        </p:nvSpPr>
        <p:spPr>
          <a:xfrm>
            <a:off x="6991350" y="1562100"/>
            <a:ext cx="4514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重规划触发条件</a:t>
            </a:r>
          </a:p>
        </p:txBody>
      </p:sp>
      <p:sp>
        <p:nvSpPr>
          <p:cNvPr id="19" name="replan-trigger-list">
            <a:extLst>
              <a:ext uri="{FF2B5EF4-FFF2-40B4-BE49-F238E27FC236}">
                <a16:creationId xmlns:a16="http://schemas.microsoft.com/office/drawing/2014/main" id="{ED29E9D4-B58E-4C70-A961-FE7461345E34}"/>
              </a:ext>
            </a:extLst>
          </p:cNvPr>
          <p:cNvSpPr>
            <a:spLocks noGrp="1"/>
          </p:cNvSpPr>
          <p:nvPr/>
        </p:nvSpPr>
        <p:spPr>
          <a:xfrm>
            <a:off x="6991350" y="1962150"/>
            <a:ext cx="45148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掌握度低于 0.45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同一任务连续两次未完成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每周时间或截止日期变化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新证据与原有高掌握度冲突</a:t>
            </a:r>
          </a:p>
          <a:p>
            <a:pPr marL="25" indent="-12" algn="l">
              <a:lnSpc>
                <a:spcPct val="108000"/>
              </a:lnSpc>
              <a:spcAft>
                <a:spcPts val="8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目标范围发生变化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CC2C73C-B684-4EDA-9490-73420F1AD088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1" name="replan-under">
            <a:extLst>
              <a:ext uri="{FF2B5EF4-FFF2-40B4-BE49-F238E27FC236}">
                <a16:creationId xmlns:a16="http://schemas.microsoft.com/office/drawing/2014/main" id="{79D83CE6-34A8-4FB0-B265-6510F13AFE40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476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未达标：插入补强、降低任务粒度、顺延后续节点</a:t>
            </a:r>
          </a:p>
        </p:txBody>
      </p:sp>
      <p:sp>
        <p:nvSpPr>
          <p:cNvPr id="22" name="replan-transparency">
            <a:extLst>
              <a:ext uri="{FF2B5EF4-FFF2-40B4-BE49-F238E27FC236}">
                <a16:creationId xmlns:a16="http://schemas.microsoft.com/office/drawing/2014/main" id="{0B1B73DE-1F82-4B50-B4EC-E2D44A308200}"/>
              </a:ext>
            </a:extLst>
          </p:cNvPr>
          <p:cNvSpPr>
            <a:spLocks noGrp="1"/>
          </p:cNvSpPr>
          <p:nvPr/>
        </p:nvSpPr>
        <p:spPr>
          <a:xfrm>
            <a:off x="6057900" y="4953000"/>
            <a:ext cx="5448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08000"/>
              </a:lnSpc>
              <a:buNone/>
              <a:def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变化透明：展示原路径、新路径、差异、原因和影响</a:t>
            </a:r>
          </a:p>
        </p:txBody>
      </p:sp>
      <p:sp>
        <p:nvSpPr>
          <p:cNvPr id="23" name="page-number">
            <a:extLst>
              <a:ext uri="{FF2B5EF4-FFF2-40B4-BE49-F238E27FC236}">
                <a16:creationId xmlns:a16="http://schemas.microsoft.com/office/drawing/2014/main" id="{B4BAEA5D-2331-4B10-B2E5-4AB63C3BF586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807120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-accent">
            <a:extLst>
              <a:ext uri="{FF2B5EF4-FFF2-40B4-BE49-F238E27FC236}">
                <a16:creationId xmlns:a16="http://schemas.microsoft.com/office/drawing/2014/main" id="{0EC41B15-F701-4B8F-8CDD-DBC05E1E3CBE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" cy="381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0FA21C4-121B-4CC1-B123-FA5E97895768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规则校验决定可行性，轨迹证明现场执行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CEEBDCD0-0C1F-4EF4-B7BA-8CF1AC79522B}"/>
              </a:ext>
            </a:extLst>
          </p:cNvPr>
          <p:cNvSpPr>
            <a:spLocks noGrp="1"/>
          </p:cNvSpPr>
          <p:nvPr/>
        </p:nvSpPr>
        <p:spPr>
          <a:xfrm>
            <a:off x="704850" y="102870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路径不是“看起来合理”，而是能够逐条检查和复现</a:t>
            </a:r>
          </a:p>
        </p:txBody>
      </p:sp>
      <p:sp>
        <p:nvSpPr>
          <p:cNvPr id="4" name="validation-heading">
            <a:extLst>
              <a:ext uri="{FF2B5EF4-FFF2-40B4-BE49-F238E27FC236}">
                <a16:creationId xmlns:a16="http://schemas.microsoft.com/office/drawing/2014/main" id="{D2CF9FB4-434C-4C9B-8826-247298E1F951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规则校验</a:t>
            </a:r>
          </a:p>
        </p:txBody>
      </p:sp>
      <p:sp>
        <p:nvSpPr>
          <p:cNvPr id="5" name="validation-rules">
            <a:extLst>
              <a:ext uri="{FF2B5EF4-FFF2-40B4-BE49-F238E27FC236}">
                <a16:creationId xmlns:a16="http://schemas.microsoft.com/office/drawing/2014/main" id="{F2218EE2-877E-4292-9A12-E55E95962535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4953000" cy="2762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VR-001 硬先修已完成或排在前序</a:t>
            </a:r>
          </a:p>
          <a:p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VR-002 总学时不超过时间预算</a:t>
            </a:r>
          </a:p>
          <a:p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VR-003 每日与每周任务不超负荷</a:t>
            </a:r>
          </a:p>
          <a:p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VR-004 路径不存在重复节点</a:t>
            </a:r>
          </a:p>
          <a:p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VR-005 每个正式节点有真实引用</a:t>
            </a:r>
          </a:p>
          <a:p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VR-006 每个验收题映射有效知识节点</a:t>
            </a:r>
          </a:p>
          <a:p>
            <a:pPr marL="25" indent="-12" algn="l">
              <a:lnSpc>
                <a:spcPct val="108000"/>
              </a:lnSpc>
              <a:spcAft>
                <a:spcPts val="5"/>
              </a:spcAft>
              <a:buNone/>
              <a:def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VR-008 重规划不破坏未完成硬先修</a:t>
            </a:r>
          </a:p>
        </p:txBody>
      </p:sp>
      <p:sp>
        <p:nvSpPr>
          <p:cNvPr id="6" name="validation-failure">
            <a:extLst>
              <a:ext uri="{FF2B5EF4-FFF2-40B4-BE49-F238E27FC236}">
                <a16:creationId xmlns:a16="http://schemas.microsoft.com/office/drawing/2014/main" id="{B8FE6C05-6EAB-4B50-BC99-85066F5A26ED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4857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失败返回规则编号、受影响节点和修复建议</a:t>
            </a:r>
          </a:p>
          <a:p>
            <a:pPr algn="l">
              <a:lnSpc>
                <a:spcPct val="108000"/>
              </a:lnSpc>
              <a:buNone/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自动规划最多重试 3 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93E033-047E-4F0C-AAB2-DD2D7885804E}"/>
              </a:ext>
            </a:extLst>
          </p:cNvPr>
          <p:cNvSpPr>
            <a:spLocks noGrp="1"/>
          </p:cNvSpPr>
          <p:nvPr/>
        </p:nvSpPr>
        <p:spPr>
          <a:xfrm>
            <a:off x="6038850" y="1638300"/>
            <a:ext cx="9525" cy="40957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8" name="demo-heading">
            <a:extLst>
              <a:ext uri="{FF2B5EF4-FFF2-40B4-BE49-F238E27FC236}">
                <a16:creationId xmlns:a16="http://schemas.microsoft.com/office/drawing/2014/main" id="{1DB59AD8-E6DE-4048-B7F6-4DBD89AA678A}"/>
              </a:ext>
            </a:extLst>
          </p:cNvPr>
          <p:cNvSpPr>
            <a:spLocks noGrp="1"/>
          </p:cNvSpPr>
          <p:nvPr/>
        </p:nvSpPr>
        <p:spPr>
          <a:xfrm>
            <a:off x="6419850" y="16002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现场验收 AT-015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19F7AAA4-747A-4C91-B98E-E9A89643FE3C}"/>
              </a:ext>
            </a:extLst>
          </p:cNvPr>
          <p:cNvSpPr>
            <a:spLocks noGrp="1"/>
          </p:cNvSpPr>
          <p:nvPr/>
        </p:nvSpPr>
        <p:spPr>
          <a:xfrm>
            <a:off x="6477000" y="2038350"/>
            <a:ext cx="285750" cy="2857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F766E"/>
            </a:solidFill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demo-step-1">
            <a:extLst>
              <a:ext uri="{FF2B5EF4-FFF2-40B4-BE49-F238E27FC236}">
                <a16:creationId xmlns:a16="http://schemas.microsoft.com/office/drawing/2014/main" id="{E3E9E8CE-4E6F-48D9-82DA-B041E6E1459F}"/>
              </a:ext>
            </a:extLst>
          </p:cNvPr>
          <p:cNvSpPr>
            <a:spLocks noGrp="1"/>
          </p:cNvSpPr>
          <p:nvPr/>
        </p:nvSpPr>
        <p:spPr>
          <a:xfrm>
            <a:off x="6934200" y="205740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现场输入目标与时间约束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5800021-F9E0-47A4-9EB8-F6E997E92075}"/>
              </a:ext>
            </a:extLst>
          </p:cNvPr>
          <p:cNvSpPr>
            <a:spLocks noGrp="1"/>
          </p:cNvSpPr>
          <p:nvPr/>
        </p:nvSpPr>
        <p:spPr>
          <a:xfrm>
            <a:off x="6477000" y="2590800"/>
            <a:ext cx="285750" cy="2857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F766E"/>
            </a:solidFill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demo-step-2">
            <a:extLst>
              <a:ext uri="{FF2B5EF4-FFF2-40B4-BE49-F238E27FC236}">
                <a16:creationId xmlns:a16="http://schemas.microsoft.com/office/drawing/2014/main" id="{E880CAB4-08AA-4CAC-963A-37D365EE12B2}"/>
              </a:ext>
            </a:extLst>
          </p:cNvPr>
          <p:cNvSpPr>
            <a:spLocks noGrp="1"/>
          </p:cNvSpPr>
          <p:nvPr/>
        </p:nvSpPr>
        <p:spPr>
          <a:xfrm>
            <a:off x="6934200" y="260985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完成诊断并接受首次路径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5B02C09-EA8D-4EB2-9988-0DF3A54A19FE}"/>
              </a:ext>
            </a:extLst>
          </p:cNvPr>
          <p:cNvSpPr>
            <a:spLocks noGrp="1"/>
          </p:cNvSpPr>
          <p:nvPr/>
        </p:nvSpPr>
        <p:spPr>
          <a:xfrm>
            <a:off x="6477000" y="3143250"/>
            <a:ext cx="285750" cy="2857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F766E"/>
            </a:solidFill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demo-step-3">
            <a:extLst>
              <a:ext uri="{FF2B5EF4-FFF2-40B4-BE49-F238E27FC236}">
                <a16:creationId xmlns:a16="http://schemas.microsoft.com/office/drawing/2014/main" id="{129BA213-5A76-4E0D-B7AB-4A260FE511E7}"/>
              </a:ext>
            </a:extLst>
          </p:cNvPr>
          <p:cNvSpPr>
            <a:spLocks noGrp="1"/>
          </p:cNvSpPr>
          <p:nvPr/>
        </p:nvSpPr>
        <p:spPr>
          <a:xfrm>
            <a:off x="6934200" y="316230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提交学习打卡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62CF17F-CAF8-47B9-9B09-D51602684DB4}"/>
              </a:ext>
            </a:extLst>
          </p:cNvPr>
          <p:cNvSpPr>
            <a:spLocks noGrp="1"/>
          </p:cNvSpPr>
          <p:nvPr/>
        </p:nvSpPr>
        <p:spPr>
          <a:xfrm>
            <a:off x="6477000" y="3695700"/>
            <a:ext cx="285750" cy="2857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F766E"/>
            </a:solidFill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6" name="demo-step-4">
            <a:extLst>
              <a:ext uri="{FF2B5EF4-FFF2-40B4-BE49-F238E27FC236}">
                <a16:creationId xmlns:a16="http://schemas.microsoft.com/office/drawing/2014/main" id="{B72A4563-515E-41CD-B4DB-F8888322021E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提交未达标测验答案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03663A9C-61D3-4F20-B61E-635FD034593D}"/>
              </a:ext>
            </a:extLst>
          </p:cNvPr>
          <p:cNvSpPr>
            <a:spLocks noGrp="1"/>
          </p:cNvSpPr>
          <p:nvPr/>
        </p:nvSpPr>
        <p:spPr>
          <a:xfrm>
            <a:off x="6477000" y="4248150"/>
            <a:ext cx="285750" cy="2857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F766E"/>
            </a:solidFill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8" name="demo-step-5">
            <a:extLst>
              <a:ext uri="{FF2B5EF4-FFF2-40B4-BE49-F238E27FC236}">
                <a16:creationId xmlns:a16="http://schemas.microsoft.com/office/drawing/2014/main" id="{90A6DFF7-985F-499D-B439-B2722FE6FC43}"/>
              </a:ext>
            </a:extLst>
          </p:cNvPr>
          <p:cNvSpPr>
            <a:spLocks noGrp="1"/>
          </p:cNvSpPr>
          <p:nvPr/>
        </p:nvSpPr>
        <p:spPr>
          <a:xfrm>
            <a:off x="6934200" y="426720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观察 BKT 更新与补强任务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1906E54C-64EB-4AFA-B5D6-9697ACE32A7B}"/>
              </a:ext>
            </a:extLst>
          </p:cNvPr>
          <p:cNvSpPr>
            <a:spLocks noGrp="1"/>
          </p:cNvSpPr>
          <p:nvPr/>
        </p:nvSpPr>
        <p:spPr>
          <a:xfrm>
            <a:off x="6477000" y="4800600"/>
            <a:ext cx="285750" cy="285750"/>
          </a:xfrm>
          <a:prstGeom prst="ellipse">
            <a:avLst/>
          </a:prstGeom>
          <a:solidFill>
            <a:srgbClr val="0F766E"/>
          </a:solidFill>
          <a:ln w="14288">
            <a:solidFill>
              <a:srgbClr val="0F766E"/>
            </a:solidFill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0" name="demo-step-6">
            <a:extLst>
              <a:ext uri="{FF2B5EF4-FFF2-40B4-BE49-F238E27FC236}">
                <a16:creationId xmlns:a16="http://schemas.microsoft.com/office/drawing/2014/main" id="{613AA48D-15FE-4EB4-80D8-F0AF5CEA9415}"/>
              </a:ext>
            </a:extLst>
          </p:cNvPr>
          <p:cNvSpPr>
            <a:spLocks noGrp="1"/>
          </p:cNvSpPr>
          <p:nvPr/>
        </p:nvSpPr>
        <p:spPr>
          <a:xfrm>
            <a:off x="6934200" y="481965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接受重规划并查看路径差异</a:t>
            </a:r>
          </a:p>
        </p:txBody>
      </p:sp>
      <p:sp>
        <p:nvSpPr>
          <p:cNvPr id="21" name="demo-proof">
            <a:extLst>
              <a:ext uri="{FF2B5EF4-FFF2-40B4-BE49-F238E27FC236}">
                <a16:creationId xmlns:a16="http://schemas.microsoft.com/office/drawing/2014/main" id="{D1C01856-FAE5-4FC8-99AC-1DA01B2A2AB9}"/>
              </a:ext>
            </a:extLst>
          </p:cNvPr>
          <p:cNvSpPr>
            <a:spLocks noGrp="1"/>
          </p:cNvSpPr>
          <p:nvPr/>
        </p:nvSpPr>
        <p:spPr>
          <a:xfrm>
            <a:off x="6419850" y="5467350"/>
            <a:ext cx="5086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新建 run_id、现场时间戳和 Agent 轨迹</a:t>
            </a:r>
          </a:p>
          <a:p>
            <a:pPr algn="l">
              <a:lnSpc>
                <a:spcPct val="108000"/>
              </a:lnSpc>
              <a:buNone/>
              <a:def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禁止预生成路径、缓存规划和人工改库</a:t>
            </a:r>
          </a:p>
        </p:txBody>
      </p:sp>
      <p:sp>
        <p:nvSpPr>
          <p:cNvPr id="22" name="page-number">
            <a:extLst>
              <a:ext uri="{FF2B5EF4-FFF2-40B4-BE49-F238E27FC236}">
                <a16:creationId xmlns:a16="http://schemas.microsoft.com/office/drawing/2014/main" id="{6598540F-3E31-4F75-98C7-710F16556056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665347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-accent">
            <a:extLst>
              <a:ext uri="{FF2B5EF4-FFF2-40B4-BE49-F238E27FC236}">
                <a16:creationId xmlns:a16="http://schemas.microsoft.com/office/drawing/2014/main" id="{4A487DFC-CBA1-49BC-97EF-2AD499D0A4B3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" cy="381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DA3C686-4869-4B05-8B3A-51587C8E0005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项目按可验证里程碑推进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A101C35F-2FF9-4F10-8B41-8A302920C14E}"/>
              </a:ext>
            </a:extLst>
          </p:cNvPr>
          <p:cNvSpPr>
            <a:spLocks noGrp="1"/>
          </p:cNvSpPr>
          <p:nvPr/>
        </p:nvSpPr>
        <p:spPr>
          <a:xfrm>
            <a:off x="704850" y="102870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每个阶段都必须交付可检查结果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8DDFB52-50E2-4810-87A1-BCF237D8C289}"/>
              </a:ext>
            </a:extLst>
          </p:cNvPr>
          <p:cNvGraphicFramePr/>
          <p:nvPr/>
        </p:nvGraphicFramePr>
        <p:xfrm>
          <a:off x="685800" y="1581150"/>
          <a:ext cx="10820400" cy="417195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1494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可验收结果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494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 需求基线</a:t>
                      </a:r>
                    </a:p>
                  </a:txBody>
                  <a:tcPr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设计方案、SRS、数据与 API 边界冻结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494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 数据与知识底座</a:t>
                      </a:r>
                    </a:p>
                  </a:txBody>
                  <a:tcPr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课程资料、知识图谱、DAG 校验和 BKT 基础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494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 数据与 RAG</a:t>
                      </a:r>
                    </a:p>
                  </a:txBody>
                  <a:tcPr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训练数据集、混合检索和真实引用链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494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 模型训练与评估</a:t>
                      </a:r>
                    </a:p>
                  </a:txBody>
                  <a:tcPr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微调模型、基线与微调对比、受控降级方案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494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 Agent 与规划闭环</a:t>
                      </a:r>
                    </a:p>
                  </a:txBody>
                  <a:tcPr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后端可调用六阶段闭环，失败返回替代方案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494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 API 与前端联调</a:t>
                      </a:r>
                    </a:p>
                  </a:txBody>
                  <a:tcPr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学生可以从界面完成完整闭环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1494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1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 验收与交付</a:t>
                      </a:r>
                    </a:p>
                  </a:txBody>
                  <a:tcPr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现场演练、测试报告、演示和答辩材料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plan-principle">
            <a:extLst>
              <a:ext uri="{FF2B5EF4-FFF2-40B4-BE49-F238E27FC236}">
                <a16:creationId xmlns:a16="http://schemas.microsoft.com/office/drawing/2014/main" id="{74497BA9-CB49-439E-82F9-44B12FF8892C}"/>
              </a:ext>
            </a:extLst>
          </p:cNvPr>
          <p:cNvSpPr>
            <a:spLocks noGrp="1"/>
          </p:cNvSpPr>
          <p:nvPr/>
        </p:nvSpPr>
        <p:spPr>
          <a:xfrm>
            <a:off x="685800" y="5943600"/>
            <a:ext cx="1000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优先保证真实闭环，非核心体验可以在范围压缩时后置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D068A733-FB26-41DF-BF72-48E8C980DFC6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263440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-accent">
            <a:extLst>
              <a:ext uri="{FF2B5EF4-FFF2-40B4-BE49-F238E27FC236}">
                <a16:creationId xmlns:a16="http://schemas.microsoft.com/office/drawing/2014/main" id="{275FEB30-5B33-46B2-BEC9-730A40D0C09D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" cy="381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4D4C225-E899-4E3F-ACB8-3CF1FA1BBF3F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当前完成需求基线，进入实施准备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27FE5177-7B92-45E2-B493-39743C8720A5}"/>
              </a:ext>
            </a:extLst>
          </p:cNvPr>
          <p:cNvSpPr>
            <a:spLocks noGrp="1"/>
          </p:cNvSpPr>
          <p:nvPr/>
        </p:nvSpPr>
        <p:spPr>
          <a:xfrm>
            <a:off x="704850" y="102870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尚未开始编码，首批交付物用于建立最小可验证底座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8178E28-F593-44F4-A976-6B111A7E73B5}"/>
              </a:ext>
            </a:extLst>
          </p:cNvPr>
          <p:cNvGraphicFramePr/>
          <p:nvPr/>
        </p:nvGraphicFramePr>
        <p:xfrm>
          <a:off x="685800" y="1676400"/>
          <a:ext cx="10820400" cy="3619500"/>
        </p:xfrm>
        <a:graphic>
          <a:graphicData uri="http://schemas.openxmlformats.org/drawingml/2006/table">
            <a:tbl>
              <a:tblPr/>
              <a:tblGrid>
                <a:gridCol w="360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</a:t>
                      </a:r>
                    </a:p>
                  </a:txBody>
                  <a:tcPr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当前重点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近期交付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设计方案与 SRS</a:t>
                      </a:r>
                    </a:p>
                  </a:txBody>
                  <a:tcPr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技术环境验证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 Smoke Test 报告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功能与验收边界</a:t>
                      </a:r>
                    </a:p>
                  </a:txBody>
                  <a:tcPr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 Schema 设计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数据格式与样例数据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双人责任边界</a:t>
                      </a:r>
                    </a:p>
                  </a:txBody>
                  <a:tcPr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演示脚本设计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首轮闭环演示脚本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现场验收方案</a:t>
                      </a:r>
                    </a:p>
                  </a:txBody>
                  <a:tcPr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RAG 与图谱准备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知识图谱初始版本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current-status">
            <a:extLst>
              <a:ext uri="{FF2B5EF4-FFF2-40B4-BE49-F238E27FC236}">
                <a16:creationId xmlns:a16="http://schemas.microsoft.com/office/drawing/2014/main" id="{1189485A-A070-4E98-A925-92F879F0C0C3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当前准确状态：设计与需求已完成，代码、训练数据和可运行原型尚未完成</a:t>
            </a:r>
          </a:p>
        </p:txBody>
      </p:sp>
      <p:sp>
        <p:nvSpPr>
          <p:cNvPr id="6" name="page-number">
            <a:extLst>
              <a:ext uri="{FF2B5EF4-FFF2-40B4-BE49-F238E27FC236}">
                <a16:creationId xmlns:a16="http://schemas.microsoft.com/office/drawing/2014/main" id="{9CBF633A-A0EE-44C1-A405-6A1D3F018522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1029405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AC1A3701-0B5D-4443-A42D-05A82F21B55D}"/>
              </a:ext>
            </a:extLst>
          </p:cNvPr>
          <p:cNvCxnSpPr>
            <a:stCxn id="9" idx="2"/>
            <a:endCxn id="6" idx="2"/>
          </p:cNvCxnSpPr>
          <p:nvPr/>
        </p:nvCxnSpPr>
        <p:spPr>
          <a:xfrm flipH="1">
            <a:off x="5143500" y="2743200"/>
            <a:ext cx="5524500" cy="228600"/>
          </a:xfrm>
          <a:prstGeom prst="bentConnector4">
            <a:avLst/>
          </a:prstGeom>
          <a:ln w="19050">
            <a:solidFill>
              <a:srgbClr val="B45309"/>
            </a:solidFill>
            <a:prstDash val="dash"/>
            <a:headEnd type="arrow" w="med" len="med"/>
          </a:ln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D32F9DB-2A4B-41E7-8139-E51ED5A47255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9601200" y="2390775"/>
            <a:ext cx="228600" cy="0"/>
          </a:xfrm>
          <a:prstGeom prst="straightConnector1">
            <a:avLst/>
          </a:prstGeom>
          <a:ln w="19050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CDB0131-351E-43AC-B16B-4F2D6EBA6953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7772400" y="2390775"/>
            <a:ext cx="228600" cy="0"/>
          </a:xfrm>
          <a:prstGeom prst="straightConnector1">
            <a:avLst/>
          </a:prstGeom>
          <a:ln w="19050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68C910F2-1F58-4FDC-B353-D33E5A7C769D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390775"/>
            <a:ext cx="228600" cy="0"/>
          </a:xfrm>
          <a:prstGeom prst="straightConnector1">
            <a:avLst/>
          </a:prstGeom>
          <a:ln w="19050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3752F26-32D0-42BC-9690-8A8B346043CE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114800" y="2390775"/>
            <a:ext cx="228600" cy="0"/>
          </a:xfrm>
          <a:prstGeom prst="straightConnector1">
            <a:avLst/>
          </a:prstGeom>
          <a:ln w="19050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3F2B851-3FCD-42E6-AB7A-50B7A763FF07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286000" y="2390775"/>
            <a:ext cx="228600" cy="0"/>
          </a:xfrm>
          <a:prstGeom prst="straightConnector1">
            <a:avLst/>
          </a:prstGeom>
          <a:ln w="19050">
            <a:solidFill>
              <a:srgbClr val="0F766E"/>
            </a:solidFill>
            <a:prstDash val="solid"/>
            <a:headEnd type="arrow" w="med" len="med"/>
          </a:ln>
        </p:spPr>
      </p:cxnSp>
      <p:sp>
        <p:nvSpPr>
          <p:cNvPr id="23" name="title-accent">
            <a:extLst>
              <a:ext uri="{FF2B5EF4-FFF2-40B4-BE49-F238E27FC236}">
                <a16:creationId xmlns:a16="http://schemas.microsoft.com/office/drawing/2014/main" id="{1FFA4CD1-48DD-4818-AB6B-AAD5482347AF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" cy="381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7950346D-96B4-4250-BB35-00F38C3E720A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两人围绕同一闭环分担首次规划与重规划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C48E55E5-2D0B-460F-8275-6B86BEF1EC4E}"/>
              </a:ext>
            </a:extLst>
          </p:cNvPr>
          <p:cNvSpPr>
            <a:spLocks noGrp="1"/>
          </p:cNvSpPr>
          <p:nvPr/>
        </p:nvSpPr>
        <p:spPr>
          <a:xfrm>
            <a:off x="704850" y="102870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A 对首次计划负责，B 对学习后的调整负责</a:t>
            </a:r>
          </a:p>
        </p:txBody>
      </p:sp>
      <p:sp>
        <p:nvSpPr>
          <p:cNvPr id="4" name="team-goal">
            <a:extLst>
              <a:ext uri="{FF2B5EF4-FFF2-40B4-BE49-F238E27FC236}">
                <a16:creationId xmlns:a16="http://schemas.microsoft.com/office/drawing/2014/main" id="{5B4207B0-DF33-4EEE-9B89-B0A8158CA246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160020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定目标</a:t>
            </a:r>
          </a:p>
        </p:txBody>
      </p:sp>
      <p:sp>
        <p:nvSpPr>
          <p:cNvPr id="5" name="team-diagnosis">
            <a:extLst>
              <a:ext uri="{FF2B5EF4-FFF2-40B4-BE49-F238E27FC236}">
                <a16:creationId xmlns:a16="http://schemas.microsoft.com/office/drawing/2014/main" id="{1A397664-6CE8-47C3-9715-B9F345B8485C}"/>
              </a:ext>
            </a:extLst>
          </p:cNvPr>
          <p:cNvSpPr>
            <a:spLocks noGrp="1"/>
          </p:cNvSpPr>
          <p:nvPr/>
        </p:nvSpPr>
        <p:spPr>
          <a:xfrm>
            <a:off x="2514600" y="2038350"/>
            <a:ext cx="160020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诊断</a:t>
            </a:r>
          </a:p>
        </p:txBody>
      </p:sp>
      <p:sp>
        <p:nvSpPr>
          <p:cNvPr id="6" name="team-path">
            <a:extLst>
              <a:ext uri="{FF2B5EF4-FFF2-40B4-BE49-F238E27FC236}">
                <a16:creationId xmlns:a16="http://schemas.microsoft.com/office/drawing/2014/main" id="{B39BAB2A-822A-466B-B881-252FC2F45875}"/>
              </a:ext>
            </a:extLst>
          </p:cNvPr>
          <p:cNvSpPr>
            <a:spLocks noGrp="1"/>
          </p:cNvSpPr>
          <p:nvPr/>
        </p:nvSpPr>
        <p:spPr>
          <a:xfrm>
            <a:off x="4343400" y="2038350"/>
            <a:ext cx="1600200" cy="704850"/>
          </a:xfrm>
          <a:prstGeom prst="roundRect">
            <a:avLst>
              <a:gd name="adj" fmla="val 16216"/>
            </a:avLst>
          </a:prstGeom>
          <a:solidFill>
            <a:srgbClr val="F0FDFA"/>
          </a:solidFill>
          <a:ln w="14288">
            <a:solidFill>
              <a:srgbClr val="0F766E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生成路径</a:t>
            </a:r>
          </a:p>
        </p:txBody>
      </p:sp>
      <p:sp>
        <p:nvSpPr>
          <p:cNvPr id="7" name="team-execution">
            <a:extLst>
              <a:ext uri="{FF2B5EF4-FFF2-40B4-BE49-F238E27FC236}">
                <a16:creationId xmlns:a16="http://schemas.microsoft.com/office/drawing/2014/main" id="{1EA6C501-6215-4398-8555-F4021D8FB92E}"/>
              </a:ext>
            </a:extLst>
          </p:cNvPr>
          <p:cNvSpPr>
            <a:spLocks noGrp="1"/>
          </p:cNvSpPr>
          <p:nvPr/>
        </p:nvSpPr>
        <p:spPr>
          <a:xfrm>
            <a:off x="6172200" y="2038350"/>
            <a:ext cx="160020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执行打卡</a:t>
            </a:r>
          </a:p>
        </p:txBody>
      </p:sp>
      <p:sp>
        <p:nvSpPr>
          <p:cNvPr id="8" name="team-evidence">
            <a:extLst>
              <a:ext uri="{FF2B5EF4-FFF2-40B4-BE49-F238E27FC236}">
                <a16:creationId xmlns:a16="http://schemas.microsoft.com/office/drawing/2014/main" id="{1D6765E8-6CA9-4E43-9230-EAF71C75786B}"/>
              </a:ext>
            </a:extLst>
          </p:cNvPr>
          <p:cNvSpPr>
            <a:spLocks noGrp="1"/>
          </p:cNvSpPr>
          <p:nvPr/>
        </p:nvSpPr>
        <p:spPr>
          <a:xfrm>
            <a:off x="8001000" y="2038350"/>
            <a:ext cx="160020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4288">
            <a:solidFill>
              <a:srgbClr val="D9E2EC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证据验收</a:t>
            </a:r>
          </a:p>
        </p:txBody>
      </p:sp>
      <p:sp>
        <p:nvSpPr>
          <p:cNvPr id="9" name="team-replan">
            <a:extLst>
              <a:ext uri="{FF2B5EF4-FFF2-40B4-BE49-F238E27FC236}">
                <a16:creationId xmlns:a16="http://schemas.microsoft.com/office/drawing/2014/main" id="{EF1CEF09-64FF-4723-800A-2FE8C81FEF27}"/>
              </a:ext>
            </a:extLst>
          </p:cNvPr>
          <p:cNvSpPr>
            <a:spLocks noGrp="1"/>
          </p:cNvSpPr>
          <p:nvPr/>
        </p:nvSpPr>
        <p:spPr>
          <a:xfrm>
            <a:off x="9829800" y="2038350"/>
            <a:ext cx="1676400" cy="704850"/>
          </a:xfrm>
          <a:prstGeom prst="roundRect">
            <a:avLst>
              <a:gd name="adj" fmla="val 16216"/>
            </a:avLst>
          </a:prstGeom>
          <a:solidFill>
            <a:srgbClr val="FEF3C7"/>
          </a:solidFill>
          <a:ln w="14288">
            <a:solidFill>
              <a:srgbClr val="B45309"/>
            </a:solidFill>
            <a:prstDash val="solid"/>
          </a:ln>
        </p:spPr>
        <p:txBody>
          <a:bodyPr wrap="square" lIns="95250" tIns="57150" rIns="95250" bIns="57150" anchor="ctr">
            <a:noAutofit/>
          </a:bodyPr>
          <a:lstStyle>
            <a:def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2000"/>
              </a:lnSpc>
              <a:buNone/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重规划</a:t>
            </a:r>
          </a:p>
        </p:txBody>
      </p:sp>
      <p:sp>
        <p:nvSpPr>
          <p:cNvPr id="16" name="member-a-heading">
            <a:extLst>
              <a:ext uri="{FF2B5EF4-FFF2-40B4-BE49-F238E27FC236}">
                <a16:creationId xmlns:a16="http://schemas.microsoft.com/office/drawing/2014/main" id="{C70C3B9D-3A42-44A7-8F8B-66F61AA7A30B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5257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A  |  首次学习计划</a:t>
            </a:r>
          </a:p>
        </p:txBody>
      </p:sp>
      <p:sp>
        <p:nvSpPr>
          <p:cNvPr id="17" name="member-b-heading">
            <a:extLst>
              <a:ext uri="{FF2B5EF4-FFF2-40B4-BE49-F238E27FC236}">
                <a16:creationId xmlns:a16="http://schemas.microsoft.com/office/drawing/2014/main" id="{24AA4E2C-FDEE-4669-89D2-673542C17489}"/>
              </a:ext>
            </a:extLst>
          </p:cNvPr>
          <p:cNvSpPr>
            <a:spLocks noGrp="1"/>
          </p:cNvSpPr>
          <p:nvPr/>
        </p:nvSpPr>
        <p:spPr>
          <a:xfrm>
            <a:off x="6172200" y="14668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08000"/>
              </a:lnSpc>
              <a:buNone/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B  |  学习后重规划</a:t>
            </a:r>
          </a:p>
        </p:txBody>
      </p:sp>
      <p:sp>
        <p:nvSpPr>
          <p:cNvPr id="18" name="member-a-detail">
            <a:extLst>
              <a:ext uri="{FF2B5EF4-FFF2-40B4-BE49-F238E27FC236}">
                <a16:creationId xmlns:a16="http://schemas.microsoft.com/office/drawing/2014/main" id="{EC7F5D97-46CC-4911-B95B-2760430A60FB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52578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目标解析、诊断、内容生成、RAG、知识图谱、首次路径规划、规则校验和任务拆解。</a:t>
            </a:r>
          </a:p>
        </p:txBody>
      </p:sp>
      <p:sp>
        <p:nvSpPr>
          <p:cNvPr id="19" name="member-b-detail">
            <a:extLst>
              <a:ext uri="{FF2B5EF4-FFF2-40B4-BE49-F238E27FC236}">
                <a16:creationId xmlns:a16="http://schemas.microsoft.com/office/drawing/2014/main" id="{BE2AF199-5EA8-4EC9-99F3-BDC0A18F58CF}"/>
              </a:ext>
            </a:extLst>
          </p:cNvPr>
          <p:cNvSpPr>
            <a:spLocks noGrp="1"/>
          </p:cNvSpPr>
          <p:nvPr/>
        </p:nvSpPr>
        <p:spPr>
          <a:xfrm>
            <a:off x="6172200" y="3352800"/>
            <a:ext cx="5334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08000"/>
              </a:lnSpc>
              <a:buNone/>
              <a:def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E68"/>
                </a:solidFill>
                <a:latin typeface="Microsoft YaHei"/>
                <a:ea typeface="Microsoft YaHei"/>
                <a:cs typeface="Microsoft YaHei"/>
              </a:rPr>
              <a:t>接收打卡和学习内容，完成证据评分、BKT 更新、执行偏差、重规划判断、路径差异和后续任务安排。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77A555D-69C7-41F1-A684-87D4BF3BF347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1" name="shared-responsibility">
            <a:extLst>
              <a:ext uri="{FF2B5EF4-FFF2-40B4-BE49-F238E27FC236}">
                <a16:creationId xmlns:a16="http://schemas.microsoft.com/office/drawing/2014/main" id="{741ECBB8-6125-4AE5-B214-AE83CE1A1B04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108204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lnSpc>
                <a:spcPct val="108000"/>
              </a:lnSpc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共同负责： API 与数据结构契约、LangGraph 整体串联、训练数据审核、联调、三轮现场闭环演练和答辩材料</a:t>
            </a:r>
          </a:p>
        </p:txBody>
      </p:sp>
      <p:sp>
        <p:nvSpPr>
          <p:cNvPr id="22" name="page-number">
            <a:extLst>
              <a:ext uri="{FF2B5EF4-FFF2-40B4-BE49-F238E27FC236}">
                <a16:creationId xmlns:a16="http://schemas.microsoft.com/office/drawing/2014/main" id="{84B76500-EC6F-4760-A046-3FDD174BB5B7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55958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-accent">
            <a:extLst>
              <a:ext uri="{FF2B5EF4-FFF2-40B4-BE49-F238E27FC236}">
                <a16:creationId xmlns:a16="http://schemas.microsoft.com/office/drawing/2014/main" id="{153390F6-6788-423C-8479-018A9256F917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00050" cy="381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066E81F-2274-4355-B4F6-EC076B2E69EA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风险控制优先保证真实闭环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025F41F1-5C04-43E7-B21B-5F61F54C0C9A}"/>
              </a:ext>
            </a:extLst>
          </p:cNvPr>
          <p:cNvSpPr>
            <a:spLocks noGrp="1"/>
          </p:cNvSpPr>
          <p:nvPr/>
        </p:nvSpPr>
        <p:spPr>
          <a:xfrm>
            <a:off x="704850" y="102870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先证明系统能够完成闭环，再完善非核心体验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0B3D912-7CAF-4D25-AF84-347EF9D75A3F}"/>
              </a:ext>
            </a:extLst>
          </p:cNvPr>
          <p:cNvGraphicFramePr/>
          <p:nvPr/>
        </p:nvGraphicFramePr>
        <p:xfrm>
          <a:off x="685800" y="1581150"/>
          <a:ext cx="10820400" cy="3390900"/>
        </p:xfrm>
        <a:graphic>
          <a:graphicData uri="http://schemas.openxmlformats.org/drawingml/2006/table">
            <a:tbl>
              <a:tblPr/>
              <a:tblGrid>
                <a:gridCol w="4416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主要风险</a:t>
                      </a:r>
                    </a:p>
                  </a:txBody>
                  <a:tcPr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控制方式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>
                      <a:solidFill>
                        <a:srgbClr val="D9E2EC"/>
                      </a:solidFill>
                      <a:prstDash val="soli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本机资源导致训练或推理压力</a:t>
                      </a:r>
                    </a:p>
                  </a:txBody>
                  <a:tcPr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先完成 1.5B 最小可用版本，训练与推理分时运行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模型结构化输出不稳定</a:t>
                      </a:r>
                    </a:p>
                  </a:txBody>
                  <a:tcPr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JSON Schema、引用校验、格式修复和有限重试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课程数据和图谱准备量过大</a:t>
                      </a:r>
                    </a:p>
                  </a:txBody>
                  <a:tcPr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完整验收先固定一条技能主线，其他目标用于泛化测试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现场闭环依赖缓存或人工操作</a:t>
                      </a:r>
                    </a:p>
                  </a:txBody>
                  <a:tcPr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使用新的 run_id、时间戳、Agent 轨迹和三轮现场演练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两人协作导致接口不一致</a:t>
                      </a:r>
                    </a:p>
                  </a:txBody>
                  <a:tcPr anchor="ctr">
                    <a:lnL w="9525">
                      <a:solidFill>
                        <a:srgbClr val="D9E2EC"/>
                      </a:solidFill>
                      <a:prstDash val="soli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  <a:buNone/>
                      </a:pPr>
                      <a:r>
                        <a:rPr sz="1200" b="0">
                          <a:solidFill>
                            <a:srgbClr val="334E6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尽早冻结 API 与数据结构契约，使用 Mock 并行开发和集成测试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C"/>
                      </a:solidFill>
                      <a:prstDash val="soli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conclusion-band">
            <a:extLst>
              <a:ext uri="{FF2B5EF4-FFF2-40B4-BE49-F238E27FC236}">
                <a16:creationId xmlns:a16="http://schemas.microsoft.com/office/drawing/2014/main" id="{9EF6B5A6-E05C-49A0-B144-D8FB3898C8DE}"/>
              </a:ext>
            </a:extLst>
          </p:cNvPr>
          <p:cNvSpPr>
            <a:spLocks noGrp="1"/>
          </p:cNvSpPr>
          <p:nvPr/>
        </p:nvSpPr>
        <p:spPr>
          <a:xfrm>
            <a:off x="685800" y="5257800"/>
            <a:ext cx="10820400" cy="876300"/>
          </a:xfrm>
          <a:prstGeom prst="rect">
            <a:avLst/>
          </a:prstGeom>
          <a:solidFill>
            <a:srgbClr val="F0FDFA"/>
          </a:solidFill>
          <a:ln w="14288">
            <a:solidFill>
              <a:srgbClr val="0F766E"/>
            </a:solidFill>
            <a:prstDash val="solid"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5E59"/>
                </a:solidFill>
                <a:latin typeface="Microsoft YaHei"/>
                <a:ea typeface="Microsoft YaHei"/>
                <a:cs typeface="Microsoft YaHei"/>
              </a:rPr>
              <a:t>模型负责理解与生成，RAG 提供依据，图谱和规则保证可行，BKT 驱动调整。</a:t>
            </a:r>
          </a:p>
        </p:txBody>
      </p:sp>
      <p:sp>
        <p:nvSpPr>
          <p:cNvPr id="6" name="next-step-conclusion">
            <a:extLst>
              <a:ext uri="{FF2B5EF4-FFF2-40B4-BE49-F238E27FC236}">
                <a16:creationId xmlns:a16="http://schemas.microsoft.com/office/drawing/2014/main" id="{D87F07D8-59D7-4B9F-BDB2-A389FD2931FA}"/>
              </a:ext>
            </a:extLst>
          </p:cNvPr>
          <p:cNvSpPr>
            <a:spLocks noGrp="1"/>
          </p:cNvSpPr>
          <p:nvPr/>
        </p:nvSpPr>
        <p:spPr>
          <a:xfrm>
            <a:off x="685800" y="626745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ct val="108000"/>
              </a:lnSpc>
              <a:buNone/>
              <a:def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下一步：完成环境验证、数据底座和首个可调用的六阶段后端闭环</a:t>
            </a:r>
          </a:p>
        </p:txBody>
      </p:sp>
      <p:sp>
        <p:nvSpPr>
          <p:cNvPr id="7" name="page-number">
            <a:extLst>
              <a:ext uri="{FF2B5EF4-FFF2-40B4-BE49-F238E27FC236}">
                <a16:creationId xmlns:a16="http://schemas.microsoft.com/office/drawing/2014/main" id="{70AF445F-AF13-46AE-AB3C-3A3D54BCAC35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19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lnSpc>
                <a:spcPct val="108000"/>
              </a:lnSpc>
              <a:buNone/>
              <a:def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9933158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1235</Words>
  <Application>Microsoft Office PowerPoint</Application>
  <DocSecurity>0</DocSecurity>
  <PresentationFormat>宽屏</PresentationFormat>
  <Paragraphs>357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天奇 刘</cp:lastModifiedBy>
  <cp:revision>1</cp:revision>
  <dcterms:created xsi:type="dcterms:W3CDTF">2026-10-20T14:12:38Z</dcterms:created>
  <dcterms:modified xsi:type="dcterms:W3CDTF">2026-10-20T14:23:25Z</dcterms:modified>
</cp:coreProperties>
</file>