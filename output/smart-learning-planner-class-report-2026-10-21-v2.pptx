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2fbb17922544bb" /><Relationship Type="http://schemas.openxmlformats.org/officeDocument/2006/relationships/extended-properties" Target="/docProps/app.xml" Id="R0cb907ce9d9949d0" /><Relationship Type="http://schemas.openxmlformats.org/officeDocument/2006/relationships/officeDocument" Target="/ppt/presentation.xml" Id="R9d75152b75f8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aead82a5d4ffc"/>
  </p:sldMasterIdLst>
  <p:notesMasterIdLst>
    <p:notesMasterId xmlns:r="http://schemas.openxmlformats.org/officeDocument/2006/relationships" r:id="Rd4f0caacffda4392"/>
  </p:notesMasterIdLst>
  <p:sldIdLst>
    <p:sldId xmlns:r="http://schemas.openxmlformats.org/officeDocument/2006/relationships" id="256" r:id="R1e9ddf7fc8ed4399"/>
    <p:sldId xmlns:r="http://schemas.openxmlformats.org/officeDocument/2006/relationships" id="257" r:id="R99ba7a2a84294458"/>
    <p:sldId xmlns:r="http://schemas.openxmlformats.org/officeDocument/2006/relationships" id="258" r:id="Re12fc826390042b9"/>
    <p:sldId xmlns:r="http://schemas.openxmlformats.org/officeDocument/2006/relationships" id="259" r:id="Rfdd9e52821e14c7b"/>
    <p:sldId xmlns:r="http://schemas.openxmlformats.org/officeDocument/2006/relationships" id="260" r:id="Ra55bf233eee14f4c"/>
    <p:sldId xmlns:r="http://schemas.openxmlformats.org/officeDocument/2006/relationships" id="261" r:id="R33d7ab3d09884504"/>
    <p:sldId xmlns:r="http://schemas.openxmlformats.org/officeDocument/2006/relationships" id="262" r:id="R6a32fd36abcc406f"/>
    <p:sldId xmlns:r="http://schemas.openxmlformats.org/officeDocument/2006/relationships" id="263" r:id="Rab855e1b84144a8e"/>
    <p:sldId xmlns:r="http://schemas.openxmlformats.org/officeDocument/2006/relationships" id="264" r:id="R5357dd11e70b4f3d"/>
    <p:sldId xmlns:r="http://schemas.openxmlformats.org/officeDocument/2006/relationships" id="265" r:id="Rfc5a93ebd6de420a"/>
    <p:sldId xmlns:r="http://schemas.openxmlformats.org/officeDocument/2006/relationships" id="266" r:id="R90811740def04fbc"/>
    <p:sldId xmlns:r="http://schemas.openxmlformats.org/officeDocument/2006/relationships" id="267" r:id="Ra005db528a174a0b"/>
    <p:sldId xmlns:r="http://schemas.openxmlformats.org/officeDocument/2006/relationships" id="268" r:id="Rdeeb771f65944738"/>
    <p:sldId xmlns:r="http://schemas.openxmlformats.org/officeDocument/2006/relationships" id="269" r:id="R79d406aa52e24086"/>
    <p:sldId xmlns:r="http://schemas.openxmlformats.org/officeDocument/2006/relationships" id="270" r:id="Rd743eaeff7fd43dd"/>
    <p:sldId xmlns:r="http://schemas.openxmlformats.org/officeDocument/2006/relationships" id="271" r:id="R2f66c0c6cc594ee6"/>
    <p:sldId xmlns:r="http://schemas.openxmlformats.org/officeDocument/2006/relationships" id="272" r:id="R38130d6f58e743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01c7ba5294191" /><Relationship Type="http://schemas.openxmlformats.org/officeDocument/2006/relationships/slideMaster" Target="/ppt/slideMasters/slideMaster1.xml" Id="R74eaead82a5d4ffc" /><Relationship Type="http://schemas.openxmlformats.org/officeDocument/2006/relationships/notesMaster" Target="/ppt/notesMasters/notesMaster1.xml" Id="Rd4f0caacffda4392" /><Relationship Type="http://schemas.openxmlformats.org/officeDocument/2006/relationships/presProps" Target="/ppt/presProps.xml" Id="R40b64eea3b6d4292" /><Relationship Type="http://schemas.openxmlformats.org/officeDocument/2006/relationships/tableStyles" Target="/ppt/tableStyles.xml" Id="Rbd04ed93f7bd4ae4" /><Relationship Type="http://schemas.openxmlformats.org/officeDocument/2006/relationships/slide" Target="/ppt/slides/slide1.xml" Id="R1e9ddf7fc8ed4399" /><Relationship Type="http://schemas.openxmlformats.org/officeDocument/2006/relationships/slide" Target="/ppt/slides/slide2.xml" Id="R99ba7a2a84294458" /><Relationship Type="http://schemas.openxmlformats.org/officeDocument/2006/relationships/slide" Target="/ppt/slides/slide3.xml" Id="Re12fc826390042b9" /><Relationship Type="http://schemas.openxmlformats.org/officeDocument/2006/relationships/slide" Target="/ppt/slides/slide4.xml" Id="Rfdd9e52821e14c7b" /><Relationship Type="http://schemas.openxmlformats.org/officeDocument/2006/relationships/slide" Target="/ppt/slides/slide5.xml" Id="Ra55bf233eee14f4c" /><Relationship Type="http://schemas.openxmlformats.org/officeDocument/2006/relationships/slide" Target="/ppt/slides/slide6.xml" Id="R33d7ab3d09884504" /><Relationship Type="http://schemas.openxmlformats.org/officeDocument/2006/relationships/slide" Target="/ppt/slides/slide7.xml" Id="R6a32fd36abcc406f" /><Relationship Type="http://schemas.openxmlformats.org/officeDocument/2006/relationships/slide" Target="/ppt/slides/slide8.xml" Id="Rab855e1b84144a8e" /><Relationship Type="http://schemas.openxmlformats.org/officeDocument/2006/relationships/slide" Target="/ppt/slides/slide9.xml" Id="R5357dd11e70b4f3d" /><Relationship Type="http://schemas.openxmlformats.org/officeDocument/2006/relationships/slide" Target="/ppt/slides/slide10.xml" Id="Rfc5a93ebd6de420a" /><Relationship Type="http://schemas.openxmlformats.org/officeDocument/2006/relationships/slide" Target="/ppt/slides/slide11.xml" Id="R90811740def04fbc" /><Relationship Type="http://schemas.openxmlformats.org/officeDocument/2006/relationships/slide" Target="/ppt/slides/slide12.xml" Id="Ra005db528a174a0b" /><Relationship Type="http://schemas.openxmlformats.org/officeDocument/2006/relationships/slide" Target="/ppt/slides/slide13.xml" Id="Rdeeb771f65944738" /><Relationship Type="http://schemas.openxmlformats.org/officeDocument/2006/relationships/slide" Target="/ppt/slides/slide14.xml" Id="R79d406aa52e24086" /><Relationship Type="http://schemas.openxmlformats.org/officeDocument/2006/relationships/slide" Target="/ppt/slides/slide15.xml" Id="Rd743eaeff7fd43dd" /><Relationship Type="http://schemas.openxmlformats.org/officeDocument/2006/relationships/slide" Target="/ppt/slides/slide16.xml" Id="R2f66c0c6cc594ee6" /><Relationship Type="http://schemas.openxmlformats.org/officeDocument/2006/relationships/slide" Target="/ppt/slides/slide17.xml" Id="R38130d6f58e7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a74925690d43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b11a20d8a4bb8" /><Relationship Type="http://schemas.openxmlformats.org/officeDocument/2006/relationships/notesMaster" Target="/ppt/notesMasters/notesMaster1.xml" Id="R52929f3a0784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7195978ccb4cb7" /><Relationship Type="http://schemas.openxmlformats.org/officeDocument/2006/relationships/notesMaster" Target="/ppt/notesMasters/notesMaster1.xml" Id="R65a9a31ef537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ecf2932ebf4a1a" /><Relationship Type="http://schemas.openxmlformats.org/officeDocument/2006/relationships/notesMaster" Target="/ppt/notesMasters/notesMaster1.xml" Id="Rbf95e6e9bed440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a12817eae4d57" /><Relationship Type="http://schemas.openxmlformats.org/officeDocument/2006/relationships/notesMaster" Target="/ppt/notesMasters/notesMaster1.xml" Id="Re939914c24154c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77f23da66485c" /><Relationship Type="http://schemas.openxmlformats.org/officeDocument/2006/relationships/notesMaster" Target="/ppt/notesMasters/notesMaster1.xml" Id="R600757b828c840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259b302c5d4897" /><Relationship Type="http://schemas.openxmlformats.org/officeDocument/2006/relationships/notesMaster" Target="/ppt/notesMasters/notesMaster1.xml" Id="Rbf3cf3dfe023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641d94cbd84218" /><Relationship Type="http://schemas.openxmlformats.org/officeDocument/2006/relationships/notesMaster" Target="/ppt/notesMasters/notesMaster1.xml" Id="R8b47f908cf1d4f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4abbdc102748ef" /><Relationship Type="http://schemas.openxmlformats.org/officeDocument/2006/relationships/notesMaster" Target="/ppt/notesMasters/notesMaster1.xml" Id="R80345b74eaed4b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e71561f2114597" /><Relationship Type="http://schemas.openxmlformats.org/officeDocument/2006/relationships/notesMaster" Target="/ppt/notesMasters/notesMaster1.xml" Id="R4de7f2020cd048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51cda2d1004a53" /><Relationship Type="http://schemas.openxmlformats.org/officeDocument/2006/relationships/notesMaster" Target="/ppt/notesMasters/notesMaster1.xml" Id="Rf8e475fe5fca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cef8cedc5d4f8b" /><Relationship Type="http://schemas.openxmlformats.org/officeDocument/2006/relationships/notesMaster" Target="/ppt/notesMasters/notesMaster1.xml" Id="R4be32156dcc649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249c26109b4af6" /><Relationship Type="http://schemas.openxmlformats.org/officeDocument/2006/relationships/notesMaster" Target="/ppt/notesMasters/notesMaster1.xml" Id="Rcbbdaf68d1bd4d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99e10382b44e7d" /><Relationship Type="http://schemas.openxmlformats.org/officeDocument/2006/relationships/notesMaster" Target="/ppt/notesMasters/notesMaster1.xml" Id="Re0723bddc89b4b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3656e4119147c7" /><Relationship Type="http://schemas.openxmlformats.org/officeDocument/2006/relationships/notesMaster" Target="/ppt/notesMasters/notesMaster1.xml" Id="Rd56547bc38a844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48aef8ed614124" /><Relationship Type="http://schemas.openxmlformats.org/officeDocument/2006/relationships/notesMaster" Target="/ppt/notesMasters/notesMaster1.xml" Id="R6be6881557b247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c3e14809a948b9" /><Relationship Type="http://schemas.openxmlformats.org/officeDocument/2006/relationships/notesMaster" Target="/ppt/notesMasters/notesMaster1.xml" Id="R743bd1a6bd1446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8bfe42db98471f" /><Relationship Type="http://schemas.openxmlformats.org/officeDocument/2006/relationships/notesMaster" Target="/ppt/notesMasters/notesMaster1.xml" Id="Rc84a80ff58d346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开场先交代项目定位：系统根据学习目标和学习证据生成可执行、可解释、可调整的学习计划。当前汇报聚焦设计基线和实施准备，不把未完成功能描述为已有成果。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用约二十秒说明汇报结构。五部分依次回答为什么做、产品如何闭环、技术为什么可信、项目怎样推进，以及下一步如何控制风险。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先给老师一个清晰的进度判断。已完成的是设计、需求和技术基线，尚未完成的是代码、原型、训练数据和现场演示。下一步从环境验证、数据 Schema、四智能体路由和规划主链路开始。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用低年级学生的典型场景讲痛点：不知道缺什么前置知识，无法判断计划是否可完成，也不知道学习效果变化后如何调整。项目目标是给出有依据、可执行、能随证据变化的路径。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范围是主动收敛的结果。本期只做学生端学习闭环，不扩展为完整教学平台。完整验收先固定 Python、数据结构与算法、后端开发这条主线，其他计算机目标作为泛化测试。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这一页是全篇主流程图。目标、诊断、路径、打卡、验收和重规划必须首尾相接。验收时提交未达标答案，系统应真实更新掌握度并把后续任务重新排好，而不是返回固定结果。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功能框架按学生业务、智能规划、学习模型和可信数据四层组织。每一层都能映射回上一页的闭环，不是额外堆叠的功能清单。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技术架构采用本地模块化单体。前端只通过 API 访问后端；LangGraph Coordinator 负责四智能体路由；Agent 通过共享状态和结构化交接协作；RAG、图谱、规划和 BKT 保持独立工具职责。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模型选型围绕设备约束和任务分工。1.5B 模型通过 QLoRA 学习目标解析、结构化输出和候选规划，课程事实由 RAG 提供，路径可行性由规则决定，掌握度由 BKT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的目标是让每个正式学习节点都有可回查的资料依据。系统先导入和切分课程资料，再用向量与 BM25 混合检索。没有达到阈值的证据只能形成 draft，不能发布为正式路径。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这里要主动澄清：当前设计是一个 LangGraph Coordinator 调度四个专业 Agent。Agent 之间不自由对话，只通过共享 AgentState 和结构化交接协作。路径构建不负责最终审核，审查不生成路径，重规划不直接发布新路径。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LearningReplanAgent 把打卡和测验证据转换成掌握度更新，再判断是否重规划。低于 0.45 插入补强，达到 0.75 解锁后续硬先修节点。现场演示的关键是让一份未达标答案真实触发掌握度下降、补强任务和后续任务顺延。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系统可信性来自两层证明。PlanReviewAgent 使用确定性规则判断路径是否满足先修、预算、负荷和引用要求；新的现场运行记录证明核心请求没有复用缓存。规划失败最多重试三次，之后必须返回冲突和替代方向。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计划按可验证里程碑推进，不按写了多少代码或做了多少页面判断完成。每个阶段都必须有可以检查的交付结果，最后才进入现场演练和答辩交付。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当前没有可运行系统，这一点要明确说明。已经完成的是设计、SRS、技术设计、四智能体职责边界和验收设计；当前重点是环境验证、数据 Schema、演示脚本和 RAG 与图谱准备。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分工按业务闭环划分，不按前端和后端简单切开。A 负责首次计划生成，B 负责学习后的计划重排，两人共同保证接口、数据结构、联调和现场闭环。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最后用风险说明项目优先级。资源和模型稳定性风险通过最小版本、Schema 和有限重试控制；数据准备量通过固定一条验收主线控制；现场可信性通过新的运行记录和轨迹控制；协作风险通过尽早冻结接口契约控制。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依据：项目设计方案 v1.4、需求规格说明书 v1.2、技术设计说明书 v1.1、课堂汇报 PPT 设计稿 v1.2。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33a99596248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3edfbf88d4d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37c51452741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a5cff1d7542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e0b859aaf48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9394cec2f4b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395B2-1A8D-44C1-82D7-0506B776C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8F2F0E-B7FD-4FF4-B2A2-DC43D855D9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09C209-73F9-4A7B-ACB5-758EE7B46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73123-C787-4DCA-82A4-127C53F5A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ACA9C5-0296-4A01-8C2E-02E3C3DE8B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01AAF0-8FB5-48E1-A411-E828713C3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B5A519-3BCF-4D29-A1A8-A7EE954B8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4F2DA2-250F-4805-B2AB-932C276C54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7D963D-F461-42AD-97CD-7A03B3CE1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FE1A36-F280-4728-ADBD-81DB627CF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77187f7a444368" /><Relationship Type="http://schemas.openxmlformats.org/officeDocument/2006/relationships/slideLayout" Target="/ppt/slideLayouts/slideLayout1.xml" Id="R55a31ecd31204fd8" /><Relationship Type="http://schemas.openxmlformats.org/officeDocument/2006/relationships/slideLayout" Target="/ppt/slideLayouts/slideLayout2.xml" Id="R1106a615b75d4f4d" /><Relationship Type="http://schemas.openxmlformats.org/officeDocument/2006/relationships/slideLayout" Target="/ppt/slideLayouts/slideLayout3.xml" Id="R7052672da14a41d9" /><Relationship Type="http://schemas.openxmlformats.org/officeDocument/2006/relationships/slideLayout" Target="/ppt/slideLayouts/slideLayout4.xml" Id="Rff60143341024184" /><Relationship Type="http://schemas.openxmlformats.org/officeDocument/2006/relationships/slideLayout" Target="/ppt/slideLayouts/slideLayout5.xml" Id="R5e182c7995a94b81" /><Relationship Type="http://schemas.openxmlformats.org/officeDocument/2006/relationships/slideLayout" Target="/ppt/slideLayouts/slideLayout6.xml" Id="Rea72c5fa45a447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31ecd31204fd8"/>
    <p:sldLayoutId xmlns:r="http://schemas.openxmlformats.org/officeDocument/2006/relationships" id="2147483650" r:id="R1106a615b75d4f4d"/>
    <p:sldLayoutId xmlns:r="http://schemas.openxmlformats.org/officeDocument/2006/relationships" id="2147483651" r:id="R7052672da14a41d9"/>
    <p:sldLayoutId xmlns:r="http://schemas.openxmlformats.org/officeDocument/2006/relationships" id="2147483652" r:id="Rff60143341024184"/>
    <p:sldLayoutId xmlns:r="http://schemas.openxmlformats.org/officeDocument/2006/relationships" id="2147483653" r:id="R5e182c7995a94b81"/>
    <p:sldLayoutId xmlns:r="http://schemas.openxmlformats.org/officeDocument/2006/relationships" id="2147483654" r:id="Rea72c5fa45a447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83b5879c34fe7" /><Relationship Type="http://schemas.openxmlformats.org/officeDocument/2006/relationships/notesSlide" Target="/ppt/notesSlides/notesSlide1.xml" Id="R77b0e0c67227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f1686c92f486d" /><Relationship Type="http://schemas.openxmlformats.org/officeDocument/2006/relationships/notesSlide" Target="/ppt/notesSlides/notesSlide2.xml" Id="Rf99c5c91155c4c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d0eb493d84110" /><Relationship Type="http://schemas.openxmlformats.org/officeDocument/2006/relationships/notesSlide" Target="/ppt/notesSlides/notesSlide3.xml" Id="R228ba5b832e541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78816387a42dc" /><Relationship Type="http://schemas.openxmlformats.org/officeDocument/2006/relationships/notesSlide" Target="/ppt/notesSlides/notesSlide4.xml" Id="R76ec232b1b89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98e42f7b304c4a" /><Relationship Type="http://schemas.openxmlformats.org/officeDocument/2006/relationships/notesSlide" Target="/ppt/notesSlides/notesSlide5.xml" Id="R98315e3a09634c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c3c1905cb44f6" /><Relationship Type="http://schemas.openxmlformats.org/officeDocument/2006/relationships/notesSlide" Target="/ppt/notesSlides/notesSlide6.xml" Id="Re9ff46856e36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d87ac32de49fb" /><Relationship Type="http://schemas.openxmlformats.org/officeDocument/2006/relationships/notesSlide" Target="/ppt/notesSlides/notesSlide7.xml" Id="R4cf3fad0357a44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ee4edd5814bbe" /><Relationship Type="http://schemas.openxmlformats.org/officeDocument/2006/relationships/notesSlide" Target="/ppt/notesSlides/notesSlide8.xml" Id="R7b79b41ac4b243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146c9713b4f7b" /><Relationship Type="http://schemas.openxmlformats.org/officeDocument/2006/relationships/notesSlide" Target="/ppt/notesSlides/notesSlide9.xml" Id="Rf30bf5c1891847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354c1282a428b" /><Relationship Type="http://schemas.openxmlformats.org/officeDocument/2006/relationships/notesSlide" Target="/ppt/notesSlides/notesSlide10.xml" Id="R1869f729668b43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8ff347f6644fc" /><Relationship Type="http://schemas.openxmlformats.org/officeDocument/2006/relationships/notesSlide" Target="/ppt/notesSlides/notesSlide11.xml" Id="Rcee04e67d4bf49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6e6b1229b4dd4" /><Relationship Type="http://schemas.openxmlformats.org/officeDocument/2006/relationships/notesSlide" Target="/ppt/notesSlides/notesSlide12.xml" Id="R87eca39760f648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860f7d56644a5c" /><Relationship Type="http://schemas.openxmlformats.org/officeDocument/2006/relationships/notesSlide" Target="/ppt/notesSlides/notesSlide13.xml" Id="R628994f5f0344a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2f6ba4c3d437d" /><Relationship Type="http://schemas.openxmlformats.org/officeDocument/2006/relationships/notesSlide" Target="/ppt/notesSlides/notesSlide14.xml" Id="R55bcaee7c4a64d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3dd0ada024dd7" /><Relationship Type="http://schemas.openxmlformats.org/officeDocument/2006/relationships/notesSlide" Target="/ppt/notesSlides/notesSlide15.xml" Id="Rc2fff1718b1243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150fcb709474a" /><Relationship Type="http://schemas.openxmlformats.org/officeDocument/2006/relationships/notesSlide" Target="/ppt/notesSlides/notesSlide16.xml" Id="R2bcf591578974a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0b5a48264476f" /><Relationship Type="http://schemas.openxmlformats.org/officeDocument/2006/relationships/notesSlide" Target="/ppt/notesSlides/notesSlide17.xml" Id="R1672dde17fc245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7CDDE-228B-4A0E-A4E8-8FF46DA09C5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25000" y="43053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79DAD-D36F-44CD-8250-A49FCB22499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525000" y="32004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A119-CF2E-4527-B6A2-A7372A0C29B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525000" y="20955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BE3972B-1501-4BD6-8116-69CF6235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阶段性进展汇报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4CA0E9-B6F8-4E9F-AAFA-D119548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智能学习规划助手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D20EE9-D03C-4686-AE23-64FABA98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从学习目标到动态学习计划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41F807A2-3537-4992-BF33-62E3E295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2 人项目组，2026 年 10 月</a:t>
            </a:r>
          </a:p>
        </p:txBody>
      </p:sp>
      <p:sp>
        <p:nvSpPr>
          <p:cNvPr id="5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FDA32712-B573-4627-B3BA-1534DD28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097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6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77EA38A9-F6F1-4F80-9052-1BDDEA98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146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基础诊断</a:t>
            </a:r>
          </a:p>
        </p:txBody>
      </p:sp>
      <p:sp>
        <p:nvSpPr>
          <p:cNvPr id="7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C4FF2AC2-8B9A-4542-86BA-2EA12F00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个性化路径</a:t>
            </a:r>
          </a:p>
        </p:txBody>
      </p:sp>
      <p:sp>
        <p:nvSpPr>
          <p:cNvPr id="8" name="cover-node-4">
            <a:extLst xmlns:a="http://schemas.openxmlformats.org/drawingml/2006/main">
              <a:ext uri="{FF2B5EF4-FFF2-40B4-BE49-F238E27FC236}">
                <a16:creationId xmlns:a16="http://schemas.microsoft.com/office/drawing/2014/main" id="{DDE7AAFA-E846-4E76-88C3-F2AE6159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24400"/>
            <a:ext cx="238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学习反馈</a:t>
            </a:r>
          </a:p>
        </p:txBody>
      </p:sp>
      <p:sp>
        <p:nvSpPr>
          <p:cNvPr id="12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26821EA7-48D7-4A8C-8B4F-6C149C64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48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计划不是一次生成，而是持续更新</a:t>
            </a:r>
          </a:p>
        </p:txBody>
      </p:sp>
    </p:spTree>
    <p:extLst>
      <p:ext uri="{BB962C8B-B14F-4D97-AF65-F5344CB8AC3E}">
        <p14:creationId xmlns:p14="http://schemas.microsoft.com/office/powerpoint/2010/main" val="1906747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DA24AE-15BE-434D-8E39-DDEC2F27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B87291-979B-49F3-9D16-7EAB18EC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01C9DE-AD0A-4429-ABE7-C9460D09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五部分串联项目定位、技术方案与实施路径</a:t>
            </a:r>
          </a:p>
        </p:txBody>
      </p:sp>
      <p:sp>
        <p:nvSpPr>
          <p:cNvPr id="4" name="toc-count">
            <a:extLst xmlns:a="http://schemas.openxmlformats.org/drawingml/2006/main">
              <a:ext uri="{FF2B5EF4-FFF2-40B4-BE49-F238E27FC236}">
                <a16:creationId xmlns:a16="http://schemas.microsoft.com/office/drawing/2014/main" id="{AD79C486-91A4-4CFA-8335-9F3DA126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oc-count-label">
            <a:extLst xmlns:a="http://schemas.openxmlformats.org/drawingml/2006/main">
              <a:ext uri="{FF2B5EF4-FFF2-40B4-BE49-F238E27FC236}">
                <a16:creationId xmlns:a16="http://schemas.microsoft.com/office/drawing/2014/main" id="{77E318EA-C8E5-4AB1-B344-B87C53A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五个部分</a:t>
            </a:r>
          </a:p>
        </p:txBody>
      </p:sp>
      <p:sp>
        <p:nvSpPr>
          <p:cNvPr id="6" name="toc-intro">
            <a:extLst xmlns:a="http://schemas.openxmlformats.org/drawingml/2006/main">
              <a:ext uri="{FF2B5EF4-FFF2-40B4-BE49-F238E27FC236}">
                <a16:creationId xmlns:a16="http://schemas.microsoft.com/office/drawing/2014/main" id="{EF0186BE-EEF0-434D-A640-187C0E9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从真实问题出发，最后落到可验证的实施与分工。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F69F2-C7B1-4930-9F5C-C86F67E6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c-number-1">
            <a:extLst xmlns:a="http://schemas.openxmlformats.org/drawingml/2006/main">
              <a:ext uri="{FF2B5EF4-FFF2-40B4-BE49-F238E27FC236}">
                <a16:creationId xmlns:a16="http://schemas.microsoft.com/office/drawing/2014/main" id="{93481925-44CF-44B3-8079-DB4285F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19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oc-title-1">
            <a:extLst xmlns:a="http://schemas.openxmlformats.org/drawingml/2006/main">
              <a:ext uri="{FF2B5EF4-FFF2-40B4-BE49-F238E27FC236}">
                <a16:creationId xmlns:a16="http://schemas.microsoft.com/office/drawing/2014/main" id="{B715B053-DB0A-4E8C-9547-79F24DB6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0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项目定位与当前进度</a:t>
            </a:r>
          </a:p>
        </p:txBody>
      </p:sp>
      <p:sp>
        <p:nvSpPr>
          <p:cNvPr id="10" name="toc-description-1">
            <a:extLst xmlns:a="http://schemas.openxmlformats.org/drawingml/2006/main">
              <a:ext uri="{FF2B5EF4-FFF2-40B4-BE49-F238E27FC236}">
                <a16:creationId xmlns:a16="http://schemas.microsoft.com/office/drawing/2014/main" id="{F8E00733-6DD3-4634-B11F-65F8F69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为什么做，当前做到哪一步</a:t>
            </a:r>
          </a:p>
        </p:txBody>
      </p:sp>
      <p:sp>
        <p:nvSpPr>
          <p:cNvPr id="11" name="toc-pages-1">
            <a:extLst xmlns:a="http://schemas.openxmlformats.org/drawingml/2006/main">
              <a:ext uri="{FF2B5EF4-FFF2-40B4-BE49-F238E27FC236}">
                <a16:creationId xmlns:a16="http://schemas.microsoft.com/office/drawing/2014/main" id="{6E4BE820-AA89-449D-A071-5BA47320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38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3 至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B4FB6-41A4-498A-9D40-48DACC7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c-number-2">
            <a:extLst xmlns:a="http://schemas.openxmlformats.org/drawingml/2006/main">
              <a:ext uri="{FF2B5EF4-FFF2-40B4-BE49-F238E27FC236}">
                <a16:creationId xmlns:a16="http://schemas.microsoft.com/office/drawing/2014/main" id="{3A827274-D798-424F-8625-62610D27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oc-title-2">
            <a:extLst xmlns:a="http://schemas.openxmlformats.org/drawingml/2006/main">
              <a:ext uri="{FF2B5EF4-FFF2-40B4-BE49-F238E27FC236}">
                <a16:creationId xmlns:a16="http://schemas.microsoft.com/office/drawing/2014/main" id="{CAA309E1-6E6F-4DE2-A786-030D2CB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产品闭环与功能框架</a:t>
            </a:r>
          </a:p>
        </p:txBody>
      </p:sp>
      <p:sp>
        <p:nvSpPr>
          <p:cNvPr id="15" name="toc-description-2">
            <a:extLst xmlns:a="http://schemas.openxmlformats.org/drawingml/2006/main">
              <a:ext uri="{FF2B5EF4-FFF2-40B4-BE49-F238E27FC236}">
                <a16:creationId xmlns:a16="http://schemas.microsoft.com/office/drawing/2014/main" id="{E3485713-65C6-4699-A2A1-BCF1F054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产品怎样形成完整学习闭环</a:t>
            </a:r>
          </a:p>
        </p:txBody>
      </p:sp>
      <p:sp>
        <p:nvSpPr>
          <p:cNvPr id="16" name="toc-pages-2">
            <a:extLst xmlns:a="http://schemas.openxmlformats.org/drawingml/2006/main">
              <a:ext uri="{FF2B5EF4-FFF2-40B4-BE49-F238E27FC236}">
                <a16:creationId xmlns:a16="http://schemas.microsoft.com/office/drawing/2014/main" id="{B99DC4DD-00DA-404D-9388-00A52C1A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6 至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6DB01-D7EA-4BD3-9407-587A8CE3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c-number-3">
            <a:extLst xmlns:a="http://schemas.openxmlformats.org/drawingml/2006/main">
              <a:ext uri="{FF2B5EF4-FFF2-40B4-BE49-F238E27FC236}">
                <a16:creationId xmlns:a16="http://schemas.microsoft.com/office/drawing/2014/main" id="{770123CA-BCDE-420A-93EE-C6819132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956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oc-title-3">
            <a:extLst xmlns:a="http://schemas.openxmlformats.org/drawingml/2006/main">
              <a:ext uri="{FF2B5EF4-FFF2-40B4-BE49-F238E27FC236}">
                <a16:creationId xmlns:a16="http://schemas.microsoft.com/office/drawing/2014/main" id="{98AC59D0-659B-4D49-9D29-62411C4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766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技术实现与可信机制</a:t>
            </a:r>
          </a:p>
        </p:txBody>
      </p:sp>
      <p:sp>
        <p:nvSpPr>
          <p:cNvPr id="20" name="toc-description-3">
            <a:extLst xmlns:a="http://schemas.openxmlformats.org/drawingml/2006/main">
              <a:ext uri="{FF2B5EF4-FFF2-40B4-BE49-F238E27FC236}">
                <a16:creationId xmlns:a16="http://schemas.microsoft.com/office/drawing/2014/main" id="{BF1BBB29-1889-4DA0-86B8-67F8DBBA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四智能体与可信技术方案</a:t>
            </a:r>
          </a:p>
        </p:txBody>
      </p:sp>
      <p:sp>
        <p:nvSpPr>
          <p:cNvPr id="21" name="toc-pages-3">
            <a:extLst xmlns:a="http://schemas.openxmlformats.org/drawingml/2006/main">
              <a:ext uri="{FF2B5EF4-FFF2-40B4-BE49-F238E27FC236}">
                <a16:creationId xmlns:a16="http://schemas.microsoft.com/office/drawing/2014/main" id="{1610749A-CB8A-42CD-964C-EF2DD8EE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8 至 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2EEAC-EBF8-4FDB-A7DF-C3EE18FB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c-number-4">
            <a:extLst xmlns:a="http://schemas.openxmlformats.org/drawingml/2006/main">
              <a:ext uri="{FF2B5EF4-FFF2-40B4-BE49-F238E27FC236}">
                <a16:creationId xmlns:a16="http://schemas.microsoft.com/office/drawing/2014/main" id="{D7F52884-3CF4-4344-8CB3-27319EC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oc-title-4">
            <a:extLst xmlns:a="http://schemas.openxmlformats.org/drawingml/2006/main">
              <a:ext uri="{FF2B5EF4-FFF2-40B4-BE49-F238E27FC236}">
                <a16:creationId xmlns:a16="http://schemas.microsoft.com/office/drawing/2014/main" id="{28C38F44-78B9-4DE2-8ADA-CEF1431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实施计划与双人分工</a:t>
            </a:r>
          </a:p>
        </p:txBody>
      </p:sp>
      <p:sp>
        <p:nvSpPr>
          <p:cNvPr id="25" name="toc-description-4">
            <a:extLst xmlns:a="http://schemas.openxmlformats.org/drawingml/2006/main">
              <a:ext uri="{FF2B5EF4-FFF2-40B4-BE49-F238E27FC236}">
                <a16:creationId xmlns:a16="http://schemas.microsoft.com/office/drawing/2014/main" id="{B39A7D77-D20F-48D8-ACA8-C1795C93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项目怎样推进，两人如何协作</a:t>
            </a:r>
          </a:p>
        </p:txBody>
      </p:sp>
      <p:sp>
        <p:nvSpPr>
          <p:cNvPr id="26" name="toc-pages-4">
            <a:extLst xmlns:a="http://schemas.openxmlformats.org/drawingml/2006/main">
              <a:ext uri="{FF2B5EF4-FFF2-40B4-BE49-F238E27FC236}">
                <a16:creationId xmlns:a16="http://schemas.microsoft.com/office/drawing/2014/main" id="{BD87CFDD-C7E1-46B2-89E8-E2F87666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14 至 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5A713-DDF2-4422-AC09-928AAEF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9650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c-number-5">
            <a:extLst xmlns:a="http://schemas.openxmlformats.org/drawingml/2006/main">
              <a:ext uri="{FF2B5EF4-FFF2-40B4-BE49-F238E27FC236}">
                <a16:creationId xmlns:a16="http://schemas.microsoft.com/office/drawing/2014/main" id="{669B5ACA-B868-4AE1-8858-8C70F4C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oc-title-5">
            <a:extLst xmlns:a="http://schemas.openxmlformats.org/drawingml/2006/main">
              <a:ext uri="{FF2B5EF4-FFF2-40B4-BE49-F238E27FC236}">
                <a16:creationId xmlns:a16="http://schemas.microsoft.com/office/drawing/2014/main" id="{3F393347-BB44-4A63-9804-D79E6151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53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风险控制与下一步</a:t>
            </a:r>
          </a:p>
        </p:txBody>
      </p:sp>
      <p:sp>
        <p:nvSpPr>
          <p:cNvPr id="30" name="toc-description-5">
            <a:extLst xmlns:a="http://schemas.openxmlformats.org/drawingml/2006/main">
              <a:ext uri="{FF2B5EF4-FFF2-40B4-BE49-F238E27FC236}">
                <a16:creationId xmlns:a16="http://schemas.microsoft.com/office/drawing/2014/main" id="{E8F160BA-5C66-4853-AAF4-EC6F2F51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14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控制范围与协作风险</a:t>
            </a:r>
          </a:p>
        </p:txBody>
      </p:sp>
      <p:sp>
        <p:nvSpPr>
          <p:cNvPr id="31" name="toc-pages-5">
            <a:extLst xmlns:a="http://schemas.openxmlformats.org/drawingml/2006/main">
              <a:ext uri="{FF2B5EF4-FFF2-40B4-BE49-F238E27FC236}">
                <a16:creationId xmlns:a16="http://schemas.microsoft.com/office/drawing/2014/main" id="{659A743A-7E19-4FB8-B66A-71263A2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91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84DD86-235F-4826-BCEC-988AD9B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804989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3E062-B30E-4B73-B87C-354ED78E96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3905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E5C01-105D-48C6-8E71-FF84238A91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1955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586C3B2-AB2A-4686-B394-5835A760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BD52F5-9B35-4F82-A897-4B788BF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需求、设计与技术基线已完成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141B93-F432-46DB-9384-B55EEFE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项目进入工程实施阶段</a:t>
            </a:r>
          </a:p>
        </p:txBody>
      </p:sp>
      <p:sp>
        <p:nvSpPr>
          <p:cNvPr id="4" name="status-complete">
            <a:extLst xmlns:a="http://schemas.openxmlformats.org/drawingml/2006/main">
              <a:ext uri="{FF2B5EF4-FFF2-40B4-BE49-F238E27FC236}">
                <a16:creationId xmlns:a16="http://schemas.microsoft.com/office/drawing/2014/main" id="{BA0F1904-FC10-4386-B011-8C9FB013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已完成：设计与技术基线</a:t>
            </a:r>
          </a:p>
        </p:txBody>
      </p:sp>
      <p:sp>
        <p:nvSpPr>
          <p:cNvPr id="5" name="status-current">
            <a:extLst xmlns:a="http://schemas.openxmlformats.org/drawingml/2006/main">
              <a:ext uri="{FF2B5EF4-FFF2-40B4-BE49-F238E27FC236}">
                <a16:creationId xmlns:a16="http://schemas.microsoft.com/office/drawing/2014/main" id="{640A50A8-DE5C-4BE1-9338-1DD28D4C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当前：技术实施准备</a:t>
            </a:r>
          </a:p>
        </p:txBody>
      </p:sp>
      <p:sp>
        <p:nvSpPr>
          <p:cNvPr id="6" name="status-next">
            <a:extLst xmlns:a="http://schemas.openxmlformats.org/drawingml/2006/main">
              <a:ext uri="{FF2B5EF4-FFF2-40B4-BE49-F238E27FC236}">
                <a16:creationId xmlns:a16="http://schemas.microsoft.com/office/drawing/2014/main" id="{53E38692-53CB-470D-8188-FF0B470C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58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待完成：原型与现场演示</a:t>
            </a:r>
          </a:p>
        </p:txBody>
      </p:sp>
      <p:sp>
        <p:nvSpPr>
          <p:cNvPr id="9" name="completed-heading">
            <a:extLst xmlns:a="http://schemas.openxmlformats.org/drawingml/2006/main">
              <a:ext uri="{FF2B5EF4-FFF2-40B4-BE49-F238E27FC236}">
                <a16:creationId xmlns:a16="http://schemas.microsoft.com/office/drawing/2014/main" id="{4F3274E9-DA17-4174-B9CE-729100DF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completed-list">
            <a:extLst xmlns:a="http://schemas.openxmlformats.org/drawingml/2006/main">
              <a:ext uri="{FF2B5EF4-FFF2-40B4-BE49-F238E27FC236}">
                <a16:creationId xmlns:a16="http://schemas.microsoft.com/office/drawing/2014/main" id="{BBE6A28A-3A38-4FD0-9DE1-FBE563A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设计方案 v1.4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需求规格说明书 v1.2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技术设计说明书 v1.1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四智能体职责边界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现场闭环验收设计</a:t>
            </a:r>
          </a:p>
        </p:txBody>
      </p:sp>
      <p:sp>
        <p:nvSpPr>
          <p:cNvPr id="11" name="pending-heading">
            <a:extLst xmlns:a="http://schemas.openxmlformats.org/drawingml/2006/main">
              <a:ext uri="{FF2B5EF4-FFF2-40B4-BE49-F238E27FC236}">
                <a16:creationId xmlns:a16="http://schemas.microsoft.com/office/drawing/2014/main" id="{CC98B177-ED7E-454A-A911-81A3CC75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12" name="pending-list">
            <a:extLst xmlns:a="http://schemas.openxmlformats.org/drawingml/2006/main">
              <a:ext uri="{FF2B5EF4-FFF2-40B4-BE49-F238E27FC236}">
                <a16:creationId xmlns:a16="http://schemas.microsoft.com/office/drawing/2014/main" id="{B0B0CCC2-074D-44FA-AC7E-F68EE4A5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核心代码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13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74C4BC76-9866-41E7-B175-6A5CD22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近期行动</a:t>
            </a:r>
          </a:p>
        </p:txBody>
      </p:sp>
      <p:sp>
        <p:nvSpPr>
          <p:cNvPr id="14" name="next-list">
            <a:extLst xmlns:a="http://schemas.openxmlformats.org/drawingml/2006/main">
              <a:ext uri="{FF2B5EF4-FFF2-40B4-BE49-F238E27FC236}">
                <a16:creationId xmlns:a16="http://schemas.microsoft.com/office/drawing/2014/main" id="{AE68214F-D504-4FF7-87A7-1A335ECF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技术环境验证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数据 Schema 设计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 与知识图谱准备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规划主链路实现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0920C-D4CB-4BD8-95DD-CBF7688E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E8C1D48B-A14B-4311-AB7B-35B299C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本次汇报说明准备怎么做，以及为什么这套方案能够被验收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F922BE-A80F-45E9-8324-77C18B8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395272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5BE3DE7-5751-4528-86C3-2CF0FE9B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C34238-3310-4D59-A241-E0CCEA67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学生缺少可执行的学习路径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67999D-316E-4795-B86F-EF0FC66A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资源列表无法回答“先学什么、是否来得及、如何调整”</a:t>
            </a:r>
          </a:p>
        </p:txBody>
      </p:sp>
      <p:sp>
        <p:nvSpPr>
          <p:cNvPr id="4" name="student-avatar">
            <a:extLst xmlns:a="http://schemas.openxmlformats.org/drawingml/2006/main">
              <a:ext uri="{FF2B5EF4-FFF2-40B4-BE49-F238E27FC236}">
                <a16:creationId xmlns:a16="http://schemas.microsoft.com/office/drawing/2014/main" id="{7F1EBC30-C2E6-4E5E-916D-D31FDA0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低年级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计算机专业</a:t>
            </a:r>
          </a:p>
        </p:txBody>
      </p:sp>
      <p:sp>
        <p:nvSpPr>
          <p:cNvPr id="5" name="persona-label">
            <a:extLst xmlns:a="http://schemas.openxmlformats.org/drawingml/2006/main">
              <a:ext uri="{FF2B5EF4-FFF2-40B4-BE49-F238E27FC236}">
                <a16:creationId xmlns:a16="http://schemas.microsoft.com/office/drawing/2014/main" id="{23B18BBB-3E7E-4A0F-B4DB-7C76D55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典型状态</a:t>
            </a:r>
          </a:p>
        </p:txBody>
      </p:sp>
      <p:sp>
        <p:nvSpPr>
          <p:cNvPr id="6" name="persona-copy">
            <a:extLst xmlns:a="http://schemas.openxmlformats.org/drawingml/2006/main">
              <a:ext uri="{FF2B5EF4-FFF2-40B4-BE49-F238E27FC236}">
                <a16:creationId xmlns:a16="http://schemas.microsoft.com/office/drawing/2014/main" id="{74B94E35-EFBB-4119-A3EA-F8FC4C5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学过 Python 语法，能完成简单程序，但尚未形成系统的知识结构。</a:t>
            </a:r>
          </a:p>
        </p:txBody>
      </p:sp>
      <p:sp>
        <p:nvSpPr>
          <p:cNvPr id="7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384C2C3E-8ABF-4233-9439-C25DE63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缺少前置知识判断</a:t>
            </a:r>
          </a:p>
        </p:txBody>
      </p:sp>
      <p:sp>
        <p:nvSpPr>
          <p:cNvPr id="8" name="pain-copy-1">
            <a:extLst xmlns:a="http://schemas.openxmlformats.org/drawingml/2006/main">
              <a:ext uri="{FF2B5EF4-FFF2-40B4-BE49-F238E27FC236}">
                <a16:creationId xmlns:a16="http://schemas.microsoft.com/office/drawing/2014/main" id="{699E607D-C940-4CB5-ADAA-4EBEC285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不知道目标技能之前还缺什么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59D59-CED7-48F8-8442-76F46B3F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6689902C-11B0-4304-9FB8-4296D930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时间预算不可验证</a:t>
            </a:r>
          </a:p>
        </p:txBody>
      </p:sp>
      <p:sp>
        <p:nvSpPr>
          <p:cNvPr id="11" name="pain-copy-2">
            <a:extLst xmlns:a="http://schemas.openxmlformats.org/drawingml/2006/main">
              <a:ext uri="{FF2B5EF4-FFF2-40B4-BE49-F238E27FC236}">
                <a16:creationId xmlns:a16="http://schemas.microsoft.com/office/drawing/2014/main" id="{EEDEC411-F354-40C5-89DA-F8986AE5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无法判断计划能否在期限内完成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27AD1-CBFF-41C7-B235-70F8B5F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2B5319DB-F4EC-402C-819C-0803467F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计划不会随证据变化</a:t>
            </a:r>
          </a:p>
        </p:txBody>
      </p:sp>
      <p:sp>
        <p:nvSpPr>
          <p:cNvPr id="14" name="pain-copy-3">
            <a:extLst xmlns:a="http://schemas.openxmlformats.org/drawingml/2006/main">
              <a:ext uri="{FF2B5EF4-FFF2-40B4-BE49-F238E27FC236}">
                <a16:creationId xmlns:a16="http://schemas.microsoft.com/office/drawing/2014/main" id="{3E32A3F0-022E-492C-8094-B61864D0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测验未达标后仍按原顺序推进</a:t>
            </a:r>
          </a:p>
        </p:txBody>
      </p:sp>
      <p:sp>
        <p:nvSpPr>
          <p:cNvPr id="15" name="goal-band">
            <a:extLst xmlns:a="http://schemas.openxmlformats.org/drawingml/2006/main">
              <a:ext uri="{FF2B5EF4-FFF2-40B4-BE49-F238E27FC236}">
                <a16:creationId xmlns:a16="http://schemas.microsoft.com/office/drawing/2014/main" id="{CC9125E4-D27D-4D28-B073-14924901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项目目标：给出有依据、可执行、能随学习证据调整的学习路径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EDE018-CA67-4ECA-920D-D8D2D6E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1924586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DD8961B-170D-455C-BEF4-C8E70B13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5FD0FA-E284-440C-A236-23B62E1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项目聚焦学生端学习闭环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52615C-3029-46AE-830A-184EC4B6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用明确边界保证核心技术链路能够完成和验收</a:t>
            </a:r>
          </a:p>
        </p:txBody>
      </p:sp>
      <p:sp>
        <p:nvSpPr>
          <p:cNvPr id="4" name="scope-in-heading">
            <a:extLst xmlns:a="http://schemas.openxmlformats.org/drawingml/2006/main">
              <a:ext uri="{FF2B5EF4-FFF2-40B4-BE49-F238E27FC236}">
                <a16:creationId xmlns:a16="http://schemas.microsoft.com/office/drawing/2014/main" id="{2EF83C64-5E60-446B-AC84-FFEFCE3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本期范围</a:t>
            </a:r>
          </a:p>
        </p:txBody>
      </p:sp>
      <p:sp>
        <p:nvSpPr>
          <p:cNvPr id="5" name="scope-in-list">
            <a:extLst xmlns:a="http://schemas.openxmlformats.org/drawingml/2006/main">
              <a:ext uri="{FF2B5EF4-FFF2-40B4-BE49-F238E27FC236}">
                <a16:creationId xmlns:a16="http://schemas.microsoft.com/office/drawing/2014/main" id="{A09BB44A-19CF-4C38-9C01-15AB427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目标创建与自然语言解析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基础诊断与学习者画像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RAG、知识图谱与路径规划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打卡、测验、BKT 与重规划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QLoRA 微调、模型评估与轨迹</a:t>
            </a:r>
          </a:p>
        </p:txBody>
      </p:sp>
      <p:sp>
        <p:nvSpPr>
          <p:cNvPr id="6" name="scope-out-heading">
            <a:extLst xmlns:a="http://schemas.openxmlformats.org/drawingml/2006/main">
              <a:ext uri="{FF2B5EF4-FFF2-40B4-BE49-F238E27FC236}">
                <a16:creationId xmlns:a16="http://schemas.microsoft.com/office/drawing/2014/main" id="{6294BE52-B5D6-41B2-AFA6-1C89A88A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621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非目标</a:t>
            </a:r>
          </a:p>
        </p:txBody>
      </p:sp>
      <p:sp>
        <p:nvSpPr>
          <p:cNvPr id="7" name="scope-out-list">
            <a:extLst xmlns:a="http://schemas.openxmlformats.org/drawingml/2006/main">
              <a:ext uri="{FF2B5EF4-FFF2-40B4-BE49-F238E27FC236}">
                <a16:creationId xmlns:a16="http://schemas.microsoft.com/office/drawing/2014/main" id="{75226DCB-2342-4C6A-AA4E-98D3C8F7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教师端与多人课堂管理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教务系统与统一身份认证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互联网资料自动抓取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代码沙箱与在线判题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生产级云部署与高可用集群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0D3AF-6448-4319-8617-26DA530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ccess-criterion-1">
            <a:extLst xmlns:a="http://schemas.openxmlformats.org/drawingml/2006/main">
              <a:ext uri="{FF2B5EF4-FFF2-40B4-BE49-F238E27FC236}">
                <a16:creationId xmlns:a16="http://schemas.microsoft.com/office/drawing/2014/main" id="{35DEA03A-4DCD-4594-B01A-9237BCD3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路径满足先修与时间预算</a:t>
            </a:r>
          </a:p>
        </p:txBody>
      </p:sp>
      <p:sp>
        <p:nvSpPr>
          <p:cNvPr id="10" name="success-criterion-2">
            <a:extLst xmlns:a="http://schemas.openxmlformats.org/drawingml/2006/main">
              <a:ext uri="{FF2B5EF4-FFF2-40B4-BE49-F238E27FC236}">
                <a16:creationId xmlns:a16="http://schemas.microsoft.com/office/drawing/2014/main" id="{0B9FA568-8D09-4C2C-9EB8-F09E6325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每个正式节点有真实引用</a:t>
            </a:r>
          </a:p>
        </p:txBody>
      </p:sp>
      <p:sp>
        <p:nvSpPr>
          <p:cNvPr id="11" name="success-criterion-3">
            <a:extLst xmlns:a="http://schemas.openxmlformats.org/drawingml/2006/main">
              <a:ext uri="{FF2B5EF4-FFF2-40B4-BE49-F238E27FC236}">
                <a16:creationId xmlns:a16="http://schemas.microsoft.com/office/drawing/2014/main" id="{6C7A67D3-1EC3-4DFE-9293-9F08AAAA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81600"/>
            <a:ext cx="3314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未达标证据触发补强与重规划</a:t>
            </a:r>
          </a:p>
        </p:txBody>
      </p:sp>
      <p:sp>
        <p:nvSpPr>
          <p:cNvPr id="12" name="scope-mainline">
            <a:extLst xmlns:a="http://schemas.openxmlformats.org/drawingml/2006/main">
              <a:ext uri="{FF2B5EF4-FFF2-40B4-BE49-F238E27FC236}">
                <a16:creationId xmlns:a16="http://schemas.microsoft.com/office/drawing/2014/main" id="{60F4743B-9384-465D-B9EE-5249CAB5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完整验收主线：Python 基础 → 数据结构与算法 → 后端开发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5A5583-4BC9-4DA4-9561-C499B1C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223059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BBD63-2AD3-4F1D-8EDC-32784D552778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5057775" y="3562350"/>
            <a:ext cx="5429250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0F766E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B6D80-4023-46DA-B971-A961A6B7E44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4297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C7EB0-A29D-45DB-A368-9BBA7807842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5C842-30CB-498F-A6B3-34AC5F75324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43663-AB68-4A66-9729-C01F1A85826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4BAA0-B5AF-4BAC-8D4C-B45FED3F876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9075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BD8A575-CA81-40AE-BDDA-C832D095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E0A82B-BCC8-408B-9CE9-DABB0768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六阶段闭环覆盖目标、执行与反馈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15FD86-4B01-4C6C-93A4-0BAF884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现场验收沿同一条业务链连续完成</a:t>
            </a:r>
          </a:p>
        </p:txBody>
      </p:sp>
      <p:sp>
        <p:nvSpPr>
          <p:cNvPr id="4" name="loop-step-1">
            <a:extLst xmlns:a="http://schemas.openxmlformats.org/drawingml/2006/main">
              <a:ext uri="{FF2B5EF4-FFF2-40B4-BE49-F238E27FC236}">
                <a16:creationId xmlns:a16="http://schemas.microsoft.com/office/drawing/2014/main" id="{91D9C0CC-CAF6-46F9-9183-0886E6C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loop-step-2">
            <a:extLst xmlns:a="http://schemas.openxmlformats.org/drawingml/2006/main">
              <a:ext uri="{FF2B5EF4-FFF2-40B4-BE49-F238E27FC236}">
                <a16:creationId xmlns:a16="http://schemas.microsoft.com/office/drawing/2014/main" id="{57EBC97C-FFD8-41E6-9F9E-3729A22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诊断起点</a:t>
            </a:r>
          </a:p>
        </p:txBody>
      </p:sp>
      <p:sp>
        <p:nvSpPr>
          <p:cNvPr id="6" name="loop-step-3">
            <a:extLst xmlns:a="http://schemas.openxmlformats.org/drawingml/2006/main">
              <a:ext uri="{FF2B5EF4-FFF2-40B4-BE49-F238E27FC236}">
                <a16:creationId xmlns:a16="http://schemas.microsoft.com/office/drawing/2014/main" id="{68380EE3-7C7D-442C-BD03-A42C842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loop-step-4">
            <a:extLst xmlns:a="http://schemas.openxmlformats.org/drawingml/2006/main">
              <a:ext uri="{FF2B5EF4-FFF2-40B4-BE49-F238E27FC236}">
                <a16:creationId xmlns:a16="http://schemas.microsoft.com/office/drawing/2014/main" id="{13E5EB7E-AE03-4ED5-BA42-C8FE362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loop-step-5">
            <a:extLst xmlns:a="http://schemas.openxmlformats.org/drawingml/2006/main">
              <a:ext uri="{FF2B5EF4-FFF2-40B4-BE49-F238E27FC236}">
                <a16:creationId xmlns:a16="http://schemas.microsoft.com/office/drawing/2014/main" id="{23BC99B3-4467-4F9E-B5A4-04B455EF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loop-step-6">
            <a:extLst xmlns:a="http://schemas.openxmlformats.org/drawingml/2006/main">
              <a:ext uri="{FF2B5EF4-FFF2-40B4-BE49-F238E27FC236}">
                <a16:creationId xmlns:a16="http://schemas.microsoft.com/office/drawing/2014/main" id="{15ACE8F4-38B1-4B53-955A-CA9F49B4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loop-annotation">
            <a:extLst xmlns:a="http://schemas.openxmlformats.org/drawingml/2006/main">
              <a:ext uri="{FF2B5EF4-FFF2-40B4-BE49-F238E27FC236}">
                <a16:creationId xmlns:a16="http://schemas.microsoft.com/office/drawing/2014/main" id="{C7A7C365-7B24-4E0B-BD26-221D6D6E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未达标或约束变化时回到规划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3F601-B754-4B8F-B24E-76DA5BD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requirement">
            <a:extLst xmlns:a="http://schemas.openxmlformats.org/drawingml/2006/main">
              <a:ext uri="{FF2B5EF4-FFF2-40B4-BE49-F238E27FC236}">
                <a16:creationId xmlns:a16="http://schemas.microsoft.com/office/drawing/2014/main" id="{CA1AFE89-B1F4-492A-8E75-4DBF03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业务要求：状态持久化、结构化输出、可检查通过条件</a:t>
            </a:r>
          </a:p>
        </p:txBody>
      </p:sp>
      <p:sp>
        <p:nvSpPr>
          <p:cNvPr id="19" name="loop-demo-rule">
            <a:extLst xmlns:a="http://schemas.openxmlformats.org/drawingml/2006/main">
              <a:ext uri="{FF2B5EF4-FFF2-40B4-BE49-F238E27FC236}">
                <a16:creationId xmlns:a16="http://schemas.microsoft.com/office/drawing/2014/main" id="{271E195B-691C-4F40-B38A-30CFBFE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72100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现场要求：无预生成路径、无缓存规划、无人工改库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5D1707-C94A-408C-B9E7-6C0F598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778443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D57BB53-5480-44FD-8D7C-43E99C36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F273D7-D0FD-42C0-9154-6118665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功能框架围绕闭环分层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033DB0-80DD-462E-B2B7-1227D1F1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业务操作、智能规划、学习模型和可信数据各司其职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F4ED4-2245-4F13-B132-8D1A67671EC8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820150"/>
              </a:tblGrid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学生业务层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目标管理、基础诊断、学习路径、今日任务、证据验收、重规划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智能规划层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GoalDiagnosisAgent、PathBuildingAgent、PlanReviewAgent、LearningReplanAgent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学习模型层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学习者画像、BKT、执行偏差、掌握度快照、重规划判断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可信数据层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RAG、真实引用、文档版本、模型版本、Agent 轨迹与运行记录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functional-principle">
            <a:extLst xmlns:a="http://schemas.openxmlformats.org/drawingml/2006/main">
              <a:ext uri="{FF2B5EF4-FFF2-40B4-BE49-F238E27FC236}">
                <a16:creationId xmlns:a16="http://schemas.microsoft.com/office/drawing/2014/main" id="{64B1E278-821A-47AE-8C8D-98734122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核心原则：语言模型提供候选，系统和证据决定内容能否进入正式路径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DF4FA6-DA57-4B66-B31D-5360D62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639299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76A61C-ADCA-4972-ABCB-62C963700821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096000" y="4705350"/>
            <a:ext cx="40767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31401-FD08-46B1-90DD-C97A544C5756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096000" y="4705350"/>
            <a:ext cx="19431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A8CCD-0FC5-4B20-86BB-26D1998D9113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905500" y="4705350"/>
            <a:ext cx="1905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423F7-7C90-44EE-AE5A-032E49E8A895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771900" y="4705350"/>
            <a:ext cx="23241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152A6-0618-4F62-9AA2-402BB1135107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638300" y="4705350"/>
            <a:ext cx="44577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79A3E-489D-4CB3-A05F-EE3B3C34315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934575" y="3505200"/>
            <a:ext cx="23812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E0093-5E81-494A-B173-E78EA254004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248525" y="3505200"/>
            <a:ext cx="79057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0865C-E5EB-4211-A3F7-2BA2E11F946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858000" y="4371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4BB07-5D49-4ADF-872E-7A3C29CB87E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24400" y="4371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4A726-E824-4B61-85B0-DA7457B18EA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3771900" y="3505200"/>
            <a:ext cx="79057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3864C-ABD0-4D30-80C6-81910540E22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638300" y="3505200"/>
            <a:ext cx="23812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D9E2EC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57E3A-CF7B-42A4-B424-CD0A3636077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258050" y="2305050"/>
            <a:ext cx="26765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7DBFF-A1A8-463E-9A3E-1E555555F2F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248525" y="2305050"/>
            <a:ext cx="95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67401-DE6E-4BB2-AE00-9D2AFA6CE4C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4562475" y="2305050"/>
            <a:ext cx="26955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F7B1E-F9AA-4E52-8776-572214B7BBA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76425" y="2305050"/>
            <a:ext cx="53816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7C849-6F32-44DD-B774-9BD12F0132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43550" y="1962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C3F73-5FDC-4ED4-9513-CA160E74305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71800" y="1962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AE38C26-E7E3-4800-80AE-90C18292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59AE5D-F54E-4342-85D6-51541FE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四智能体架构运行在本地模块化单体中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B7F87F-5013-4C66-8551-B2E49C29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Coordinator 负责路由，专业 Agent 通过共享状态交接</a:t>
            </a:r>
          </a:p>
        </p:txBody>
      </p:sp>
      <p:sp>
        <p:nvSpPr>
          <p:cNvPr id="4" name="arch-frontend">
            <a:extLst xmlns:a="http://schemas.openxmlformats.org/drawingml/2006/main">
              <a:ext uri="{FF2B5EF4-FFF2-40B4-BE49-F238E27FC236}">
                <a16:creationId xmlns:a16="http://schemas.microsoft.com/office/drawing/2014/main" id="{615A93C5-9425-4B0F-B7B2-4B35A39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React 学生端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目标、路径、任务、测验</a:t>
            </a:r>
          </a:p>
        </p:txBody>
      </p:sp>
      <p:sp>
        <p:nvSpPr>
          <p:cNvPr id="5" name="arch-api">
            <a:extLst xmlns:a="http://schemas.openxmlformats.org/drawingml/2006/main">
              <a:ext uri="{FF2B5EF4-FFF2-40B4-BE49-F238E27FC236}">
                <a16:creationId xmlns:a16="http://schemas.microsoft.com/office/drawing/2014/main" id="{B6B2AC51-9C09-4E2E-A83C-6FB0364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REST API + Schema</a:t>
            </a:r>
          </a:p>
        </p:txBody>
      </p:sp>
      <p:sp>
        <p:nvSpPr>
          <p:cNvPr id="6" name="arch-coordinator">
            <a:extLst xmlns:a="http://schemas.openxmlformats.org/drawingml/2006/main">
              <a:ext uri="{FF2B5EF4-FFF2-40B4-BE49-F238E27FC236}">
                <a16:creationId xmlns:a16="http://schemas.microsoft.com/office/drawing/2014/main" id="{91323ADF-C16C-4E32-B80D-7BDFEE33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1925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LangGraph Coordinator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选择 Agent、条件边、有限重试</a:t>
            </a:r>
          </a:p>
        </p:txBody>
      </p:sp>
      <p:sp>
        <p:nvSpPr>
          <p:cNvPr id="9" name="arch-agent-1">
            <a:extLst xmlns:a="http://schemas.openxmlformats.org/drawingml/2006/main">
              <a:ext uri="{FF2B5EF4-FFF2-40B4-BE49-F238E27FC236}">
                <a16:creationId xmlns:a16="http://schemas.microsoft.com/office/drawing/2014/main" id="{6A469A69-2CE8-4669-8D31-3E59BD5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GoalDiagnosisAgent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目标、诊断、画像</a:t>
            </a:r>
          </a:p>
        </p:txBody>
      </p:sp>
      <p:sp>
        <p:nvSpPr>
          <p:cNvPr id="10" name="arch-agent-2">
            <a:extLst xmlns:a="http://schemas.openxmlformats.org/drawingml/2006/main">
              <a:ext uri="{FF2B5EF4-FFF2-40B4-BE49-F238E27FC236}">
                <a16:creationId xmlns:a16="http://schemas.microsoft.com/office/drawing/2014/main" id="{DBB059EF-7F32-4863-804D-A8963F30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PathBuildingAgent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内容、RAG、路径</a:t>
            </a:r>
          </a:p>
        </p:txBody>
      </p:sp>
      <p:sp>
        <p:nvSpPr>
          <p:cNvPr id="11" name="arch-agent-3">
            <a:extLst xmlns:a="http://schemas.openxmlformats.org/drawingml/2006/main">
              <a:ext uri="{FF2B5EF4-FFF2-40B4-BE49-F238E27FC236}">
                <a16:creationId xmlns:a16="http://schemas.microsoft.com/office/drawing/2014/main" id="{8927FFB7-4E51-483F-B67D-49F174E2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引用、先修、预算</a:t>
            </a:r>
          </a:p>
        </p:txBody>
      </p:sp>
      <p:sp>
        <p:nvSpPr>
          <p:cNvPr id="12" name="arch-agent-4">
            <a:extLst xmlns:a="http://schemas.openxmlformats.org/drawingml/2006/main">
              <a:ext uri="{FF2B5EF4-FFF2-40B4-BE49-F238E27FC236}">
                <a16:creationId xmlns:a16="http://schemas.microsoft.com/office/drawing/2014/main" id="{8E15104A-3B29-4730-AC28-F52B688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证据、BKT、重规划</a:t>
            </a:r>
          </a:p>
        </p:txBody>
      </p:sp>
      <p:sp>
        <p:nvSpPr>
          <p:cNvPr id="17" name="arch-agent-state">
            <a:extLst xmlns:a="http://schemas.openxmlformats.org/drawingml/2006/main">
              <a:ext uri="{FF2B5EF4-FFF2-40B4-BE49-F238E27FC236}">
                <a16:creationId xmlns:a16="http://schemas.microsoft.com/office/drawing/2014/main" id="{E9A40D9C-16C4-41C3-886F-CF296323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AgentState  共享目标、诊断、证据、候选路径、审查结果、掌握度与重试计数</a:t>
            </a:r>
          </a:p>
        </p:txBody>
      </p:sp>
      <p:sp>
        <p:nvSpPr>
          <p:cNvPr id="18" name="arch-tool-1">
            <a:extLst xmlns:a="http://schemas.openxmlformats.org/drawingml/2006/main">
              <a:ext uri="{FF2B5EF4-FFF2-40B4-BE49-F238E27FC236}">
                <a16:creationId xmlns:a16="http://schemas.microsoft.com/office/drawing/2014/main" id="{CA09E552-0E47-49EC-AFCB-7162A76A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Ollama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19" name="arch-tool-2">
            <a:extLst xmlns:a="http://schemas.openxmlformats.org/drawingml/2006/main">
              <a:ext uri="{FF2B5EF4-FFF2-40B4-BE49-F238E27FC236}">
                <a16:creationId xmlns:a16="http://schemas.microsoft.com/office/drawing/2014/main" id="{D54CC9FE-8B22-49F5-9FAF-26991CE9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Chroma + FTS5</a:t>
            </a:r>
          </a:p>
        </p:txBody>
      </p:sp>
      <p:sp>
        <p:nvSpPr>
          <p:cNvPr id="20" name="arch-tool-3">
            <a:extLst xmlns:a="http://schemas.openxmlformats.org/drawingml/2006/main">
              <a:ext uri="{FF2B5EF4-FFF2-40B4-BE49-F238E27FC236}">
                <a16:creationId xmlns:a16="http://schemas.microsoft.com/office/drawing/2014/main" id="{37FE4DB8-3E1A-442A-89EF-1BD4BBB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DAG + 拓扑排序</a:t>
            </a:r>
          </a:p>
        </p:txBody>
      </p:sp>
      <p:sp>
        <p:nvSpPr>
          <p:cNvPr id="21" name="arch-tool-4">
            <a:extLst xmlns:a="http://schemas.openxmlformats.org/drawingml/2006/main">
              <a:ext uri="{FF2B5EF4-FFF2-40B4-BE49-F238E27FC236}">
                <a16:creationId xmlns:a16="http://schemas.microsoft.com/office/drawing/2014/main" id="{77A74560-3BD7-4AB4-AF3D-EB21879F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Planning + Rules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搜索 + 校验</a:t>
            </a:r>
          </a:p>
        </p:txBody>
      </p:sp>
      <p:sp>
        <p:nvSpPr>
          <p:cNvPr id="22" name="arch-tool-5">
            <a:extLst xmlns:a="http://schemas.openxmlformats.org/drawingml/2006/main">
              <a:ext uri="{FF2B5EF4-FFF2-40B4-BE49-F238E27FC236}">
                <a16:creationId xmlns:a16="http://schemas.microsoft.com/office/drawing/2014/main" id="{6D507D20-5B8D-4D44-8468-45A1971B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 + Replan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 + 调整</a:t>
            </a:r>
          </a:p>
        </p:txBody>
      </p:sp>
      <p:sp>
        <p:nvSpPr>
          <p:cNvPr id="29" name="arch-data-layer">
            <a:extLst xmlns:a="http://schemas.openxmlformats.org/drawingml/2006/main">
              <a:ext uri="{FF2B5EF4-FFF2-40B4-BE49-F238E27FC236}">
                <a16:creationId xmlns:a16="http://schemas.microsoft.com/office/drawing/2014/main" id="{6D9FA027-DF3F-4092-A10D-3E749FD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本地数据层：SQLite 业务数据，Chroma 向量索引，SQLite FTS5 文本检索，文件系统模型产物</a:t>
            </a:r>
          </a:p>
        </p:txBody>
      </p:sp>
      <p:sp>
        <p:nvSpPr>
          <p:cNvPr id="35" name="arch-training">
            <a:extLst xmlns:a="http://schemas.openxmlformats.org/drawingml/2006/main">
              <a:ext uri="{FF2B5EF4-FFF2-40B4-BE49-F238E27FC236}">
                <a16:creationId xmlns:a16="http://schemas.microsoft.com/office/drawing/2014/main" id="{B7563697-29EF-4E55-8E29-E6A7A3C1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66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Training CLI：QLoRA + 模型评估</a:t>
            </a:r>
          </a:p>
        </p:txBody>
      </p:sp>
      <p:sp>
        <p:nvSpPr>
          <p:cNvPr id="36" name="arch-boundary-1">
            <a:extLst xmlns:a="http://schemas.openxmlformats.org/drawingml/2006/main">
              <a:ext uri="{FF2B5EF4-FFF2-40B4-BE49-F238E27FC236}">
                <a16:creationId xmlns:a16="http://schemas.microsoft.com/office/drawing/2014/main" id="{2E84946C-58FB-4EB1-96C5-501F789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62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Coordinator 只路由，不生成业务内容</a:t>
            </a:r>
          </a:p>
        </p:txBody>
      </p:sp>
      <p:sp>
        <p:nvSpPr>
          <p:cNvPr id="37" name="arch-boundary-2">
            <a:extLst xmlns:a="http://schemas.openxmlformats.org/drawingml/2006/main">
              <a:ext uri="{FF2B5EF4-FFF2-40B4-BE49-F238E27FC236}">
                <a16:creationId xmlns:a16="http://schemas.microsoft.com/office/drawing/2014/main" id="{DAE3FDC9-1F10-4256-A132-477D317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9626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图谱与规则决定路径是否可行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323423-1487-4070-8034-825209D3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627040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24B8407-269D-4BC4-9C53-59D831A2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1179DD-D4F8-46BC-A88F-81058D7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小参数模型学习任务格式，不记忆课程事实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EA3DF9-45EF-4DB5-8A5B-07B43991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Qwen2.5-1.5B 与 QLoRA 在效果、显存和训练时间之间取平衡</a:t>
            </a:r>
          </a:p>
        </p:txBody>
      </p:sp>
      <p:sp>
        <p:nvSpPr>
          <p:cNvPr id="4" name="model-band">
            <a:extLst xmlns:a="http://schemas.openxmlformats.org/drawingml/2006/main">
              <a:ext uri="{FF2B5EF4-FFF2-40B4-BE49-F238E27FC236}">
                <a16:creationId xmlns:a16="http://schemas.microsoft.com/office/drawing/2014/main" id="{1FC4074E-4967-40ED-8BA2-89C44A8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Qwen2.5-1.5B-Instruct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4-bit QLoRA，Ollama 本地推理</a:t>
            </a:r>
          </a:p>
        </p:txBody>
      </p:sp>
      <p:sp>
        <p:nvSpPr>
          <p:cNvPr id="5" name="model-config-list">
            <a:extLst xmlns:a="http://schemas.openxmlformats.org/drawingml/2006/main">
              <a:ext uri="{FF2B5EF4-FFF2-40B4-BE49-F238E27FC236}">
                <a16:creationId xmlns:a16="http://schemas.microsoft.com/office/drawing/2014/main" id="{EED97548-A41B-44BB-8905-DDCD0D0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嵌入模型：nomic-embed-text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训练数据：600 至 1200 条审核后的 SFT 样本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训练划分：80% / 10% / 10%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默认配置：rank 16、alpha 32、dropout 0.05</a:t>
            </a:r>
          </a:p>
        </p:txBody>
      </p:sp>
      <p:sp>
        <p:nvSpPr>
          <p:cNvPr id="6" name="model-responsible-heading">
            <a:extLst xmlns:a="http://schemas.openxmlformats.org/drawingml/2006/main">
              <a:ext uri="{FF2B5EF4-FFF2-40B4-BE49-F238E27FC236}">
                <a16:creationId xmlns:a16="http://schemas.microsoft.com/office/drawing/2014/main" id="{9E8FB707-04B0-458C-B454-F23A30C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模型负责</a:t>
            </a:r>
          </a:p>
        </p:txBody>
      </p:sp>
      <p:sp>
        <p:nvSpPr>
          <p:cNvPr id="7" name="model-responsible-list">
            <a:extLst xmlns:a="http://schemas.openxmlformats.org/drawingml/2006/main">
              <a:ext uri="{FF2B5EF4-FFF2-40B4-BE49-F238E27FC236}">
                <a16:creationId xmlns:a16="http://schemas.microsoft.com/office/drawing/2014/main" id="{A3F2DBC8-1C3F-44E3-8CC3-D39D0150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拆解知识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生成任务与题目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生成候选路径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解释调整原因</a:t>
            </a:r>
          </a:p>
        </p:txBody>
      </p:sp>
      <p:sp>
        <p:nvSpPr>
          <p:cNvPr id="8" name="model-not-responsible-heading">
            <a:extLst xmlns:a="http://schemas.openxmlformats.org/drawingml/2006/main">
              <a:ext uri="{FF2B5EF4-FFF2-40B4-BE49-F238E27FC236}">
                <a16:creationId xmlns:a16="http://schemas.microsoft.com/office/drawing/2014/main" id="{07E15378-3DC0-4190-83A9-51449CC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不由模型决定</a:t>
            </a:r>
          </a:p>
        </p:txBody>
      </p:sp>
      <p:sp>
        <p:nvSpPr>
          <p:cNvPr id="9" name="model-not-responsible-list">
            <a:extLst xmlns:a="http://schemas.openxmlformats.org/drawingml/2006/main">
              <a:ext uri="{FF2B5EF4-FFF2-40B4-BE49-F238E27FC236}">
                <a16:creationId xmlns:a16="http://schemas.microsoft.com/office/drawing/2014/main" id="{58BD8AB6-0F51-412B-8056-80EFB6C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2305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课程事实真实性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最终路径可行性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掌握度更新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是否允许发布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8DABE-8362-4261-8B0C-3E95800B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CD303B0-7B99-4CB8-B253-20D71C3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A5E13692-281B-462A-93A4-55185ACB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JSON 合法率</a:t>
            </a:r>
          </a:p>
        </p:txBody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9A8A0D1-189F-42DF-95B5-89ECAE09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+10pp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2D4AC17-912A-4191-BFA5-ED0FF182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结构化成功率提升</a:t>
            </a:r>
          </a:p>
        </p:txBody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70EF958A-8FFD-43D9-B60F-ADDBBA3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A7577BAA-9A08-4C63-BBF4-CF5B9A2C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引用存在率</a:t>
            </a:r>
          </a:p>
        </p:txBody>
      </p:sp>
      <p:sp>
        <p:nvSpPr>
          <p:cNvPr id="17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406D7DAD-021E-4663-89D5-A9EAB24E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15712FFC-7CDE-4FC9-B118-B5FE7C7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硬先修冲突率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3AD6B0-872B-4FC3-BF63-8F94902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883662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0C216-C97B-44A6-BA25-DE2FE86880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6775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C8EC1-AC39-41B8-919D-3D7E232696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532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E26A1-9536-4678-873C-B5569A21F52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3865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13D08-0FD9-4A0B-9599-5DE6FE658BD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1971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EFC1B0E-D89A-44DD-BCA3-2333637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372C38-97F7-4552-BF83-C7F913F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 为学习节点提供可追溯依据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855981-668D-47BD-AFD6-B4304FB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混合检索保证语义匹配，同时保留课程术语的精确匹配</a:t>
            </a:r>
          </a:p>
        </p:txBody>
      </p:sp>
      <p:sp>
        <p:nvSpPr>
          <p:cNvPr id="4" name="rag-step-1">
            <a:extLst xmlns:a="http://schemas.openxmlformats.org/drawingml/2006/main">
              <a:ext uri="{FF2B5EF4-FFF2-40B4-BE49-F238E27FC236}">
                <a16:creationId xmlns:a16="http://schemas.microsoft.com/office/drawing/2014/main" id="{C92303A6-922C-4D44-8820-A32CAF13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导入资料</a:t>
            </a:r>
          </a:p>
        </p:txBody>
      </p:sp>
      <p:sp>
        <p:nvSpPr>
          <p:cNvPr id="5" name="rag-step-2">
            <a:extLst xmlns:a="http://schemas.openxmlformats.org/drawingml/2006/main">
              <a:ext uri="{FF2B5EF4-FFF2-40B4-BE49-F238E27FC236}">
                <a16:creationId xmlns:a16="http://schemas.microsoft.com/office/drawing/2014/main" id="{3068BA89-8FBF-491D-A026-D4738FA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语义切分</a:t>
            </a:r>
          </a:p>
        </p:txBody>
      </p:sp>
      <p:sp>
        <p:nvSpPr>
          <p:cNvPr id="6" name="rag-step-3">
            <a:extLst xmlns:a="http://schemas.openxmlformats.org/drawingml/2006/main">
              <a:ext uri="{FF2B5EF4-FFF2-40B4-BE49-F238E27FC236}">
                <a16:creationId xmlns:a16="http://schemas.microsoft.com/office/drawing/2014/main" id="{D40F0896-2B14-4271-ADA9-3C85A12B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7" name="rag-step-4">
            <a:extLst xmlns:a="http://schemas.openxmlformats.org/drawingml/2006/main">
              <a:ext uri="{FF2B5EF4-FFF2-40B4-BE49-F238E27FC236}">
                <a16:creationId xmlns:a16="http://schemas.microsoft.com/office/drawing/2014/main" id="{F8363596-8081-42C8-86D2-7E157AE6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8" name="rag-step-5">
            <a:extLst xmlns:a="http://schemas.openxmlformats.org/drawingml/2006/main">
              <a:ext uri="{FF2B5EF4-FFF2-40B4-BE49-F238E27FC236}">
                <a16:creationId xmlns:a16="http://schemas.microsoft.com/office/drawing/2014/main" id="{FE25A2EF-880A-45A7-9455-A6679B5B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1638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生成引用</a:t>
            </a:r>
          </a:p>
        </p:txBody>
      </p:sp>
      <p:sp>
        <p:nvSpPr>
          <p:cNvPr id="13" name="rag-formula-heading">
            <a:extLst xmlns:a="http://schemas.openxmlformats.org/drawingml/2006/main">
              <a:ext uri="{FF2B5EF4-FFF2-40B4-BE49-F238E27FC236}">
                <a16:creationId xmlns:a16="http://schemas.microsoft.com/office/drawing/2014/main" id="{766C85E5-AA29-4E94-B54B-59338155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混合检索公式</a:t>
            </a:r>
          </a:p>
        </p:txBody>
      </p:sp>
      <p:sp>
        <p:nvSpPr>
          <p:cNvPr id="14" name="rag-formula">
            <a:extLst xmlns:a="http://schemas.openxmlformats.org/drawingml/2006/main">
              <a:ext uri="{FF2B5EF4-FFF2-40B4-BE49-F238E27FC236}">
                <a16:creationId xmlns:a16="http://schemas.microsoft.com/office/drawing/2014/main" id="{C4CB212E-19D3-4FBD-9741-44A5CAA2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0.65 × 向量相似度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+ 0.35 × 归一化 BM25</a:t>
            </a:r>
          </a:p>
        </p:txBody>
      </p:sp>
      <p:sp>
        <p:nvSpPr>
          <p:cNvPr id="15" name="rag-retrieval-list">
            <a:extLst xmlns:a="http://schemas.openxmlformats.org/drawingml/2006/main">
              <a:ext uri="{FF2B5EF4-FFF2-40B4-BE49-F238E27FC236}">
                <a16:creationId xmlns:a16="http://schemas.microsoft.com/office/drawing/2014/main" id="{D2170404-3A91-4AB7-92EC-0BD06B91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默认召回 8 个片段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过滤课程、知识域和文档版本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返回前 5 个片段作为上下文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75812-9AF0-4135-8108-45D09DF9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g-citation-heading">
            <a:extLst xmlns:a="http://schemas.openxmlformats.org/drawingml/2006/main">
              <a:ext uri="{FF2B5EF4-FFF2-40B4-BE49-F238E27FC236}">
                <a16:creationId xmlns:a16="http://schemas.microsoft.com/office/drawing/2014/main" id="{928E5B80-C3B4-438E-B7FF-5F1CE16D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引用记录示例</a:t>
            </a:r>
          </a:p>
        </p:txBody>
      </p:sp>
      <p:sp>
        <p:nvSpPr>
          <p:cNvPr id="18" name="citation-title">
            <a:extLst xmlns:a="http://schemas.openxmlformats.org/drawingml/2006/main">
              <a:ext uri="{FF2B5EF4-FFF2-40B4-BE49-F238E27FC236}">
                <a16:creationId xmlns:a16="http://schemas.microsoft.com/office/drawing/2014/main" id="{0F1566D1-AADB-42CE-B5F5-760941D4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Python 程序设计课程大纲</a:t>
            </a:r>
          </a:p>
        </p:txBody>
      </p:sp>
      <p:sp>
        <p:nvSpPr>
          <p:cNvPr id="19" name="citation-detail">
            <a:extLst xmlns:a="http://schemas.openxmlformats.org/drawingml/2006/main">
              <a:ext uri="{FF2B5EF4-FFF2-40B4-BE49-F238E27FC236}">
                <a16:creationId xmlns:a16="http://schemas.microsoft.com/office/drawing/2014/main" id="{3D99A4C6-AAE9-41C7-9F08-A43934E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章节：函数与模块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页码：12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片段：doc-python-001-c03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检索得分：0.82</a:t>
            </a:r>
          </a:p>
        </p:txBody>
      </p:sp>
      <p:sp>
        <p:nvSpPr>
          <p:cNvPr id="20" name="rag-trust-level">
            <a:extLst xmlns:a="http://schemas.openxmlformats.org/drawingml/2006/main">
              <a:ext uri="{FF2B5EF4-FFF2-40B4-BE49-F238E27FC236}">
                <a16:creationId xmlns:a16="http://schemas.microsoft.com/office/drawing/2014/main" id="{7DFE0EDE-D1A1-4DC6-8EA0-596DAD65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无有效证据 → 标记 draft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有真实证据且规则通过 → verified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2094B1-79EA-45FE-B20A-3F98C675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366437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8CA23-D3EE-4FC6-A5C8-FD989096C53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39624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AE577-3204-4556-9FAE-173619A615A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V="1">
            <a:off x="6096000" y="3333750"/>
            <a:ext cx="3933825" cy="857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7B895-5679-4208-AB54-6551E36712A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 flipV="1">
            <a:off x="2162175" y="3333750"/>
            <a:ext cx="3933825" cy="857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29EE-9345-4961-AF3A-88FA3C7A0CE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457450"/>
            <a:ext cx="3933825" cy="190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C206D-A324-4175-835E-DF0AEADF5F4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162175" y="2457450"/>
            <a:ext cx="3933825" cy="190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730FDD9-1A53-40E6-8E6A-65CF21C0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A9DBAC-E08F-46B7-AA34-B28865EF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LangGraph 协调四个专业智能体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086419-3D18-4B37-A736-28C83F8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Coordinator 统一路由，Agent 通过共享状态和结构化交接协作</a:t>
            </a:r>
          </a:p>
        </p:txBody>
      </p:sp>
      <p:sp>
        <p:nvSpPr>
          <p:cNvPr id="4" name="langgraph-coordinator">
            <a:extLst xmlns:a="http://schemas.openxmlformats.org/drawingml/2006/main">
              <a:ext uri="{FF2B5EF4-FFF2-40B4-BE49-F238E27FC236}">
                <a16:creationId xmlns:a16="http://schemas.microsoft.com/office/drawing/2014/main" id="{5520AB0E-2378-4C2E-A7FE-79AEB0C5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36576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LangGraph Coordinator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读取状态、选择 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条件边、重试与停止判断</a:t>
            </a:r>
          </a:p>
        </p:txBody>
      </p:sp>
      <p:sp>
        <p:nvSpPr>
          <p:cNvPr id="5" name="langgraph-agent-1">
            <a:extLst xmlns:a="http://schemas.openxmlformats.org/drawingml/2006/main">
              <a:ext uri="{FF2B5EF4-FFF2-40B4-BE49-F238E27FC236}">
                <a16:creationId xmlns:a16="http://schemas.microsoft.com/office/drawing/2014/main" id="{94B74C4F-DD2F-4BF0-92A2-E323380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GoalDiagnosisAgent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目标解析、诊断、画像</a:t>
            </a:r>
          </a:p>
        </p:txBody>
      </p:sp>
      <p:sp>
        <p:nvSpPr>
          <p:cNvPr id="6" name="langgraph-agent-2">
            <a:extLst xmlns:a="http://schemas.openxmlformats.org/drawingml/2006/main">
              <a:ext uri="{FF2B5EF4-FFF2-40B4-BE49-F238E27FC236}">
                <a16:creationId xmlns:a16="http://schemas.microsoft.com/office/drawing/2014/main" id="{F94916A7-A20B-4ABC-B60F-F3321C41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621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PathBuildingAgent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内容、RAG、候选路径</a:t>
            </a:r>
          </a:p>
        </p:txBody>
      </p:sp>
      <p:sp>
        <p:nvSpPr>
          <p:cNvPr id="7" name="langgraph-agent-3">
            <a:extLst xmlns:a="http://schemas.openxmlformats.org/drawingml/2006/main">
              <a:ext uri="{FF2B5EF4-FFF2-40B4-BE49-F238E27FC236}">
                <a16:creationId xmlns:a16="http://schemas.microsoft.com/office/drawing/2014/main" id="{BE9FC9A1-E038-4AB0-B58A-87D7F0AB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证据、BKT、重规划请求</a:t>
            </a:r>
          </a:p>
        </p:txBody>
      </p:sp>
      <p:sp>
        <p:nvSpPr>
          <p:cNvPr id="8" name="langgraph-agent-4">
            <a:extLst xmlns:a="http://schemas.openxmlformats.org/drawingml/2006/main">
              <a:ext uri="{FF2B5EF4-FFF2-40B4-BE49-F238E27FC236}">
                <a16:creationId xmlns:a16="http://schemas.microsoft.com/office/drawing/2014/main" id="{D6594994-781B-4692-8A5A-968AE09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引用、先修、预算审查</a:t>
            </a:r>
          </a:p>
        </p:txBody>
      </p:sp>
      <p:sp>
        <p:nvSpPr>
          <p:cNvPr id="13" name="langgraph-shared-state">
            <a:extLst xmlns:a="http://schemas.openxmlformats.org/drawingml/2006/main">
              <a:ext uri="{FF2B5EF4-FFF2-40B4-BE49-F238E27FC236}">
                <a16:creationId xmlns:a16="http://schemas.microsoft.com/office/drawing/2014/main" id="{C323C4D0-6E0F-4B5C-99BA-37FF783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AgentState  目标与诊断、学习者画像、证据、候选路径、审查结果、掌握度、重规划请求、重试计数</a:t>
            </a:r>
          </a:p>
        </p:txBody>
      </p:sp>
      <p:sp>
        <p:nvSpPr>
          <p:cNvPr id="15" name="langgraph-boundary">
            <a:extLst xmlns:a="http://schemas.openxmlformats.org/drawingml/2006/main">
              <a:ext uri="{FF2B5EF4-FFF2-40B4-BE49-F238E27FC236}">
                <a16:creationId xmlns:a16="http://schemas.microsoft.com/office/drawing/2014/main" id="{59AD4035-4A53-41A7-A071-B2CE16C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路径构建不负责最终批准，质量审查不生成路径，学习重规划不直接发布新路径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406BD3-595B-4EF3-B17D-383837E1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031130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8951B-9B25-4E87-B9D5-84BB6382B38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3705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4FB37-E37D-4D55-9A38-F14FD8F83681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590800" y="3705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8E926B1-C926-4255-B18B-2BB047D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873841-0410-47E3-96CA-4435FD3C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 将学习证据转为计划调整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A7E026-E415-46E2-A956-C31CBF08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BKT 更新掌握度，规则判断是否需要重规划</a:t>
            </a:r>
          </a:p>
        </p:txBody>
      </p:sp>
      <p:sp>
        <p:nvSpPr>
          <p:cNvPr id="4" name="bkt-scale-heading">
            <a:extLst xmlns:a="http://schemas.openxmlformats.org/drawingml/2006/main">
              <a:ext uri="{FF2B5EF4-FFF2-40B4-BE49-F238E27FC236}">
                <a16:creationId xmlns:a16="http://schemas.microsoft.com/office/drawing/2014/main" id="{32A5DC54-067F-4241-9A26-21ED60BA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A511C-F5CE-407F-8359-252C030F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40073-442B-4EE8-BAE2-649F6DC3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bkt-mark-0.45">
            <a:extLst xmlns:a="http://schemas.openxmlformats.org/drawingml/2006/main">
              <a:ext uri="{FF2B5EF4-FFF2-40B4-BE49-F238E27FC236}">
                <a16:creationId xmlns:a16="http://schemas.microsoft.com/office/drawing/2014/main" id="{7E041D08-73EB-4204-A444-241E505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5549A-2101-4487-92C2-A5EA8466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bkt-mark-0.75">
            <a:extLst xmlns:a="http://schemas.openxmlformats.org/drawingml/2006/main">
              <a:ext uri="{FF2B5EF4-FFF2-40B4-BE49-F238E27FC236}">
                <a16:creationId xmlns:a16="http://schemas.microsoft.com/office/drawing/2014/main" id="{E8B2400B-4F0A-470B-92F6-D8DA0EB0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10" name="bkt-weak-label">
            <a:extLst xmlns:a="http://schemas.openxmlformats.org/drawingml/2006/main">
              <a:ext uri="{FF2B5EF4-FFF2-40B4-BE49-F238E27FC236}">
                <a16:creationId xmlns:a16="http://schemas.microsoft.com/office/drawing/2014/main" id="{4AAA4AA5-E560-404B-B3D3-994F647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薄弱</a:t>
            </a:r>
          </a:p>
        </p:txBody>
      </p:sp>
      <p:sp>
        <p:nvSpPr>
          <p:cNvPr id="11" name="bkt-practicing-label">
            <a:extLst xmlns:a="http://schemas.openxmlformats.org/drawingml/2006/main">
              <a:ext uri="{FF2B5EF4-FFF2-40B4-BE49-F238E27FC236}">
                <a16:creationId xmlns:a16="http://schemas.microsoft.com/office/drawing/2014/main" id="{96D897AD-B071-4549-9166-9B846BCC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继续练习</a:t>
            </a:r>
          </a:p>
        </p:txBody>
      </p:sp>
      <p:sp>
        <p:nvSpPr>
          <p:cNvPr id="12" name="bkt-unlock-label">
            <a:extLst xmlns:a="http://schemas.openxmlformats.org/drawingml/2006/main">
              <a:ext uri="{FF2B5EF4-FFF2-40B4-BE49-F238E27FC236}">
                <a16:creationId xmlns:a16="http://schemas.microsoft.com/office/drawing/2014/main" id="{98BFB4EC-DCEB-4BD2-A137-535C8400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解锁</a:t>
            </a:r>
          </a:p>
        </p:txBody>
      </p:sp>
      <p:sp>
        <p:nvSpPr>
          <p:cNvPr id="13" name="bkt-evidence">
            <a:extLst xmlns:a="http://schemas.openxmlformats.org/drawingml/2006/main">
              <a:ext uri="{FF2B5EF4-FFF2-40B4-BE49-F238E27FC236}">
                <a16:creationId xmlns:a16="http://schemas.microsoft.com/office/drawing/2014/main" id="{01F7CA0C-F135-4A62-BFFD-23E7E13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90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LearningReplanAgent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打卡 / 测验证据</a:t>
            </a:r>
          </a:p>
        </p:txBody>
      </p:sp>
      <p:sp>
        <p:nvSpPr>
          <p:cNvPr id="14" name="bkt-update">
            <a:extLst xmlns:a="http://schemas.openxmlformats.org/drawingml/2006/main">
              <a:ext uri="{FF2B5EF4-FFF2-40B4-BE49-F238E27FC236}">
                <a16:creationId xmlns:a16="http://schemas.microsoft.com/office/drawing/2014/main" id="{ED057C06-CC68-433E-A7D6-4E22BC2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52800"/>
            <a:ext cx="1524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BKT 更新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掌握度快照</a:t>
            </a:r>
          </a:p>
        </p:txBody>
      </p:sp>
      <p:sp>
        <p:nvSpPr>
          <p:cNvPr id="15" name="bkt-decision">
            <a:extLst xmlns:a="http://schemas.openxmlformats.org/drawingml/2006/main">
              <a:ext uri="{FF2B5EF4-FFF2-40B4-BE49-F238E27FC236}">
                <a16:creationId xmlns:a16="http://schemas.microsoft.com/office/drawing/2014/main" id="{5A5FC28B-E2DC-48F0-A83B-DED1C71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ReplanDecider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保持或重规划</a:t>
            </a:r>
          </a:p>
        </p:txBody>
      </p:sp>
      <p:sp>
        <p:nvSpPr>
          <p:cNvPr id="18" name="replan-trigger-heading">
            <a:extLst xmlns:a="http://schemas.openxmlformats.org/drawingml/2006/main">
              <a:ext uri="{FF2B5EF4-FFF2-40B4-BE49-F238E27FC236}">
                <a16:creationId xmlns:a16="http://schemas.microsoft.com/office/drawing/2014/main" id="{4976C509-3311-4C15-A694-D08BC08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重规划触发条件</a:t>
            </a:r>
          </a:p>
        </p:txBody>
      </p:sp>
      <p:sp>
        <p:nvSpPr>
          <p:cNvPr id="19" name="replan-trigger-list">
            <a:extLst xmlns:a="http://schemas.openxmlformats.org/drawingml/2006/main">
              <a:ext uri="{FF2B5EF4-FFF2-40B4-BE49-F238E27FC236}">
                <a16:creationId xmlns:a16="http://schemas.microsoft.com/office/drawing/2014/main" id="{6438411D-6E65-4A4E-A87F-C23B9900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4514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掌握度低于 0.45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同一任务连续两次未完成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每周时间或截止日期变化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新证据与原有高掌握度冲突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目标范围发生变化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FC3B2-2D4B-4238-A8F4-FFAB65B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plan-under">
            <a:extLst xmlns:a="http://schemas.openxmlformats.org/drawingml/2006/main">
              <a:ext uri="{FF2B5EF4-FFF2-40B4-BE49-F238E27FC236}">
                <a16:creationId xmlns:a16="http://schemas.microsoft.com/office/drawing/2014/main" id="{AF219771-E977-49D0-A589-9B1700F4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未达标：插入补强、降低任务粒度、顺延后续节点</a:t>
            </a:r>
          </a:p>
        </p:txBody>
      </p:sp>
      <p:sp>
        <p:nvSpPr>
          <p:cNvPr id="22" name="replan-transparency">
            <a:extLst xmlns:a="http://schemas.openxmlformats.org/drawingml/2006/main">
              <a:ext uri="{FF2B5EF4-FFF2-40B4-BE49-F238E27FC236}">
                <a16:creationId xmlns:a16="http://schemas.microsoft.com/office/drawing/2014/main" id="{0E30B431-17C6-4217-87DD-63602205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变化透明：展示原路径、新路径、差异、原因和影响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6EC760-25E6-4755-948C-F42FC44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2011805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7FA6E32-8C39-4BEE-9B1C-88F6A45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3FC1A6-A919-4A92-8568-3AFA7BA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 校验路径并留下现场证据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C798D8-0917-42FE-9DF1-80113E1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规则决定可行性，新的运行记录证明现场执行</a:t>
            </a:r>
          </a:p>
        </p:txBody>
      </p:sp>
      <p:sp>
        <p:nvSpPr>
          <p:cNvPr id="4" name="validation-heading">
            <a:extLst xmlns:a="http://schemas.openxmlformats.org/drawingml/2006/main">
              <a:ext uri="{FF2B5EF4-FFF2-40B4-BE49-F238E27FC236}">
                <a16:creationId xmlns:a16="http://schemas.microsoft.com/office/drawing/2014/main" id="{89A1AF50-0535-4B50-B2BE-15CEC7D2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PlanReviewAgent 规则校验</a:t>
            </a:r>
          </a:p>
        </p:txBody>
      </p:sp>
      <p:sp>
        <p:nvSpPr>
          <p:cNvPr id="5" name="validation-rules">
            <a:extLst xmlns:a="http://schemas.openxmlformats.org/drawingml/2006/main">
              <a:ext uri="{FF2B5EF4-FFF2-40B4-BE49-F238E27FC236}">
                <a16:creationId xmlns:a16="http://schemas.microsoft.com/office/drawing/2014/main" id="{470BF72E-8E78-4B95-B10E-F115BD8D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VR-001 硬先修已完成或排在前序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VR-002 总学时不超过时间预算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VR-003 每日与每周任务不超负荷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VR-004 路径不存在重复节点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VR-005 每个正式节点有真实引用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VR-006 每个验收题映射有效知识节点</a:t>
            </a:r>
          </a:p>
          <a:p xmlns:a="http://schemas.openxmlformats.org/drawingml/2006/main"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VR-008 重规划不破坏未完成硬先修</a:t>
            </a:r>
          </a:p>
        </p:txBody>
      </p:sp>
      <p:sp>
        <p:nvSpPr>
          <p:cNvPr id="6" name="validation-failure">
            <a:extLst xmlns:a="http://schemas.openxmlformats.org/drawingml/2006/main">
              <a:ext uri="{FF2B5EF4-FFF2-40B4-BE49-F238E27FC236}">
                <a16:creationId xmlns:a16="http://schemas.microsoft.com/office/drawing/2014/main" id="{21DFF303-65A5-4E55-A09C-FA2C9B1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失败返回规则编号、受影响节点和修复建议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自动规划最多重试 3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0DA0C-F758-4B1B-9F85-5E3EDD26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98769F8D-1564-406F-A78E-57FB4622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现场验收 AT-015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4A091-C731-46D4-A9E6-B6240E2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demo-step-1">
            <a:extLst xmlns:a="http://schemas.openxmlformats.org/drawingml/2006/main">
              <a:ext uri="{FF2B5EF4-FFF2-40B4-BE49-F238E27FC236}">
                <a16:creationId xmlns:a16="http://schemas.microsoft.com/office/drawing/2014/main" id="{2C262B8C-D63A-44DC-B7E9-463C8A45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现场输入目标与时间约束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45FCE-D6FD-4081-9A95-8D3DAD2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demo-step-2">
            <a:extLst xmlns:a="http://schemas.openxmlformats.org/drawingml/2006/main">
              <a:ext uri="{FF2B5EF4-FFF2-40B4-BE49-F238E27FC236}">
                <a16:creationId xmlns:a16="http://schemas.microsoft.com/office/drawing/2014/main" id="{82BE573B-4276-4C83-9231-899C1BC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完成诊断并接受首次路径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8944C-8205-4DCC-B4CE-2AEB151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demo-step-3">
            <a:extLst xmlns:a="http://schemas.openxmlformats.org/drawingml/2006/main">
              <a:ext uri="{FF2B5EF4-FFF2-40B4-BE49-F238E27FC236}">
                <a16:creationId xmlns:a16="http://schemas.microsoft.com/office/drawing/2014/main" id="{3916FFA4-0E63-49A8-BE05-F8418AC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提交学习打卡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742E8-A9A0-4D9B-93B6-E2C28F0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demo-step-4">
            <a:extLst xmlns:a="http://schemas.openxmlformats.org/drawingml/2006/main">
              <a:ext uri="{FF2B5EF4-FFF2-40B4-BE49-F238E27FC236}">
                <a16:creationId xmlns:a16="http://schemas.microsoft.com/office/drawing/2014/main" id="{7410D5D5-77E3-408D-BD70-04DD400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提交未达标测验答案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0EFBF-3DC0-4033-BC44-7A120B5B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demo-step-5">
            <a:extLst xmlns:a="http://schemas.openxmlformats.org/drawingml/2006/main">
              <a:ext uri="{FF2B5EF4-FFF2-40B4-BE49-F238E27FC236}">
                <a16:creationId xmlns:a16="http://schemas.microsoft.com/office/drawing/2014/main" id="{7BFAF3CF-ECC3-48AB-B6C3-B9FBEB05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观察 BKT 更新与补强任务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5AD83-06C8-4D1E-BD13-9AC7376B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0" name="demo-step-6">
            <a:extLst xmlns:a="http://schemas.openxmlformats.org/drawingml/2006/main">
              <a:ext uri="{FF2B5EF4-FFF2-40B4-BE49-F238E27FC236}">
                <a16:creationId xmlns:a16="http://schemas.microsoft.com/office/drawing/2014/main" id="{11EC3B95-424C-44EF-A2E5-29EB8FCD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接受重规划并查看路径差异</a:t>
            </a:r>
          </a:p>
        </p:txBody>
      </p:sp>
      <p:sp>
        <p:nvSpPr>
          <p:cNvPr id="21" name="demo-proof">
            <a:extLst xmlns:a="http://schemas.openxmlformats.org/drawingml/2006/main">
              <a:ext uri="{FF2B5EF4-FFF2-40B4-BE49-F238E27FC236}">
                <a16:creationId xmlns:a16="http://schemas.microsoft.com/office/drawing/2014/main" id="{B5374BBF-BF5F-4987-896F-921F1BD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新建 run_id、现场时间戳和 Agent 轨迹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禁止预生成路径、缓存规划和人工改库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E814D9-1FA3-4BF0-B81A-49E4B4F0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0621775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B336740-9CA1-494E-8CD1-A02FFEFE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EE9131-99B7-484E-BCAB-4F237A67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项目按可验证里程碑推进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6D706C-E723-4B46-909B-00BAE7C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每个阶段都必须交付可检查结果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A706D-E80B-4041-B2F9-C35529DE127D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可验收结果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需求基线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设计方案、SRS、数据与 API 边界冻结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数据与知识底座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课程资料、知识图谱、DAG 校验和 BKT 基础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数据与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训练数据集、混合检索和真实引用链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模型训练与评估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微调模型、基线与微调对比、受控降级方案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四智能体与规划闭环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四个专业 Agent 可调用，六阶段闭环失败返回替代方案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API 与前端联调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学生可以从界面完成完整闭环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21494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 验收与交付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现场演练、测试报告、演示和答辩材料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lan-principle">
            <a:extLst xmlns:a="http://schemas.openxmlformats.org/drawingml/2006/main">
              <a:ext uri="{FF2B5EF4-FFF2-40B4-BE49-F238E27FC236}">
                <a16:creationId xmlns:a16="http://schemas.microsoft.com/office/drawing/2014/main" id="{45299EC0-1810-44B7-8700-B6AD78F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优先保证真实闭环，非核心体验可以在范围压缩时后置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C5E5D0-11EC-4BC0-B7F4-7A900AE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8265370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24B3972-D437-43DE-B853-3A04F782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1DAC34-4F04-4309-8915-8C77A423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当前完成文档与技术基线，进入实施准备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24F41E-5C29-4854-937A-718254F1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尚未开始编码，首批交付物用于建立最小可验证底座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ECB92-69A6-4C94-881B-47AAC8D18CE2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设计方案、SRS 与技术设计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技术环境验证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 Smoke Test 报告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功能与验收边界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Schema 设计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数据格式与样例数据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四智能体职责边界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演示脚本设计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首轮闭环演示脚本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现场验收方案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与图谱准备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知识图谱初始版本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current-status">
            <a:extLst xmlns:a="http://schemas.openxmlformats.org/drawingml/2006/main">
              <a:ext uri="{FF2B5EF4-FFF2-40B4-BE49-F238E27FC236}">
                <a16:creationId xmlns:a16="http://schemas.microsoft.com/office/drawing/2014/main" id="{681F4633-E01A-448A-A1F4-A3FCFA7C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当前准确状态：设计与技术文档已完成，代码、训练数据和可运行原型尚未完成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9EFF35-20D0-403A-9B15-0BE14F24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7578439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FA064-3408-458F-B718-63E5A7586A4B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5143500" y="2743200"/>
            <a:ext cx="55245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45309"/>
            </a:solidFill>
            <a:prstDash val="dash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351F8-F5CD-4855-AC6D-A77D4996461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6012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D29FF-EE99-4585-9938-180CE55C4E0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724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DEB3-3D79-4E7A-B59C-90B3DF70760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9E054-B2A3-4172-90CA-2F61CABB946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9AF0F-7D0B-4FC5-8792-4BD81A2180E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2390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26CE23E-449E-4091-BDB1-83B67E2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05E0B3-76B0-47CB-BACA-F8598DC9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两人围绕同一闭环分担首次规划与重规划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7FA82F-EB9E-4201-B324-7A532B9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A 对首次计划负责，B 对学习后的调整负责</a:t>
            </a:r>
          </a:p>
        </p:txBody>
      </p:sp>
      <p:sp>
        <p:nvSpPr>
          <p:cNvPr id="4" name="team-goal">
            <a:extLst xmlns:a="http://schemas.openxmlformats.org/drawingml/2006/main">
              <a:ext uri="{FF2B5EF4-FFF2-40B4-BE49-F238E27FC236}">
                <a16:creationId xmlns:a16="http://schemas.microsoft.com/office/drawing/2014/main" id="{D64DCACD-15C7-45B1-BD7F-14E7A5DE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team-diagnosis">
            <a:extLst xmlns:a="http://schemas.openxmlformats.org/drawingml/2006/main">
              <a:ext uri="{FF2B5EF4-FFF2-40B4-BE49-F238E27FC236}">
                <a16:creationId xmlns:a16="http://schemas.microsoft.com/office/drawing/2014/main" id="{F923D36F-43BC-494E-8EF9-5C9C3677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6" name="team-path">
            <a:extLst xmlns:a="http://schemas.openxmlformats.org/drawingml/2006/main">
              <a:ext uri="{FF2B5EF4-FFF2-40B4-BE49-F238E27FC236}">
                <a16:creationId xmlns:a16="http://schemas.microsoft.com/office/drawing/2014/main" id="{086C20AE-894D-4C45-A137-261637C2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team-execution">
            <a:extLst xmlns:a="http://schemas.openxmlformats.org/drawingml/2006/main">
              <a:ext uri="{FF2B5EF4-FFF2-40B4-BE49-F238E27FC236}">
                <a16:creationId xmlns:a16="http://schemas.microsoft.com/office/drawing/2014/main" id="{46437247-D216-4830-8A44-98D04C02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team-evidence">
            <a:extLst xmlns:a="http://schemas.openxmlformats.org/drawingml/2006/main">
              <a:ext uri="{FF2B5EF4-FFF2-40B4-BE49-F238E27FC236}">
                <a16:creationId xmlns:a16="http://schemas.microsoft.com/office/drawing/2014/main" id="{F8AF3D10-4BD8-4C74-8350-0195ABA4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team-replan">
            <a:extLst xmlns:a="http://schemas.openxmlformats.org/drawingml/2006/main">
              <a:ext uri="{FF2B5EF4-FFF2-40B4-BE49-F238E27FC236}">
                <a16:creationId xmlns:a16="http://schemas.microsoft.com/office/drawing/2014/main" id="{5BEC6B1D-92DF-43D8-B23E-3E17A878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676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member-a-heading">
            <a:extLst xmlns:a="http://schemas.openxmlformats.org/drawingml/2006/main">
              <a:ext uri="{FF2B5EF4-FFF2-40B4-BE49-F238E27FC236}">
                <a16:creationId xmlns:a16="http://schemas.microsoft.com/office/drawing/2014/main" id="{82F8DC13-D5BB-4A56-A835-905A02F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A：首次学习计划</a:t>
            </a:r>
          </a:p>
        </p:txBody>
      </p:sp>
      <p:sp>
        <p:nvSpPr>
          <p:cNvPr id="17" name="member-b-heading">
            <a:extLst xmlns:a="http://schemas.openxmlformats.org/drawingml/2006/main">
              <a:ext uri="{FF2B5EF4-FFF2-40B4-BE49-F238E27FC236}">
                <a16:creationId xmlns:a16="http://schemas.microsoft.com/office/drawing/2014/main" id="{84A37098-B27F-4491-AE51-1F03432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B：学习后重规划</a:t>
            </a:r>
          </a:p>
        </p:txBody>
      </p:sp>
      <p:sp>
        <p:nvSpPr>
          <p:cNvPr id="18" name="member-a-detail">
            <a:extLst xmlns:a="http://schemas.openxmlformats.org/drawingml/2006/main">
              <a:ext uri="{FF2B5EF4-FFF2-40B4-BE49-F238E27FC236}">
                <a16:creationId xmlns:a16="http://schemas.microsoft.com/office/drawing/2014/main" id="{C4057300-F4D2-4FA4-A81F-0502D78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目标解析、诊断、内容生成、RAG、知识图谱、首次路径构建、任务拆解和计划审核。</a:t>
            </a:r>
          </a:p>
        </p:txBody>
      </p:sp>
      <p:sp>
        <p:nvSpPr>
          <p:cNvPr id="19" name="member-b-detail">
            <a:extLst xmlns:a="http://schemas.openxmlformats.org/drawingml/2006/main">
              <a:ext uri="{FF2B5EF4-FFF2-40B4-BE49-F238E27FC236}">
                <a16:creationId xmlns:a16="http://schemas.microsoft.com/office/drawing/2014/main" id="{892935D8-D555-4E65-989C-DC9B7F6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接收打卡和学习内容，完成证据评分、BKT 更新、执行偏差、LearningReplanAgent 重规划判断、路径差异和后续任务安排。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2BBB9-4CE2-49EF-AB75-AC1CF00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red-responsibility">
            <a:extLst xmlns:a="http://schemas.openxmlformats.org/drawingml/2006/main">
              <a:ext uri="{FF2B5EF4-FFF2-40B4-BE49-F238E27FC236}">
                <a16:creationId xmlns:a16="http://schemas.microsoft.com/office/drawing/2014/main" id="{F944E7A1-57E3-4311-A509-7E978FD1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共同负责：接口与数据契约、Coordinator 路由、四个 Agent 串联、联调、三轮现场闭环演练和答辩材料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46AFCA-4510-481E-A786-8EAA018C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20021167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5DE480E-54CD-4639-8BCC-051D352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CB361D-34A5-4F29-9E85-9924CB10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风险控制优先保证真实闭环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4EF8B0-6118-460B-9C7A-F05132A1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先证明系统能够完成闭环，再完善非核心体验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A5E17-41AD-4B6D-83C4-A26A10219028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16490"/>
                <a:gridCol w="6403910"/>
              </a:tblGrid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本机资源导致训练或推理压力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先完成 1.5B 最小可用版本，训练与推理分时运行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模型结构化输出不稳定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Schema、引用校验、格式修复和有限重试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课程数据和图谱准备量过大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完整验收先固定一条技能主线，其他目标用于泛化测试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现场闭环依赖缓存或人工操作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使用新的 run_id、时间戳、Agent 轨迹和三轮现场演练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两人协作导致接口不一致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尽早冻结 API 与数据结构契约，使用 Mock 并行开发和集成测试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 Agent 状态字段重叠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字段所有权、工具白名单、状态补丁和版本冲突检测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751942B6-599A-405F-B365-15E4E60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Coordinator 负责受控路由，四个 Agent 分工完成诊断、规划、审查与重规划。</a:t>
            </a:r>
          </a:p>
        </p:txBody>
      </p:sp>
      <p:sp>
        <p:nvSpPr>
          <p:cNvPr id="6" name="next-step-conclusion">
            <a:extLst xmlns:a="http://schemas.openxmlformats.org/drawingml/2006/main">
              <a:ext uri="{FF2B5EF4-FFF2-40B4-BE49-F238E27FC236}">
                <a16:creationId xmlns:a16="http://schemas.microsoft.com/office/drawing/2014/main" id="{308BC4D5-10E6-4033-BD03-D19C3D0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下一步：完成环境验证、数据底座和首个可调用的六阶段后端闭环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FA17BD-398D-4CA8-BBF6-DA71C04F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676756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2026-10-21T07:24:45.5940000Z</dcterms:created>
  <dcterms:modified xsi:type="dcterms:W3CDTF">2026-10-21T07:24:45.5940000Z</dcterms:modified>
</coreProperties>
</file>