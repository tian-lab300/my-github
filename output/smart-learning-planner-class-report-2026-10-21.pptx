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d60c49cb14344" /><Relationship Type="http://schemas.openxmlformats.org/officeDocument/2006/relationships/extended-properties" Target="/docProps/app.xml" Id="R7b23e58850fb4354" /><Relationship Type="http://schemas.openxmlformats.org/officeDocument/2006/relationships/officeDocument" Target="/ppt/presentation.xml" Id="Rfb982f91dbc3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ec7ccf51f4d8e"/>
  </p:sldMasterIdLst>
  <p:notesMasterIdLst>
    <p:notesMasterId xmlns:r="http://schemas.openxmlformats.org/officeDocument/2006/relationships" r:id="R37120a3d14794365"/>
  </p:notesMasterIdLst>
  <p:sldIdLst>
    <p:sldId xmlns:r="http://schemas.openxmlformats.org/officeDocument/2006/relationships" id="256" r:id="Rdb1304cb7f8a4700"/>
    <p:sldId xmlns:r="http://schemas.openxmlformats.org/officeDocument/2006/relationships" id="257" r:id="R25ef93abecac487e"/>
    <p:sldId xmlns:r="http://schemas.openxmlformats.org/officeDocument/2006/relationships" id="258" r:id="R007cc4b68bc74997"/>
    <p:sldId xmlns:r="http://schemas.openxmlformats.org/officeDocument/2006/relationships" id="259" r:id="R49c2b03646fa4d3c"/>
    <p:sldId xmlns:r="http://schemas.openxmlformats.org/officeDocument/2006/relationships" id="260" r:id="Rcf70143cf7b442b1"/>
    <p:sldId xmlns:r="http://schemas.openxmlformats.org/officeDocument/2006/relationships" id="261" r:id="R46f74ef7c534492b"/>
    <p:sldId xmlns:r="http://schemas.openxmlformats.org/officeDocument/2006/relationships" id="262" r:id="R99250826937542ff"/>
    <p:sldId xmlns:r="http://schemas.openxmlformats.org/officeDocument/2006/relationships" id="263" r:id="R8d80df6a6d02428a"/>
    <p:sldId xmlns:r="http://schemas.openxmlformats.org/officeDocument/2006/relationships" id="264" r:id="R399bb0a7168f4662"/>
    <p:sldId xmlns:r="http://schemas.openxmlformats.org/officeDocument/2006/relationships" id="265" r:id="Rbfd68d65180b4ac0"/>
    <p:sldId xmlns:r="http://schemas.openxmlformats.org/officeDocument/2006/relationships" id="266" r:id="R9b7cee03afbb43e7"/>
    <p:sldId xmlns:r="http://schemas.openxmlformats.org/officeDocument/2006/relationships" id="267" r:id="Rb098ffff3efd4ccb"/>
    <p:sldId xmlns:r="http://schemas.openxmlformats.org/officeDocument/2006/relationships" id="268" r:id="Rc37587f6d9564d80"/>
    <p:sldId xmlns:r="http://schemas.openxmlformats.org/officeDocument/2006/relationships" id="269" r:id="Rcf1916c5fb344d2a"/>
    <p:sldId xmlns:r="http://schemas.openxmlformats.org/officeDocument/2006/relationships" id="270" r:id="R5c0bc331a2b9484d"/>
    <p:sldId xmlns:r="http://schemas.openxmlformats.org/officeDocument/2006/relationships" id="271" r:id="Rde84a7134fe24ce7"/>
    <p:sldId xmlns:r="http://schemas.openxmlformats.org/officeDocument/2006/relationships" id="272" r:id="R47a4d1e24979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fe12b956ea4333" /><Relationship Type="http://schemas.openxmlformats.org/officeDocument/2006/relationships/slideMaster" Target="/ppt/slideMasters/slideMaster1.xml" Id="R601ec7ccf51f4d8e" /><Relationship Type="http://schemas.openxmlformats.org/officeDocument/2006/relationships/notesMaster" Target="/ppt/notesMasters/notesMaster1.xml" Id="R37120a3d14794365" /><Relationship Type="http://schemas.openxmlformats.org/officeDocument/2006/relationships/presProps" Target="/ppt/presProps.xml" Id="Rb37fd95611da4b90" /><Relationship Type="http://schemas.openxmlformats.org/officeDocument/2006/relationships/tableStyles" Target="/ppt/tableStyles.xml" Id="Rb95c29e03a5f4502" /><Relationship Type="http://schemas.openxmlformats.org/officeDocument/2006/relationships/slide" Target="/ppt/slides/slide1.xml" Id="Rdb1304cb7f8a4700" /><Relationship Type="http://schemas.openxmlformats.org/officeDocument/2006/relationships/slide" Target="/ppt/slides/slide2.xml" Id="R25ef93abecac487e" /><Relationship Type="http://schemas.openxmlformats.org/officeDocument/2006/relationships/slide" Target="/ppt/slides/slide3.xml" Id="R007cc4b68bc74997" /><Relationship Type="http://schemas.openxmlformats.org/officeDocument/2006/relationships/slide" Target="/ppt/slides/slide4.xml" Id="R49c2b03646fa4d3c" /><Relationship Type="http://schemas.openxmlformats.org/officeDocument/2006/relationships/slide" Target="/ppt/slides/slide5.xml" Id="Rcf70143cf7b442b1" /><Relationship Type="http://schemas.openxmlformats.org/officeDocument/2006/relationships/slide" Target="/ppt/slides/slide6.xml" Id="R46f74ef7c534492b" /><Relationship Type="http://schemas.openxmlformats.org/officeDocument/2006/relationships/slide" Target="/ppt/slides/slide7.xml" Id="R99250826937542ff" /><Relationship Type="http://schemas.openxmlformats.org/officeDocument/2006/relationships/slide" Target="/ppt/slides/slide8.xml" Id="R8d80df6a6d02428a" /><Relationship Type="http://schemas.openxmlformats.org/officeDocument/2006/relationships/slide" Target="/ppt/slides/slide9.xml" Id="R399bb0a7168f4662" /><Relationship Type="http://schemas.openxmlformats.org/officeDocument/2006/relationships/slide" Target="/ppt/slides/slide10.xml" Id="Rbfd68d65180b4ac0" /><Relationship Type="http://schemas.openxmlformats.org/officeDocument/2006/relationships/slide" Target="/ppt/slides/slide11.xml" Id="R9b7cee03afbb43e7" /><Relationship Type="http://schemas.openxmlformats.org/officeDocument/2006/relationships/slide" Target="/ppt/slides/slide12.xml" Id="Rb098ffff3efd4ccb" /><Relationship Type="http://schemas.openxmlformats.org/officeDocument/2006/relationships/slide" Target="/ppt/slides/slide13.xml" Id="Rc37587f6d9564d80" /><Relationship Type="http://schemas.openxmlformats.org/officeDocument/2006/relationships/slide" Target="/ppt/slides/slide14.xml" Id="Rcf1916c5fb344d2a" /><Relationship Type="http://schemas.openxmlformats.org/officeDocument/2006/relationships/slide" Target="/ppt/slides/slide15.xml" Id="R5c0bc331a2b9484d" /><Relationship Type="http://schemas.openxmlformats.org/officeDocument/2006/relationships/slide" Target="/ppt/slides/slide16.xml" Id="Rde84a7134fe24ce7" /><Relationship Type="http://schemas.openxmlformats.org/officeDocument/2006/relationships/slide" Target="/ppt/slides/slide17.xml" Id="R47a4d1e24979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76f2e36a2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78fffa4eee4872" /><Relationship Type="http://schemas.openxmlformats.org/officeDocument/2006/relationships/notesMaster" Target="/ppt/notesMasters/notesMaster1.xml" Id="R53f905bf54fe41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10dfad651402d" /><Relationship Type="http://schemas.openxmlformats.org/officeDocument/2006/relationships/notesMaster" Target="/ppt/notesMasters/notesMaster1.xml" Id="Rd9455407529149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1c79c18a54a0e" /><Relationship Type="http://schemas.openxmlformats.org/officeDocument/2006/relationships/notesMaster" Target="/ppt/notesMasters/notesMaster1.xml" Id="R835db3c2a7bf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8f386d6e1648f4" /><Relationship Type="http://schemas.openxmlformats.org/officeDocument/2006/relationships/notesMaster" Target="/ppt/notesMasters/notesMaster1.xml" Id="R290351b95cad44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b01fc60d64402a" /><Relationship Type="http://schemas.openxmlformats.org/officeDocument/2006/relationships/notesMaster" Target="/ppt/notesMasters/notesMaster1.xml" Id="Rf7c5fcd22ea149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0c8c428bb4783" /><Relationship Type="http://schemas.openxmlformats.org/officeDocument/2006/relationships/notesMaster" Target="/ppt/notesMasters/notesMaster1.xml" Id="R58e2f257869f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06384675e94f0a" /><Relationship Type="http://schemas.openxmlformats.org/officeDocument/2006/relationships/notesMaster" Target="/ppt/notesMasters/notesMaster1.xml" Id="R89f9b298eacc46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e766e289194551" /><Relationship Type="http://schemas.openxmlformats.org/officeDocument/2006/relationships/notesMaster" Target="/ppt/notesMasters/notesMaster1.xml" Id="Ra4cf4dc845914a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3955a52ec4da4" /><Relationship Type="http://schemas.openxmlformats.org/officeDocument/2006/relationships/notesMaster" Target="/ppt/notesMasters/notesMaster1.xml" Id="Re8e7142000df41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b7c903ca0c4406" /><Relationship Type="http://schemas.openxmlformats.org/officeDocument/2006/relationships/notesMaster" Target="/ppt/notesMasters/notesMaster1.xml" Id="R9c07f3a4816741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7c5b7b2e9c4253" /><Relationship Type="http://schemas.openxmlformats.org/officeDocument/2006/relationships/notesMaster" Target="/ppt/notesMasters/notesMaster1.xml" Id="R244d061305ff4f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777958ea4f4778" /><Relationship Type="http://schemas.openxmlformats.org/officeDocument/2006/relationships/notesMaster" Target="/ppt/notesMasters/notesMaster1.xml" Id="R166c25e53fb242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c7371f2e9c45f3" /><Relationship Type="http://schemas.openxmlformats.org/officeDocument/2006/relationships/notesMaster" Target="/ppt/notesMasters/notesMaster1.xml" Id="R6a2427be842542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fd86160c3d40bd" /><Relationship Type="http://schemas.openxmlformats.org/officeDocument/2006/relationships/notesMaster" Target="/ppt/notesMasters/notesMaster1.xml" Id="R7113a6f5741746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7b3f52bde9483e" /><Relationship Type="http://schemas.openxmlformats.org/officeDocument/2006/relationships/notesMaster" Target="/ppt/notesMasters/notesMaster1.xml" Id="R2136fcfcd4aa4d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5c03e44db64474" /><Relationship Type="http://schemas.openxmlformats.org/officeDocument/2006/relationships/notesMaster" Target="/ppt/notesMasters/notesMaster1.xml" Id="R584b5c71941149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d0f65b3345418b" /><Relationship Type="http://schemas.openxmlformats.org/officeDocument/2006/relationships/notesMaster" Target="/ppt/notesMasters/notesMaster1.xml" Id="R5698ac7087e7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开场先交代项目定位：系统根据学习目标和学习证据生成可执行、可解释、可调整的学习计划。当前汇报聚焦设计基线和实施准备，不把未完成功能描述为已有成果。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用约二十秒说明汇报结构。五部分依次回答为什么做、产品如何闭环、技术为什么可信、项目怎样推进，以及下一步如何控制风险。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先给老师一个清晰的进度判断。已完成的是设计、需求和技术基线，尚未完成的是代码、原型、训练数据和现场演示。下一步从环境验证、数据 Schema、四智能体路由和规划主链路开始。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用低年级学生的典型场景讲痛点：不知道缺什么前置知识，无法判断计划是否可完成，也不知道学习效果变化后如何调整。项目目标是给出有依据、可执行、能随证据变化的路径。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范围是主动收敛的结果。本期只做学生端学习闭环，不扩展为完整教学平台。完整验收先固定 Python、数据结构与算法、后端开发这条主线，其他计算机目标作为泛化测试。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这一页是全篇主流程图。目标、诊断、路径、打卡、验收和重规划必须首尾相接。验收时提交未达标答案，系统应真实更新掌握度并把后续任务重新排好，而不是返回固定结果。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功能框架按学生业务、智能规划、学习模型和可信数据四层组织。每一层都能映射回上一页的闭环，不是额外堆叠的功能清单。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技术架构采用本地模块化单体。前端只通过 API 访问后端；LangGraph Coordinator 负责四智能体路由；Agent 通过共享状态和结构化交接协作；RAG、图谱、规划和 BKT 保持独立工具职责。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模型选型围绕设备约束和任务分工。1.5B 模型通过 QLoRA 学习目标解析、结构化输出和候选规划，课程事实由 RAG 提供，路径可行性由规则决定，掌握度由 BKT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的目标是让每个正式学习节点都有可回查的资料依据。系统先导入和切分课程资料，再用向量与 BM25 混合检索。没有达到阈值的证据只能形成 draft，不能发布为正式路径。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这里要主动澄清：当前设计是一个 LangGraph Coordinator 调度四个专业 Agent。Agent 之间不自由对话，只通过共享 AgentState 和结构化交接协作。路径构建不负责最终审核，审查不生成路径，重规划不直接发布新路径。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LearningReplanAgent 把打卡和测验证据转换成掌握度更新，再判断是否重规划。低于 0.45 插入补强，达到 0.75 解锁后续硬先修节点。现场演示的关键是让一份未达标答案真实触发掌握度下降、补强任务和后续任务顺延。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系统可信性来自两层证明。PlanReviewAgent 使用确定性规则判断路径是否满足先修、预算、负荷和引用要求；新的现场运行记录证明核心请求没有复用缓存。规划失败最多重试三次，之后必须返回冲突和替代方向。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计划按可验证里程碑推进，不按写了多少代码或做了多少页面判断完成。每个阶段都必须有可以检查的交付结果，最后才进入现场演练和答辩交付。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当前没有可运行系统，这一点要明确说明。已经完成的是设计、SRS、技术设计、四智能体职责边界和验收设计；当前重点是环境验证、数据 Schema、演示脚本和 RAG 与图谱准备。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分工按业务闭环划分，不按前端和后端简单切开。A 负责首次计划生成，B 负责学习后的计划重排，两人共同保证接口、数据结构、联调和现场闭环。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最后用风险说明项目优先级。资源和模型稳定性风险通过最小版本、Schema 和有限重试控制；数据准备量通过固定一条验收主线控制；现场可信性通过新的运行记录和轨迹控制；协作风险通过尽早冻结接口契约控制。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643b75d3744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9e1dca15641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e432716864e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34f4d87bf46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51f4461da4b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678c06cc5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631BBF-36DE-4951-B864-DBE8B069C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7C231D-B146-4DAC-8847-9DE84B6246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B458A1-9D30-4E9F-AA9C-4E63063BBC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84D72-CAC4-4D44-83D4-8B1B9237F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EDF162-3C67-4286-8F2B-B4C44EC51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91A519-BABB-4681-A1FA-387DEEAB8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8AD56B-2C8F-4827-A88A-39852F134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1166DE-9B88-4A7B-834D-B97F4F042A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D8D588-800F-42F9-9CA6-01524D0FA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87114F-DA3F-4268-AD3E-2BE934D3FC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dfd6eafb04116" /><Relationship Type="http://schemas.openxmlformats.org/officeDocument/2006/relationships/slideLayout" Target="/ppt/slideLayouts/slideLayout1.xml" Id="R4cff44b8ba7d491b" /><Relationship Type="http://schemas.openxmlformats.org/officeDocument/2006/relationships/slideLayout" Target="/ppt/slideLayouts/slideLayout2.xml" Id="R069c6bb2782e4c36" /><Relationship Type="http://schemas.openxmlformats.org/officeDocument/2006/relationships/slideLayout" Target="/ppt/slideLayouts/slideLayout3.xml" Id="Rb5641f111aba44f1" /><Relationship Type="http://schemas.openxmlformats.org/officeDocument/2006/relationships/slideLayout" Target="/ppt/slideLayouts/slideLayout4.xml" Id="Rd935c15af5564f22" /><Relationship Type="http://schemas.openxmlformats.org/officeDocument/2006/relationships/slideLayout" Target="/ppt/slideLayouts/slideLayout5.xml" Id="Rb72b12ed9f70485f" /><Relationship Type="http://schemas.openxmlformats.org/officeDocument/2006/relationships/slideLayout" Target="/ppt/slideLayouts/slideLayout6.xml" Id="Ra95d53d65735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f44b8ba7d491b"/>
    <p:sldLayoutId xmlns:r="http://schemas.openxmlformats.org/officeDocument/2006/relationships" id="2147483650" r:id="R069c6bb2782e4c36"/>
    <p:sldLayoutId xmlns:r="http://schemas.openxmlformats.org/officeDocument/2006/relationships" id="2147483651" r:id="Rb5641f111aba44f1"/>
    <p:sldLayoutId xmlns:r="http://schemas.openxmlformats.org/officeDocument/2006/relationships" id="2147483652" r:id="Rd935c15af5564f22"/>
    <p:sldLayoutId xmlns:r="http://schemas.openxmlformats.org/officeDocument/2006/relationships" id="2147483653" r:id="Rb72b12ed9f70485f"/>
    <p:sldLayoutId xmlns:r="http://schemas.openxmlformats.org/officeDocument/2006/relationships" id="2147483654" r:id="Ra95d53d65735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cb28822e34fc7" /><Relationship Type="http://schemas.openxmlformats.org/officeDocument/2006/relationships/notesSlide" Target="/ppt/notesSlides/notesSlide1.xml" Id="R258968c8d6f546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55339f10f49af" /><Relationship Type="http://schemas.openxmlformats.org/officeDocument/2006/relationships/notesSlide" Target="/ppt/notesSlides/notesSlide2.xml" Id="R57d27f664fef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5c5a2c82d45e0" /><Relationship Type="http://schemas.openxmlformats.org/officeDocument/2006/relationships/notesSlide" Target="/ppt/notesSlides/notesSlide3.xml" Id="R06944c60e4cf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cb0c0befd4542" /><Relationship Type="http://schemas.openxmlformats.org/officeDocument/2006/relationships/notesSlide" Target="/ppt/notesSlides/notesSlide4.xml" Id="R3b46e8b55312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f7c1085614f47" /><Relationship Type="http://schemas.openxmlformats.org/officeDocument/2006/relationships/notesSlide" Target="/ppt/notesSlides/notesSlide5.xml" Id="R9104abca5ca6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308b79b844019" /><Relationship Type="http://schemas.openxmlformats.org/officeDocument/2006/relationships/notesSlide" Target="/ppt/notesSlides/notesSlide6.xml" Id="R88a75e14f9fd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f3550570244b2" /><Relationship Type="http://schemas.openxmlformats.org/officeDocument/2006/relationships/notesSlide" Target="/ppt/notesSlides/notesSlide7.xml" Id="Re36be4acf4cc46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a28464d1a4d3f" /><Relationship Type="http://schemas.openxmlformats.org/officeDocument/2006/relationships/notesSlide" Target="/ppt/notesSlides/notesSlide8.xml" Id="R9137133dcb4a4a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88f41f0bc4688" /><Relationship Type="http://schemas.openxmlformats.org/officeDocument/2006/relationships/notesSlide" Target="/ppt/notesSlides/notesSlide9.xml" Id="R7a04eacbe87d48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7997510d64ed1" /><Relationship Type="http://schemas.openxmlformats.org/officeDocument/2006/relationships/notesSlide" Target="/ppt/notesSlides/notesSlide10.xml" Id="Rd1dc4302816241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b0e70cd3e4d6a" /><Relationship Type="http://schemas.openxmlformats.org/officeDocument/2006/relationships/notesSlide" Target="/ppt/notesSlides/notesSlide11.xml" Id="R9094c0e0759b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f46ec6b0143bf" /><Relationship Type="http://schemas.openxmlformats.org/officeDocument/2006/relationships/notesSlide" Target="/ppt/notesSlides/notesSlide12.xml" Id="Rda516410318e42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ee6d3f1034e6c" /><Relationship Type="http://schemas.openxmlformats.org/officeDocument/2006/relationships/notesSlide" Target="/ppt/notesSlides/notesSlide13.xml" Id="R35cb0c2772554c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5e38d1fce4186" /><Relationship Type="http://schemas.openxmlformats.org/officeDocument/2006/relationships/notesSlide" Target="/ppt/notesSlides/notesSlide14.xml" Id="R5c94c8ae7aab48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83404e08045be" /><Relationship Type="http://schemas.openxmlformats.org/officeDocument/2006/relationships/notesSlide" Target="/ppt/notesSlides/notesSlide15.xml" Id="Rf4fea85c1bc148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7ae01e10f44f3" /><Relationship Type="http://schemas.openxmlformats.org/officeDocument/2006/relationships/notesSlide" Target="/ppt/notesSlides/notesSlide16.xml" Id="R5c1caaaec6d54d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fb882cf6c4bdc" /><Relationship Type="http://schemas.openxmlformats.org/officeDocument/2006/relationships/notesSlide" Target="/ppt/notesSlides/notesSlide17.xml" Id="R1fc576285f034c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7B911-5A83-4583-A090-C5425DFAF49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25000" y="43053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CD85-B96B-45CD-88CD-E298A15E2E1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525000" y="3200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9F581-BD09-475F-8776-C9090B9488F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525000" y="20955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502D9BB-00A2-45D5-87AD-C13B8E5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阶段性进展汇报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16B60DE-8CE8-4202-B99F-242BC865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智能学习规划助手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48EF003-E87D-409E-B53C-0C8825E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从学习目标到动态学习计划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545D589D-0633-4296-9115-F1AD668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2 人项目组  |  2026 年 10 月</a:t>
            </a:r>
          </a:p>
        </p:txBody>
      </p:sp>
      <p:sp>
        <p:nvSpPr>
          <p:cNvPr id="5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A6B0631B-61F2-4742-A997-E5CED45D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6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185699CD-162B-4988-9B96-57D2A74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146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基础诊断</a:t>
            </a:r>
          </a:p>
        </p:txBody>
      </p:sp>
      <p:sp>
        <p:nvSpPr>
          <p:cNvPr id="7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C3A129FD-7C67-4481-8D07-28BA185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个性化路径</a:t>
            </a:r>
          </a:p>
        </p:txBody>
      </p:sp>
      <p:sp>
        <p:nvSpPr>
          <p:cNvPr id="8" name="cover-node-4">
            <a:extLst xmlns:a="http://schemas.openxmlformats.org/drawingml/2006/main">
              <a:ext uri="{FF2B5EF4-FFF2-40B4-BE49-F238E27FC236}">
                <a16:creationId xmlns:a16="http://schemas.microsoft.com/office/drawing/2014/main" id="{0DA91108-2986-405C-9390-5470FDE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244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</p:txBody>
      </p:sp>
      <p:sp>
        <p:nvSpPr>
          <p:cNvPr id="12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D9862DF7-9DDB-41CC-8520-50F52DA2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48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计划不是一次生成，而是持续更新</a:t>
            </a:r>
          </a:p>
        </p:txBody>
      </p:sp>
    </p:spTree>
    <p:extLst>
      <p:ext uri="{BB962C8B-B14F-4D97-AF65-F5344CB8AC3E}">
        <p14:creationId xmlns:p14="http://schemas.microsoft.com/office/powerpoint/2010/main" val="597001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0302B34-2DCB-44AF-835A-D823577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D1673-93FB-467A-A0B1-6B13BBC1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E7485F-5DB3-4461-8432-FC253D7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五部分串联项目定位、技术方案与实施路径</a:t>
            </a:r>
          </a:p>
        </p:txBody>
      </p:sp>
      <p:sp>
        <p:nvSpPr>
          <p:cNvPr id="4" name="toc-count">
            <a:extLst xmlns:a="http://schemas.openxmlformats.org/drawingml/2006/main">
              <a:ext uri="{FF2B5EF4-FFF2-40B4-BE49-F238E27FC236}">
                <a16:creationId xmlns:a16="http://schemas.microsoft.com/office/drawing/2014/main" id="{D4BDEC92-6C56-483A-8FF1-B8EC93F3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oc-count-label">
            <a:extLst xmlns:a="http://schemas.openxmlformats.org/drawingml/2006/main">
              <a:ext uri="{FF2B5EF4-FFF2-40B4-BE49-F238E27FC236}">
                <a16:creationId xmlns:a16="http://schemas.microsoft.com/office/drawing/2014/main" id="{94BC1E8B-A9D4-47B7-96CF-97838D66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五个部分</a:t>
            </a:r>
          </a:p>
        </p:txBody>
      </p:sp>
      <p:sp>
        <p:nvSpPr>
          <p:cNvPr id="6" name="toc-intro">
            <a:extLst xmlns:a="http://schemas.openxmlformats.org/drawingml/2006/main">
              <a:ext uri="{FF2B5EF4-FFF2-40B4-BE49-F238E27FC236}">
                <a16:creationId xmlns:a16="http://schemas.microsoft.com/office/drawing/2014/main" id="{C4C35E17-3EF1-4538-B395-505744E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从真实问题出发，最后落到可验证的实施与分工。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2B77D-62DC-411E-A117-909688F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c-number-1">
            <a:extLst xmlns:a="http://schemas.openxmlformats.org/drawingml/2006/main">
              <a:ext uri="{FF2B5EF4-FFF2-40B4-BE49-F238E27FC236}">
                <a16:creationId xmlns:a16="http://schemas.microsoft.com/office/drawing/2014/main" id="{E2D4ACCA-5E46-4E47-84F8-52E9161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19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oc-title-1">
            <a:extLst xmlns:a="http://schemas.openxmlformats.org/drawingml/2006/main">
              <a:ext uri="{FF2B5EF4-FFF2-40B4-BE49-F238E27FC236}">
                <a16:creationId xmlns:a16="http://schemas.microsoft.com/office/drawing/2014/main" id="{DE038AC2-C4D7-4F32-AD70-2CC8042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0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项目定位与当前进度</a:t>
            </a:r>
          </a:p>
        </p:txBody>
      </p:sp>
      <p:sp>
        <p:nvSpPr>
          <p:cNvPr id="10" name="toc-description-1">
            <a:extLst xmlns:a="http://schemas.openxmlformats.org/drawingml/2006/main">
              <a:ext uri="{FF2B5EF4-FFF2-40B4-BE49-F238E27FC236}">
                <a16:creationId xmlns:a16="http://schemas.microsoft.com/office/drawing/2014/main" id="{9FC6BE60-E79A-400A-843E-9029E1B3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为什么做，当前做到哪一步</a:t>
            </a:r>
          </a:p>
        </p:txBody>
      </p:sp>
      <p:sp>
        <p:nvSpPr>
          <p:cNvPr id="11" name="toc-pages-1">
            <a:extLst xmlns:a="http://schemas.openxmlformats.org/drawingml/2006/main">
              <a:ext uri="{FF2B5EF4-FFF2-40B4-BE49-F238E27FC236}">
                <a16:creationId xmlns:a16="http://schemas.microsoft.com/office/drawing/2014/main" id="{1698D1C9-6ED7-45F3-91E8-28A13BF5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3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3 至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706DB-805D-4877-B609-F644EE8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c-number-2">
            <a:extLst xmlns:a="http://schemas.openxmlformats.org/drawingml/2006/main">
              <a:ext uri="{FF2B5EF4-FFF2-40B4-BE49-F238E27FC236}">
                <a16:creationId xmlns:a16="http://schemas.microsoft.com/office/drawing/2014/main" id="{2E8EEF1C-0F9A-4ECE-9CF3-37FE9F6D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oc-title-2">
            <a:extLst xmlns:a="http://schemas.openxmlformats.org/drawingml/2006/main">
              <a:ext uri="{FF2B5EF4-FFF2-40B4-BE49-F238E27FC236}">
                <a16:creationId xmlns:a16="http://schemas.microsoft.com/office/drawing/2014/main" id="{CC921B2B-60A8-4279-A2E1-84DDAEC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产品闭环与功能框架</a:t>
            </a:r>
          </a:p>
        </p:txBody>
      </p:sp>
      <p:sp>
        <p:nvSpPr>
          <p:cNvPr id="15" name="toc-description-2">
            <a:extLst xmlns:a="http://schemas.openxmlformats.org/drawingml/2006/main">
              <a:ext uri="{FF2B5EF4-FFF2-40B4-BE49-F238E27FC236}">
                <a16:creationId xmlns:a16="http://schemas.microsoft.com/office/drawing/2014/main" id="{8C6CE1F9-F3FE-411F-9486-6C12DC9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产品怎样形成完整学习闭环</a:t>
            </a:r>
          </a:p>
        </p:txBody>
      </p:sp>
      <p:sp>
        <p:nvSpPr>
          <p:cNvPr id="16" name="toc-pages-2">
            <a:extLst xmlns:a="http://schemas.openxmlformats.org/drawingml/2006/main">
              <a:ext uri="{FF2B5EF4-FFF2-40B4-BE49-F238E27FC236}">
                <a16:creationId xmlns:a16="http://schemas.microsoft.com/office/drawing/2014/main" id="{6E4E0077-F947-4416-B1E0-7245647C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6 至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F1D46-5336-4BA1-B455-8CB5CE3F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c-number-3">
            <a:extLst xmlns:a="http://schemas.openxmlformats.org/drawingml/2006/main">
              <a:ext uri="{FF2B5EF4-FFF2-40B4-BE49-F238E27FC236}">
                <a16:creationId xmlns:a16="http://schemas.microsoft.com/office/drawing/2014/main" id="{4E19A6F2-3CD1-4AC0-B607-9B3316A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95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oc-title-3">
            <a:extLst xmlns:a="http://schemas.openxmlformats.org/drawingml/2006/main">
              <a:ext uri="{FF2B5EF4-FFF2-40B4-BE49-F238E27FC236}">
                <a16:creationId xmlns:a16="http://schemas.microsoft.com/office/drawing/2014/main" id="{7FDC7521-A29C-4316-9428-FFF2F4D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76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技术实现与可信机制</a:t>
            </a:r>
          </a:p>
        </p:txBody>
      </p:sp>
      <p:sp>
        <p:nvSpPr>
          <p:cNvPr id="20" name="toc-description-3">
            <a:extLst xmlns:a="http://schemas.openxmlformats.org/drawingml/2006/main">
              <a:ext uri="{FF2B5EF4-FFF2-40B4-BE49-F238E27FC236}">
                <a16:creationId xmlns:a16="http://schemas.microsoft.com/office/drawing/2014/main" id="{D5957F2D-E184-4796-A51A-F3EC1F75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四智能体与可信技术方案</a:t>
            </a:r>
          </a:p>
        </p:txBody>
      </p:sp>
      <p:sp>
        <p:nvSpPr>
          <p:cNvPr id="21" name="toc-pages-3">
            <a:extLst xmlns:a="http://schemas.openxmlformats.org/drawingml/2006/main">
              <a:ext uri="{FF2B5EF4-FFF2-40B4-BE49-F238E27FC236}">
                <a16:creationId xmlns:a16="http://schemas.microsoft.com/office/drawing/2014/main" id="{02E0883C-2F4F-4D73-97B9-BAD7C2F9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8 至 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D4833-411B-426F-8478-5E85BD77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c-number-4">
            <a:extLst xmlns:a="http://schemas.openxmlformats.org/drawingml/2006/main">
              <a:ext uri="{FF2B5EF4-FFF2-40B4-BE49-F238E27FC236}">
                <a16:creationId xmlns:a16="http://schemas.microsoft.com/office/drawing/2014/main" id="{F90857B1-4067-41EB-91F5-58A838C1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oc-title-4">
            <a:extLst xmlns:a="http://schemas.openxmlformats.org/drawingml/2006/main">
              <a:ext uri="{FF2B5EF4-FFF2-40B4-BE49-F238E27FC236}">
                <a16:creationId xmlns:a16="http://schemas.microsoft.com/office/drawing/2014/main" id="{94555EF7-E33F-459A-A408-BE905F98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实施计划与双人分工</a:t>
            </a:r>
          </a:p>
        </p:txBody>
      </p:sp>
      <p:sp>
        <p:nvSpPr>
          <p:cNvPr id="25" name="toc-description-4">
            <a:extLst xmlns:a="http://schemas.openxmlformats.org/drawingml/2006/main">
              <a:ext uri="{FF2B5EF4-FFF2-40B4-BE49-F238E27FC236}">
                <a16:creationId xmlns:a16="http://schemas.microsoft.com/office/drawing/2014/main" id="{D23EC5D8-E4A8-4546-956D-5E78828F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项目怎样推进，两人如何协作</a:t>
            </a:r>
          </a:p>
        </p:txBody>
      </p:sp>
      <p:sp>
        <p:nvSpPr>
          <p:cNvPr id="26" name="toc-pages-4">
            <a:extLst xmlns:a="http://schemas.openxmlformats.org/drawingml/2006/main">
              <a:ext uri="{FF2B5EF4-FFF2-40B4-BE49-F238E27FC236}">
                <a16:creationId xmlns:a16="http://schemas.microsoft.com/office/drawing/2014/main" id="{4837A892-5B7D-4D0D-87F4-733A787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14 至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7714E-0697-44CF-857F-766F5BB6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96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c-number-5">
            <a:extLst xmlns:a="http://schemas.openxmlformats.org/drawingml/2006/main">
              <a:ext uri="{FF2B5EF4-FFF2-40B4-BE49-F238E27FC236}">
                <a16:creationId xmlns:a16="http://schemas.microsoft.com/office/drawing/2014/main" id="{089B2E37-13BC-4780-BA26-15C33CFD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oc-title-5">
            <a:extLst xmlns:a="http://schemas.openxmlformats.org/drawingml/2006/main">
              <a:ext uri="{FF2B5EF4-FFF2-40B4-BE49-F238E27FC236}">
                <a16:creationId xmlns:a16="http://schemas.microsoft.com/office/drawing/2014/main" id="{64BEE424-8C42-4862-8666-E1D8DE68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风险控制与下一步</a:t>
            </a:r>
          </a:p>
        </p:txBody>
      </p:sp>
      <p:sp>
        <p:nvSpPr>
          <p:cNvPr id="30" name="toc-description-5">
            <a:extLst xmlns:a="http://schemas.openxmlformats.org/drawingml/2006/main">
              <a:ext uri="{FF2B5EF4-FFF2-40B4-BE49-F238E27FC236}">
                <a16:creationId xmlns:a16="http://schemas.microsoft.com/office/drawing/2014/main" id="{777E78AF-102B-434D-9D94-47A87297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1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控制范围与协作风险</a:t>
            </a:r>
          </a:p>
        </p:txBody>
      </p:sp>
      <p:sp>
        <p:nvSpPr>
          <p:cNvPr id="31" name="toc-pages-5">
            <a:extLst xmlns:a="http://schemas.openxmlformats.org/drawingml/2006/main">
              <a:ext uri="{FF2B5EF4-FFF2-40B4-BE49-F238E27FC236}">
                <a16:creationId xmlns:a16="http://schemas.microsoft.com/office/drawing/2014/main" id="{4282DE46-341E-4A82-9F44-535FCCB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91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867E86-01DF-4144-8702-26AC5DE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044961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DA050-D9E1-4E24-B294-21593A7A40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390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39402-B5B5-4AAE-804D-396B5A9C612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195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04E18F9-7740-4F2F-9752-E3A7017A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60F055-DCF4-432D-B856-9431FC8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需求、设计与技术基线已完成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91E3E4-134C-48E1-BAA1-34EA981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项目进入工程实施阶段</a:t>
            </a:r>
          </a:p>
        </p:txBody>
      </p:sp>
      <p:sp>
        <p:nvSpPr>
          <p:cNvPr id="4" name="status-complete">
            <a:extLst xmlns:a="http://schemas.openxmlformats.org/drawingml/2006/main">
              <a:ext uri="{FF2B5EF4-FFF2-40B4-BE49-F238E27FC236}">
                <a16:creationId xmlns:a16="http://schemas.microsoft.com/office/drawing/2014/main" id="{828477A8-CE95-487E-9132-FF724345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  |  设计与技术基线</a:t>
            </a:r>
          </a:p>
        </p:txBody>
      </p:sp>
      <p:sp>
        <p:nvSpPr>
          <p:cNvPr id="5" name="status-current">
            <a:extLst xmlns:a="http://schemas.openxmlformats.org/drawingml/2006/main">
              <a:ext uri="{FF2B5EF4-FFF2-40B4-BE49-F238E27FC236}">
                <a16:creationId xmlns:a16="http://schemas.microsoft.com/office/drawing/2014/main" id="{2CAB1305-C903-4E53-AB77-4322842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 |  技术实施准备</a:t>
            </a:r>
          </a:p>
        </p:txBody>
      </p:sp>
      <p:sp>
        <p:nvSpPr>
          <p:cNvPr id="6" name="status-next">
            <a:extLst xmlns:a="http://schemas.openxmlformats.org/drawingml/2006/main">
              <a:ext uri="{FF2B5EF4-FFF2-40B4-BE49-F238E27FC236}">
                <a16:creationId xmlns:a16="http://schemas.microsoft.com/office/drawing/2014/main" id="{9646E12F-4110-4F05-833F-9C1ACA0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58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待完成  |  原型与现场演示</a:t>
            </a:r>
          </a:p>
        </p:txBody>
      </p:sp>
      <p:sp>
        <p:nvSpPr>
          <p:cNvPr id="9" name="completed-heading">
            <a:extLst xmlns:a="http://schemas.openxmlformats.org/drawingml/2006/main">
              <a:ext uri="{FF2B5EF4-FFF2-40B4-BE49-F238E27FC236}">
                <a16:creationId xmlns:a16="http://schemas.microsoft.com/office/drawing/2014/main" id="{28C714B2-7EE8-403A-9DBD-9F948B9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completed-list">
            <a:extLst xmlns:a="http://schemas.openxmlformats.org/drawingml/2006/main">
              <a:ext uri="{FF2B5EF4-FFF2-40B4-BE49-F238E27FC236}">
                <a16:creationId xmlns:a16="http://schemas.microsoft.com/office/drawing/2014/main" id="{302B35D0-2210-4E05-B85C-D7CBC1C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设计方案 v1.4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需求规格说明书 v1.2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技术设计说明书 v1.1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四智能体职责边界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现场闭环验收设计</a:t>
            </a:r>
          </a:p>
        </p:txBody>
      </p:sp>
      <p:sp>
        <p:nvSpPr>
          <p:cNvPr id="11" name="pending-heading">
            <a:extLst xmlns:a="http://schemas.openxmlformats.org/drawingml/2006/main">
              <a:ext uri="{FF2B5EF4-FFF2-40B4-BE49-F238E27FC236}">
                <a16:creationId xmlns:a16="http://schemas.microsoft.com/office/drawing/2014/main" id="{C7CD6603-5131-41A0-BFFD-5B3EA6B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2" name="pending-list">
            <a:extLst xmlns:a="http://schemas.openxmlformats.org/drawingml/2006/main">
              <a:ext uri="{FF2B5EF4-FFF2-40B4-BE49-F238E27FC236}">
                <a16:creationId xmlns:a16="http://schemas.microsoft.com/office/drawing/2014/main" id="{CD3C9A6F-68B0-4E8F-AF46-5C7C37E0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核心代码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13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3C682114-8D73-4FE9-A436-2594B32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近期行动</a:t>
            </a:r>
          </a:p>
        </p:txBody>
      </p:sp>
      <p:sp>
        <p:nvSpPr>
          <p:cNvPr id="14" name="next-list">
            <a:extLst xmlns:a="http://schemas.openxmlformats.org/drawingml/2006/main">
              <a:ext uri="{FF2B5EF4-FFF2-40B4-BE49-F238E27FC236}">
                <a16:creationId xmlns:a16="http://schemas.microsoft.com/office/drawing/2014/main" id="{19A4E6FE-2488-413C-8974-CDA4D414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技术环境验证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数据 Schema 设计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 与知识图谱准备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规划主链路实现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55C4E-5CF9-4933-B7F4-86071AC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088D6230-EC3B-4AA2-A62C-2F6D9A8E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本次汇报说明准备怎么做，以及为什么这套方案能够被验收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45DF24-0176-408B-B711-50497E1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028113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00749CE-63FB-4544-A279-C123635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57ABD5-A4BD-4E33-AD30-D6D83CAA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学生缺少可执行的学习路径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EA144-D3ED-49C7-AE4D-DEA8AFA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资源列表无法回答“先学什么、是否来得及、如何调整”</a:t>
            </a:r>
          </a:p>
        </p:txBody>
      </p:sp>
      <p:sp>
        <p:nvSpPr>
          <p:cNvPr id="4" name="student-avatar">
            <a:extLst xmlns:a="http://schemas.openxmlformats.org/drawingml/2006/main">
              <a:ext uri="{FF2B5EF4-FFF2-40B4-BE49-F238E27FC236}">
                <a16:creationId xmlns:a16="http://schemas.microsoft.com/office/drawing/2014/main" id="{4CB1F564-E9DB-4A9E-AC61-F5CB8FE6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低年级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计算机专业</a:t>
            </a:r>
          </a:p>
        </p:txBody>
      </p:sp>
      <p:sp>
        <p:nvSpPr>
          <p:cNvPr id="5" name="persona-label">
            <a:extLst xmlns:a="http://schemas.openxmlformats.org/drawingml/2006/main">
              <a:ext uri="{FF2B5EF4-FFF2-40B4-BE49-F238E27FC236}">
                <a16:creationId xmlns:a16="http://schemas.microsoft.com/office/drawing/2014/main" id="{EE4DA152-127E-4037-A4D9-3F35DDD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典型状态</a:t>
            </a:r>
          </a:p>
        </p:txBody>
      </p:sp>
      <p:sp>
        <p:nvSpPr>
          <p:cNvPr id="6" name="persona-copy">
            <a:extLst xmlns:a="http://schemas.openxmlformats.org/drawingml/2006/main">
              <a:ext uri="{FF2B5EF4-FFF2-40B4-BE49-F238E27FC236}">
                <a16:creationId xmlns:a16="http://schemas.microsoft.com/office/drawing/2014/main" id="{0C04B782-C803-4BCB-9C06-3344A32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学过 Python 语法，能完成简单程序，但尚未形成系统的知识结构。</a:t>
            </a:r>
          </a:p>
        </p:txBody>
      </p:sp>
      <p:sp>
        <p:nvSpPr>
          <p:cNvPr id="7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70BE6B5E-C506-4040-A848-DDBF06A5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缺少前置知识判断</a:t>
            </a:r>
          </a:p>
        </p:txBody>
      </p:sp>
      <p:sp>
        <p:nvSpPr>
          <p:cNvPr id="8" name="pain-copy-1">
            <a:extLst xmlns:a="http://schemas.openxmlformats.org/drawingml/2006/main">
              <a:ext uri="{FF2B5EF4-FFF2-40B4-BE49-F238E27FC236}">
                <a16:creationId xmlns:a16="http://schemas.microsoft.com/office/drawing/2014/main" id="{5A514306-EB4B-40D7-8CC5-9D31717D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不知道目标技能之前还缺什么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44B40-3220-4868-B684-09A2E2B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445F0632-2014-496F-BCB5-33C4DCA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时间预算不可验证</a:t>
            </a:r>
          </a:p>
        </p:txBody>
      </p:sp>
      <p:sp>
        <p:nvSpPr>
          <p:cNvPr id="11" name="pain-copy-2">
            <a:extLst xmlns:a="http://schemas.openxmlformats.org/drawingml/2006/main">
              <a:ext uri="{FF2B5EF4-FFF2-40B4-BE49-F238E27FC236}">
                <a16:creationId xmlns:a16="http://schemas.microsoft.com/office/drawing/2014/main" id="{EFC5BE0E-CE69-480B-ACF1-B8C08BF2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无法判断计划能否在期限内完成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505F5-DB6D-4A6C-94A1-7B6E396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A7F1B21F-0F15-47C6-B3EC-91AEF15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计划不会随证据变化</a:t>
            </a:r>
          </a:p>
        </p:txBody>
      </p:sp>
      <p:sp>
        <p:nvSpPr>
          <p:cNvPr id="14" name="pain-copy-3">
            <a:extLst xmlns:a="http://schemas.openxmlformats.org/drawingml/2006/main">
              <a:ext uri="{FF2B5EF4-FFF2-40B4-BE49-F238E27FC236}">
                <a16:creationId xmlns:a16="http://schemas.microsoft.com/office/drawing/2014/main" id="{F4283C7F-438E-411E-8226-D9608539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测验未达标后仍按原顺序推进</a:t>
            </a:r>
          </a:p>
        </p:txBody>
      </p:sp>
      <p:sp>
        <p:nvSpPr>
          <p:cNvPr id="15" name="goal-band">
            <a:extLst xmlns:a="http://schemas.openxmlformats.org/drawingml/2006/main">
              <a:ext uri="{FF2B5EF4-FFF2-40B4-BE49-F238E27FC236}">
                <a16:creationId xmlns:a16="http://schemas.microsoft.com/office/drawing/2014/main" id="{E0B1A69B-50A1-439D-AD4C-0BB0023B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项目目标：给出有依据、可执行、能随学习证据调整的学习路径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73AAF8-3FE9-4B1F-9061-674A6023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339995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5F1668B-A977-4FD9-9924-92C83FB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4BB7C-2863-449E-92A5-D891B30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项目聚焦学生端学习闭环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623558-C828-4C29-8EC8-6C04E088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用明确边界保证核心技术链路能够完成和验收</a:t>
            </a:r>
          </a:p>
        </p:txBody>
      </p:sp>
      <p:sp>
        <p:nvSpPr>
          <p:cNvPr id="4" name="scope-in-heading">
            <a:extLst xmlns:a="http://schemas.openxmlformats.org/drawingml/2006/main">
              <a:ext uri="{FF2B5EF4-FFF2-40B4-BE49-F238E27FC236}">
                <a16:creationId xmlns:a16="http://schemas.microsoft.com/office/drawing/2014/main" id="{5F70DC3B-6B78-4B0A-84E1-14D28D7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本期范围</a:t>
            </a:r>
          </a:p>
        </p:txBody>
      </p:sp>
      <p:sp>
        <p:nvSpPr>
          <p:cNvPr id="5" name="scope-in-list">
            <a:extLst xmlns:a="http://schemas.openxmlformats.org/drawingml/2006/main">
              <a:ext uri="{FF2B5EF4-FFF2-40B4-BE49-F238E27FC236}">
                <a16:creationId xmlns:a16="http://schemas.microsoft.com/office/drawing/2014/main" id="{B63D9DA2-7055-421E-9183-2E84909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目标创建与自然语言解析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基础诊断与学习者画像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RAG、知识图谱与路径规划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打卡、测验、BKT 与重规划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QLoRA 微调、模型评估与轨迹</a:t>
            </a:r>
          </a:p>
        </p:txBody>
      </p:sp>
      <p:sp>
        <p:nvSpPr>
          <p:cNvPr id="6" name="scope-out-heading">
            <a:extLst xmlns:a="http://schemas.openxmlformats.org/drawingml/2006/main">
              <a:ext uri="{FF2B5EF4-FFF2-40B4-BE49-F238E27FC236}">
                <a16:creationId xmlns:a16="http://schemas.microsoft.com/office/drawing/2014/main" id="{7C5837B2-1A0B-4AE4-AF6A-3448AD5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非目标</a:t>
            </a:r>
          </a:p>
        </p:txBody>
      </p:sp>
      <p:sp>
        <p:nvSpPr>
          <p:cNvPr id="7" name="scope-out-list">
            <a:extLst xmlns:a="http://schemas.openxmlformats.org/drawingml/2006/main">
              <a:ext uri="{FF2B5EF4-FFF2-40B4-BE49-F238E27FC236}">
                <a16:creationId xmlns:a16="http://schemas.microsoft.com/office/drawing/2014/main" id="{429F5CFB-8D8C-4778-BF0E-48123221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教师端与多人课堂管理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教务系统与统一身份认证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互联网资料自动抓取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代码沙箱与在线判题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生产级云部署与高可用集群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F2797-66E5-4F40-9619-4E9BAB2A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ccess-criterion-1">
            <a:extLst xmlns:a="http://schemas.openxmlformats.org/drawingml/2006/main">
              <a:ext uri="{FF2B5EF4-FFF2-40B4-BE49-F238E27FC236}">
                <a16:creationId xmlns:a16="http://schemas.microsoft.com/office/drawing/2014/main" id="{430BB346-6BAC-4C1D-8BCE-7286734F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路径满足先修与时间预算</a:t>
            </a:r>
          </a:p>
        </p:txBody>
      </p:sp>
      <p:sp>
        <p:nvSpPr>
          <p:cNvPr id="10" name="success-criterion-2">
            <a:extLst xmlns:a="http://schemas.openxmlformats.org/drawingml/2006/main">
              <a:ext uri="{FF2B5EF4-FFF2-40B4-BE49-F238E27FC236}">
                <a16:creationId xmlns:a16="http://schemas.microsoft.com/office/drawing/2014/main" id="{B8F369E0-0E68-407D-B92B-F9935CC1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每个正式节点有真实引用</a:t>
            </a:r>
          </a:p>
        </p:txBody>
      </p:sp>
      <p:sp>
        <p:nvSpPr>
          <p:cNvPr id="11" name="success-criterion-3">
            <a:extLst xmlns:a="http://schemas.openxmlformats.org/drawingml/2006/main">
              <a:ext uri="{FF2B5EF4-FFF2-40B4-BE49-F238E27FC236}">
                <a16:creationId xmlns:a16="http://schemas.microsoft.com/office/drawing/2014/main" id="{B3B4AC5D-334C-4299-9788-7E6B3B3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未达标证据触发补强与重规划</a:t>
            </a:r>
          </a:p>
        </p:txBody>
      </p:sp>
      <p:sp>
        <p:nvSpPr>
          <p:cNvPr id="12" name="scope-mainline">
            <a:extLst xmlns:a="http://schemas.openxmlformats.org/drawingml/2006/main">
              <a:ext uri="{FF2B5EF4-FFF2-40B4-BE49-F238E27FC236}">
                <a16:creationId xmlns:a16="http://schemas.microsoft.com/office/drawing/2014/main" id="{115A5CF9-DA21-436C-9404-17AE3793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完整验收主线：Python 基础 → 数据结构与算法 → 后端开发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910C13-84EB-4D62-B4CF-6D826FF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103277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793DC-0E9E-4A75-8C11-1753356CDD2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057775" y="3562350"/>
            <a:ext cx="5429250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0F766E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AC475-D83A-4B49-B46A-13C47D580E4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429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E36F2-531A-4F70-9BAB-BAEDC930AB4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1ED19-F282-4E45-84AE-6285B860CA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92DFD-822B-4101-85CC-27405C01F16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7B823-9FB5-45F9-9A8B-F416A8EB05E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90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FF22621-CDFC-4644-A0C0-4852A9A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0C5D71-E390-4339-87D9-63F66D6F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六阶段闭环覆盖目标、执行与反馈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45CAEC-E4B1-44FB-8576-9663E3B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现场验收沿同一条业务链连续完成</a:t>
            </a:r>
          </a:p>
        </p:txBody>
      </p:sp>
      <p:sp>
        <p:nvSpPr>
          <p:cNvPr id="4" name="loop-step-1">
            <a:extLst xmlns:a="http://schemas.openxmlformats.org/drawingml/2006/main">
              <a:ext uri="{FF2B5EF4-FFF2-40B4-BE49-F238E27FC236}">
                <a16:creationId xmlns:a16="http://schemas.microsoft.com/office/drawing/2014/main" id="{DBA3590F-BB7F-4D9A-B000-A12A9CA8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loop-step-2">
            <a:extLst xmlns:a="http://schemas.openxmlformats.org/drawingml/2006/main">
              <a:ext uri="{FF2B5EF4-FFF2-40B4-BE49-F238E27FC236}">
                <a16:creationId xmlns:a16="http://schemas.microsoft.com/office/drawing/2014/main" id="{D2AF44C7-AE45-45E0-801B-69BA5BD8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诊断起点</a:t>
            </a:r>
          </a:p>
        </p:txBody>
      </p:sp>
      <p:sp>
        <p:nvSpPr>
          <p:cNvPr id="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DC749199-A95A-490D-8EE1-A66BB06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loop-step-4">
            <a:extLst xmlns:a="http://schemas.openxmlformats.org/drawingml/2006/main">
              <a:ext uri="{FF2B5EF4-FFF2-40B4-BE49-F238E27FC236}">
                <a16:creationId xmlns:a16="http://schemas.microsoft.com/office/drawing/2014/main" id="{0E8E88B5-03C7-46FF-B751-A163B6E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loop-step-5">
            <a:extLst xmlns:a="http://schemas.openxmlformats.org/drawingml/2006/main">
              <a:ext uri="{FF2B5EF4-FFF2-40B4-BE49-F238E27FC236}">
                <a16:creationId xmlns:a16="http://schemas.microsoft.com/office/drawing/2014/main" id="{0BC00A5D-D442-44B5-A5D1-49EBDE7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loop-step-6">
            <a:extLst xmlns:a="http://schemas.openxmlformats.org/drawingml/2006/main">
              <a:ext uri="{FF2B5EF4-FFF2-40B4-BE49-F238E27FC236}">
                <a16:creationId xmlns:a16="http://schemas.microsoft.com/office/drawing/2014/main" id="{3069C6B0-3CDF-49E3-9291-309430C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loop-annotation">
            <a:extLst xmlns:a="http://schemas.openxmlformats.org/drawingml/2006/main">
              <a:ext uri="{FF2B5EF4-FFF2-40B4-BE49-F238E27FC236}">
                <a16:creationId xmlns:a16="http://schemas.microsoft.com/office/drawing/2014/main" id="{FB90EEE9-FF55-4044-9F00-E34AC5B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未达标或约束变化时回到规划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E360A-4C12-478B-B78C-72DCC840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quirement">
            <a:extLst xmlns:a="http://schemas.openxmlformats.org/drawingml/2006/main">
              <a:ext uri="{FF2B5EF4-FFF2-40B4-BE49-F238E27FC236}">
                <a16:creationId xmlns:a16="http://schemas.microsoft.com/office/drawing/2014/main" id="{AEF342E5-9508-4F4F-9694-EC52497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业务要求：状态持久化、结构化输出、可检查通过条件</a:t>
            </a:r>
          </a:p>
        </p:txBody>
      </p:sp>
      <p:sp>
        <p:nvSpPr>
          <p:cNvPr id="19" name="loop-demo-rule">
            <a:extLst xmlns:a="http://schemas.openxmlformats.org/drawingml/2006/main">
              <a:ext uri="{FF2B5EF4-FFF2-40B4-BE49-F238E27FC236}">
                <a16:creationId xmlns:a16="http://schemas.microsoft.com/office/drawing/2014/main" id="{21F407B1-0977-4461-A72F-36E7275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72100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现场要求：无预生成路径、无缓存规划、无人工改库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6DBE0D-6939-44E2-976C-7381839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315389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A3E8F55-9049-4F06-982C-3F0EB7E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26DB1F-3984-4161-BA7C-64F4F39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功能框架围绕闭环分层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DCA9E6-F158-4C2E-9AA0-19D7167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业务操作、智能规划、学习模型和可信数据各司其职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10125-48F7-42A6-983F-13386DC1F730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82015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学生业务层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目标管理、基础诊断、学习路径、今日任务、证据验收、重规划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智能规划层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GoalDiagnosisAgent、PathBuildingAgent、PlanReviewAgent、LearningReplanAgent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学习模型层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学习者画像、BKT、执行偏差、掌握度快照、重规划判断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可信数据层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RAG、真实引用、文档版本、模型版本、Agent 轨迹与运行记录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functional-principle">
            <a:extLst xmlns:a="http://schemas.openxmlformats.org/drawingml/2006/main">
              <a:ext uri="{FF2B5EF4-FFF2-40B4-BE49-F238E27FC236}">
                <a16:creationId xmlns:a16="http://schemas.microsoft.com/office/drawing/2014/main" id="{88311C14-8DE1-4318-951F-851EBA8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核心原则：语言模型提供候选，系统和证据决定内容能否进入正式路径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A420D3-3200-4FD7-A46A-6E3BB10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1189822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DAAE3-E7DB-43AF-B4CE-8AC852CAA601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705350"/>
            <a:ext cx="4076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B6AF7-18D8-43A9-BA8E-A2B174CAC57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705350"/>
            <a:ext cx="1943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C437C-807B-47C2-A6C7-DF1EE6D1BEAE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905500" y="4705350"/>
            <a:ext cx="1905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EEFB3-7293-447B-B206-9F15125FD5E9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771900" y="4705350"/>
            <a:ext cx="2324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A5147-3D6A-4FCC-A9A4-D719C2D70F14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638300" y="4705350"/>
            <a:ext cx="4457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AF56B-D3F3-43EC-8D53-12BD7A5DB50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934575" y="3505200"/>
            <a:ext cx="23812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667F8-603F-4A3F-A6E8-CE073874AB60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248525" y="3505200"/>
            <a:ext cx="790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A0E9C-2234-4296-9FEA-3B455943968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858000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051FD-25CC-4D43-8E9D-FEF05AA9DE2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24400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55F74-B5B4-4B60-BD0E-8EAB3CAA216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3771900" y="3505200"/>
            <a:ext cx="790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5E671-4CA3-4441-B42E-4D96D64417F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638300" y="3505200"/>
            <a:ext cx="23812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17A98-E6B5-461E-9155-10C9912DC97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258050" y="2305050"/>
            <a:ext cx="26765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E3EEF-7E7D-42AD-BA24-43929B8071A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248525" y="2305050"/>
            <a:ext cx="95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916FB-2B5C-47F3-A572-81F7BFD029F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4562475" y="2305050"/>
            <a:ext cx="26955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43B11-07CC-429C-B960-358E5F17823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76425" y="2305050"/>
            <a:ext cx="53816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3FFF0-3849-4810-9846-96CAFEB9E98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43550" y="1962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ACD57-EDA5-49E4-80E8-48D1B0C4226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71800" y="1962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AA4D33B-13E2-4F40-9E2B-198300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6714C-241E-4D18-BC71-72DE72D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四智能体架构运行在本地模块化单体中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65D6D7-945F-4DE5-9F05-E2072AE3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Coordinator 负责路由，专业 Agent 通过共享状态交接</a:t>
            </a:r>
          </a:p>
        </p:txBody>
      </p:sp>
      <p:sp>
        <p:nvSpPr>
          <p:cNvPr id="4" name="arch-frontend">
            <a:extLst xmlns:a="http://schemas.openxmlformats.org/drawingml/2006/main">
              <a:ext uri="{FF2B5EF4-FFF2-40B4-BE49-F238E27FC236}">
                <a16:creationId xmlns:a16="http://schemas.microsoft.com/office/drawing/2014/main" id="{2B38AA8D-D1A9-43AD-A8C0-E8D659AC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React 学生端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目标、路径、任务、测验</a:t>
            </a:r>
          </a:p>
        </p:txBody>
      </p:sp>
      <p:sp>
        <p:nvSpPr>
          <p:cNvPr id="5" name="arch-api">
            <a:extLst xmlns:a="http://schemas.openxmlformats.org/drawingml/2006/main">
              <a:ext uri="{FF2B5EF4-FFF2-40B4-BE49-F238E27FC236}">
                <a16:creationId xmlns:a16="http://schemas.microsoft.com/office/drawing/2014/main" id="{3B39B61D-D9B3-4AC0-91CA-1A8577D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REST API + Schema</a:t>
            </a:r>
          </a:p>
        </p:txBody>
      </p:sp>
      <p:sp>
        <p:nvSpPr>
          <p:cNvPr id="6" name="arch-coordinator">
            <a:extLst xmlns:a="http://schemas.openxmlformats.org/drawingml/2006/main">
              <a:ext uri="{FF2B5EF4-FFF2-40B4-BE49-F238E27FC236}">
                <a16:creationId xmlns:a16="http://schemas.microsoft.com/office/drawing/2014/main" id="{00F3B188-6D8B-4F8D-98AF-A5A1D40C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192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LangGraph Coordinator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选择 Agent、条件边、有限重试</a:t>
            </a:r>
          </a:p>
        </p:txBody>
      </p:sp>
      <p:sp>
        <p:nvSpPr>
          <p:cNvPr id="9" name="arch-agent-1">
            <a:extLst xmlns:a="http://schemas.openxmlformats.org/drawingml/2006/main">
              <a:ext uri="{FF2B5EF4-FFF2-40B4-BE49-F238E27FC236}">
                <a16:creationId xmlns:a16="http://schemas.microsoft.com/office/drawing/2014/main" id="{48B5308E-6588-4570-91B0-0564E46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GoalDiagnosisAgent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目标、诊断、画像</a:t>
            </a:r>
          </a:p>
        </p:txBody>
      </p:sp>
      <p:sp>
        <p:nvSpPr>
          <p:cNvPr id="10" name="arch-agent-2">
            <a:extLst xmlns:a="http://schemas.openxmlformats.org/drawingml/2006/main">
              <a:ext uri="{FF2B5EF4-FFF2-40B4-BE49-F238E27FC236}">
                <a16:creationId xmlns:a16="http://schemas.microsoft.com/office/drawing/2014/main" id="{FACAA8B9-BA6D-46CF-B8D4-0ED0038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PathBuildingAgent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内容、RAG、路径</a:t>
            </a:r>
          </a:p>
        </p:txBody>
      </p:sp>
      <p:sp>
        <p:nvSpPr>
          <p:cNvPr id="11" name="arch-agent-3">
            <a:extLst xmlns:a="http://schemas.openxmlformats.org/drawingml/2006/main">
              <a:ext uri="{FF2B5EF4-FFF2-40B4-BE49-F238E27FC236}">
                <a16:creationId xmlns:a16="http://schemas.microsoft.com/office/drawing/2014/main" id="{6C133C0E-A6FD-4578-84BF-06FB86C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引用、先修、预算</a:t>
            </a:r>
          </a:p>
        </p:txBody>
      </p:sp>
      <p:sp>
        <p:nvSpPr>
          <p:cNvPr id="12" name="arch-agent-4">
            <a:extLst xmlns:a="http://schemas.openxmlformats.org/drawingml/2006/main">
              <a:ext uri="{FF2B5EF4-FFF2-40B4-BE49-F238E27FC236}">
                <a16:creationId xmlns:a16="http://schemas.microsoft.com/office/drawing/2014/main" id="{DAD855F4-4D22-47D7-9B6A-93414A6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证据、BKT、重规划</a:t>
            </a:r>
          </a:p>
        </p:txBody>
      </p:sp>
      <p:sp>
        <p:nvSpPr>
          <p:cNvPr id="17" name="arch-agent-state">
            <a:extLst xmlns:a="http://schemas.openxmlformats.org/drawingml/2006/main">
              <a:ext uri="{FF2B5EF4-FFF2-40B4-BE49-F238E27FC236}">
                <a16:creationId xmlns:a16="http://schemas.microsoft.com/office/drawing/2014/main" id="{B0ABDA4E-F469-4E97-B179-A4430E9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AgentState  共享目标、诊断、证据、候选路径、审查结果、掌握度与重试计数</a:t>
            </a:r>
          </a:p>
        </p:txBody>
      </p:sp>
      <p:sp>
        <p:nvSpPr>
          <p:cNvPr id="18" name="arch-tool-1">
            <a:extLst xmlns:a="http://schemas.openxmlformats.org/drawingml/2006/main">
              <a:ext uri="{FF2B5EF4-FFF2-40B4-BE49-F238E27FC236}">
                <a16:creationId xmlns:a16="http://schemas.microsoft.com/office/drawing/2014/main" id="{71D61366-1713-4AF1-8E37-FFC8A2B1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Ollama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19" name="arch-tool-2">
            <a:extLst xmlns:a="http://schemas.openxmlformats.org/drawingml/2006/main">
              <a:ext uri="{FF2B5EF4-FFF2-40B4-BE49-F238E27FC236}">
                <a16:creationId xmlns:a16="http://schemas.microsoft.com/office/drawing/2014/main" id="{0CF0DFB2-595B-439D-913E-65FC286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Chroma + FTS5</a:t>
            </a:r>
          </a:p>
        </p:txBody>
      </p:sp>
      <p:sp>
        <p:nvSpPr>
          <p:cNvPr id="20" name="arch-tool-3">
            <a:extLst xmlns:a="http://schemas.openxmlformats.org/drawingml/2006/main">
              <a:ext uri="{FF2B5EF4-FFF2-40B4-BE49-F238E27FC236}">
                <a16:creationId xmlns:a16="http://schemas.microsoft.com/office/drawing/2014/main" id="{E4A3E315-0F75-4FC0-834A-E551EBF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DAG + 拓扑排序</a:t>
            </a:r>
          </a:p>
        </p:txBody>
      </p:sp>
      <p:sp>
        <p:nvSpPr>
          <p:cNvPr id="21" name="arch-tool-4">
            <a:extLst xmlns:a="http://schemas.openxmlformats.org/drawingml/2006/main">
              <a:ext uri="{FF2B5EF4-FFF2-40B4-BE49-F238E27FC236}">
                <a16:creationId xmlns:a16="http://schemas.microsoft.com/office/drawing/2014/main" id="{FAB0EDA8-B7E8-410E-8957-1E74476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Planning + Rules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搜索 + 校验</a:t>
            </a:r>
          </a:p>
        </p:txBody>
      </p:sp>
      <p:sp>
        <p:nvSpPr>
          <p:cNvPr id="22" name="arch-tool-5">
            <a:extLst xmlns:a="http://schemas.openxmlformats.org/drawingml/2006/main">
              <a:ext uri="{FF2B5EF4-FFF2-40B4-BE49-F238E27FC236}">
                <a16:creationId xmlns:a16="http://schemas.microsoft.com/office/drawing/2014/main" id="{881591E9-82F6-44D0-941B-DC554E4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+ Replan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 + 调整</a:t>
            </a:r>
          </a:p>
        </p:txBody>
      </p:sp>
      <p:sp>
        <p:nvSpPr>
          <p:cNvPr id="29" name="arch-data-layer">
            <a:extLst xmlns:a="http://schemas.openxmlformats.org/drawingml/2006/main">
              <a:ext uri="{FF2B5EF4-FFF2-40B4-BE49-F238E27FC236}">
                <a16:creationId xmlns:a16="http://schemas.microsoft.com/office/drawing/2014/main" id="{C54CEE9F-9549-4D3E-A8DC-00F222F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本地数据层  |  SQLite 业务数据  |  Chroma 向量索引  |  SQLite FTS5 文本检索  |  文件系统模型产物</a:t>
            </a:r>
          </a:p>
        </p:txBody>
      </p:sp>
      <p:sp>
        <p:nvSpPr>
          <p:cNvPr id="35" name="arch-training">
            <a:extLst xmlns:a="http://schemas.openxmlformats.org/drawingml/2006/main">
              <a:ext uri="{FF2B5EF4-FFF2-40B4-BE49-F238E27FC236}">
                <a16:creationId xmlns:a16="http://schemas.microsoft.com/office/drawing/2014/main" id="{A4B2E792-784B-4D05-A2A1-C0CF80FD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66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Training CLI  |  QLoRA + 模型评估</a:t>
            </a:r>
          </a:p>
        </p:txBody>
      </p:sp>
      <p:sp>
        <p:nvSpPr>
          <p:cNvPr id="36" name="arch-boundary-1">
            <a:extLst xmlns:a="http://schemas.openxmlformats.org/drawingml/2006/main">
              <a:ext uri="{FF2B5EF4-FFF2-40B4-BE49-F238E27FC236}">
                <a16:creationId xmlns:a16="http://schemas.microsoft.com/office/drawing/2014/main" id="{819ECD0A-D550-4C93-8858-D7FBC2E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Coordinator 只路由，不生成业务内容</a:t>
            </a:r>
          </a:p>
        </p:txBody>
      </p:sp>
      <p:sp>
        <p:nvSpPr>
          <p:cNvPr id="37" name="arch-boundary-2">
            <a:extLst xmlns:a="http://schemas.openxmlformats.org/drawingml/2006/main">
              <a:ext uri="{FF2B5EF4-FFF2-40B4-BE49-F238E27FC236}">
                <a16:creationId xmlns:a16="http://schemas.microsoft.com/office/drawing/2014/main" id="{F3D5BB05-CB54-4070-BA50-60812D2A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9626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图谱与规则决定路径是否可行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269FFA-3E11-4161-9B2E-F0C176CF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224989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FAB779D-CB98-4F14-8BB2-CE780EB1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28BDEC-D8EA-426D-95BC-8477EE8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小参数模型学习任务格式，不记忆课程事实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956B53-B1B1-4759-8BC8-D33F1DB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Qwen2.5-1.5B 与 QLoRA 在效果、显存和训练时间之间取平衡</a:t>
            </a:r>
          </a:p>
        </p:txBody>
      </p:sp>
      <p:sp>
        <p:nvSpPr>
          <p:cNvPr id="4" name="model-band">
            <a:extLst xmlns:a="http://schemas.openxmlformats.org/drawingml/2006/main">
              <a:ext uri="{FF2B5EF4-FFF2-40B4-BE49-F238E27FC236}">
                <a16:creationId xmlns:a16="http://schemas.microsoft.com/office/drawing/2014/main" id="{B09D462A-E4A2-4DDD-A487-736594A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Qwen2.5-1.5B-Instruct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4-bit QLoRA  |  Ollama 本地推理</a:t>
            </a:r>
          </a:p>
        </p:txBody>
      </p:sp>
      <p:sp>
        <p:nvSpPr>
          <p:cNvPr id="5" name="model-config-list">
            <a:extLst xmlns:a="http://schemas.openxmlformats.org/drawingml/2006/main">
              <a:ext uri="{FF2B5EF4-FFF2-40B4-BE49-F238E27FC236}">
                <a16:creationId xmlns:a16="http://schemas.microsoft.com/office/drawing/2014/main" id="{19DD4AFF-D4B7-4697-98FD-BCA38FC5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嵌入模型：nomic-embed-text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训练数据：600 至 1200 条审核后的 SFT 样本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训练划分：80% / 10% / 10%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默认配置：rank 16、alpha 32、dropout 0.05</a:t>
            </a:r>
          </a:p>
        </p:txBody>
      </p:sp>
      <p:sp>
        <p:nvSpPr>
          <p:cNvPr id="6" name="model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82D5FE33-B80A-44A1-A548-DCEE420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</a:p>
        </p:txBody>
      </p:sp>
      <p:sp>
        <p:nvSpPr>
          <p:cNvPr id="7" name="model-responsible-list">
            <a:extLst xmlns:a="http://schemas.openxmlformats.org/drawingml/2006/main">
              <a:ext uri="{FF2B5EF4-FFF2-40B4-BE49-F238E27FC236}">
                <a16:creationId xmlns:a16="http://schemas.microsoft.com/office/drawing/2014/main" id="{2442EA91-DCD8-4401-9F32-5A33C7A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拆解知识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生成任务与题目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生成候选路径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解释调整原因</a:t>
            </a:r>
          </a:p>
        </p:txBody>
      </p:sp>
      <p:sp>
        <p:nvSpPr>
          <p:cNvPr id="8" name="model-not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07422AF7-6533-425C-9540-875FDD16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不由模型决定</a:t>
            </a:r>
          </a:p>
        </p:txBody>
      </p:sp>
      <p:sp>
        <p:nvSpPr>
          <p:cNvPr id="9" name="model-not-responsible-list">
            <a:extLst xmlns:a="http://schemas.openxmlformats.org/drawingml/2006/main">
              <a:ext uri="{FF2B5EF4-FFF2-40B4-BE49-F238E27FC236}">
                <a16:creationId xmlns:a16="http://schemas.microsoft.com/office/drawing/2014/main" id="{475BB7A3-506B-4DB8-8FA2-E5CC3378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305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课程事实真实性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最终路径可行性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掌握度更新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是否允许发布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144CB-B3F0-4C12-86FF-28AF988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798ED31-4DA5-41C2-8CC5-24965BD8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A70AA17-E520-48F0-A88D-D85ABC7F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JSON 合法率</a:t>
            </a:r>
          </a:p>
        </p:txBody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5D4A7FD-D950-4D76-AA21-7BD67E44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+10pp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FA5E00E-7C92-4FD6-992B-68D580E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结构化成功率提升</a:t>
            </a:r>
          </a:p>
        </p:txBody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FC45C9B9-DAAE-4CD3-B5F5-CF66AE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3511A4C5-20E6-4169-BD3B-F9FEE96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引用存在率</a:t>
            </a:r>
          </a:p>
        </p:txBody>
      </p:sp>
      <p:sp>
        <p:nvSpPr>
          <p:cNvPr id="17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65867AF0-1D96-4A14-8257-E66EBBC6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18585524-6FB3-443E-B506-FEFE9C90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硬先修冲突率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5C734B-3726-430B-B017-FD670816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955881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1EC8D-B330-4E31-B579-B64619A26CF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677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1939A-15A5-4A34-96BF-0209D65FB92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532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305BB-481E-4861-9463-E848B7A3755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386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AD214-EB2C-49EB-9BBA-AD7F62C28B1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21391C-9AE4-4160-BB7A-821DBC9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D64D2B-97CA-412E-97A8-6D39D0B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 为学习节点提供可追溯依据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E31F75-42DB-4065-A4FB-F42A4B44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混合检索保证语义匹配，同时保留课程术语的精确匹配</a:t>
            </a:r>
          </a:p>
        </p:txBody>
      </p:sp>
      <p:sp>
        <p:nvSpPr>
          <p:cNvPr id="4" name="rag-step-1">
            <a:extLst xmlns:a="http://schemas.openxmlformats.org/drawingml/2006/main">
              <a:ext uri="{FF2B5EF4-FFF2-40B4-BE49-F238E27FC236}">
                <a16:creationId xmlns:a16="http://schemas.microsoft.com/office/drawing/2014/main" id="{BDC769F2-92DC-4290-BF99-419F1D9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导入资料</a:t>
            </a:r>
          </a:p>
        </p:txBody>
      </p:sp>
      <p:sp>
        <p:nvSpPr>
          <p:cNvPr id="5" name="rag-step-2">
            <a:extLst xmlns:a="http://schemas.openxmlformats.org/drawingml/2006/main">
              <a:ext uri="{FF2B5EF4-FFF2-40B4-BE49-F238E27FC236}">
                <a16:creationId xmlns:a16="http://schemas.microsoft.com/office/drawing/2014/main" id="{683ABB2F-9706-4196-8EA1-573D1C9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语义切分</a:t>
            </a:r>
          </a:p>
        </p:txBody>
      </p:sp>
      <p:sp>
        <p:nvSpPr>
          <p:cNvPr id="6" name="rag-step-3">
            <a:extLst xmlns:a="http://schemas.openxmlformats.org/drawingml/2006/main">
              <a:ext uri="{FF2B5EF4-FFF2-40B4-BE49-F238E27FC236}">
                <a16:creationId xmlns:a16="http://schemas.microsoft.com/office/drawing/2014/main" id="{BEB5A1A8-435B-4872-92F0-842C617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7" name="rag-step-4">
            <a:extLst xmlns:a="http://schemas.openxmlformats.org/drawingml/2006/main">
              <a:ext uri="{FF2B5EF4-FFF2-40B4-BE49-F238E27FC236}">
                <a16:creationId xmlns:a16="http://schemas.microsoft.com/office/drawing/2014/main" id="{5A50ABF2-6028-4D3E-93A0-04B3813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8" name="rag-step-5">
            <a:extLst xmlns:a="http://schemas.openxmlformats.org/drawingml/2006/main">
              <a:ext uri="{FF2B5EF4-FFF2-40B4-BE49-F238E27FC236}">
                <a16:creationId xmlns:a16="http://schemas.microsoft.com/office/drawing/2014/main" id="{C90FB810-1B06-4540-85E4-4EB8D34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生成引用</a:t>
            </a:r>
          </a:p>
        </p:txBody>
      </p:sp>
      <p:sp>
        <p:nvSpPr>
          <p:cNvPr id="13" name="rag-formula-heading">
            <a:extLst xmlns:a="http://schemas.openxmlformats.org/drawingml/2006/main">
              <a:ext uri="{FF2B5EF4-FFF2-40B4-BE49-F238E27FC236}">
                <a16:creationId xmlns:a16="http://schemas.microsoft.com/office/drawing/2014/main" id="{2130BDBC-1777-406E-BFB5-1925585D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混合检索公式</a:t>
            </a:r>
          </a:p>
        </p:txBody>
      </p:sp>
      <p:sp>
        <p:nvSpPr>
          <p:cNvPr id="14" name="rag-formula">
            <a:extLst xmlns:a="http://schemas.openxmlformats.org/drawingml/2006/main">
              <a:ext uri="{FF2B5EF4-FFF2-40B4-BE49-F238E27FC236}">
                <a16:creationId xmlns:a16="http://schemas.microsoft.com/office/drawing/2014/main" id="{5CF0309E-54E7-422D-9264-1B543C8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0.65 × 向量相似度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+ 0.35 × 归一化 BM25</a:t>
            </a:r>
          </a:p>
        </p:txBody>
      </p:sp>
      <p:sp>
        <p:nvSpPr>
          <p:cNvPr id="15" name="rag-retrieval-list">
            <a:extLst xmlns:a="http://schemas.openxmlformats.org/drawingml/2006/main">
              <a:ext uri="{FF2B5EF4-FFF2-40B4-BE49-F238E27FC236}">
                <a16:creationId xmlns:a16="http://schemas.microsoft.com/office/drawing/2014/main" id="{78C2028A-7048-41EB-A2C3-A4570B8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默认召回 8 个片段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过滤课程、知识域和文档版本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返回前 5 个片段作为上下文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EF2C0-56D3-4688-89D0-BDD14D38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g-citation-heading">
            <a:extLst xmlns:a="http://schemas.openxmlformats.org/drawingml/2006/main">
              <a:ext uri="{FF2B5EF4-FFF2-40B4-BE49-F238E27FC236}">
                <a16:creationId xmlns:a16="http://schemas.microsoft.com/office/drawing/2014/main" id="{86DC360C-928E-4F03-BEF5-94F4244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引用记录示例</a:t>
            </a:r>
          </a:p>
        </p:txBody>
      </p:sp>
      <p:sp>
        <p:nvSpPr>
          <p:cNvPr id="18" name="citation-title">
            <a:extLst xmlns:a="http://schemas.openxmlformats.org/drawingml/2006/main">
              <a:ext uri="{FF2B5EF4-FFF2-40B4-BE49-F238E27FC236}">
                <a16:creationId xmlns:a16="http://schemas.microsoft.com/office/drawing/2014/main" id="{8EC23AC7-D6A4-4590-9626-CB6CED5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Python 程序设计课程大纲</a:t>
            </a:r>
          </a:p>
        </p:txBody>
      </p:sp>
      <p:sp>
        <p:nvSpPr>
          <p:cNvPr id="19" name="citation-detail">
            <a:extLst xmlns:a="http://schemas.openxmlformats.org/drawingml/2006/main">
              <a:ext uri="{FF2B5EF4-FFF2-40B4-BE49-F238E27FC236}">
                <a16:creationId xmlns:a16="http://schemas.microsoft.com/office/drawing/2014/main" id="{55DBD547-D406-475C-B56E-2C2E1E3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章节：函数与模块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页码：12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片段：doc-python-001-c03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检索得分：0.82</a:t>
            </a:r>
          </a:p>
        </p:txBody>
      </p:sp>
      <p:sp>
        <p:nvSpPr>
          <p:cNvPr id="20" name="rag-trust-level">
            <a:extLst xmlns:a="http://schemas.openxmlformats.org/drawingml/2006/main">
              <a:ext uri="{FF2B5EF4-FFF2-40B4-BE49-F238E27FC236}">
                <a16:creationId xmlns:a16="http://schemas.microsoft.com/office/drawing/2014/main" id="{0261E56C-773C-46C0-9DCE-4B5C92C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无有效证据 → 标记 draft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有真实证据且规则通过 → verified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2C2F42-938A-4BB2-9E3C-E748365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428640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D0EBC-352C-4235-8F26-F6B1FB89B8D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39624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D5CA8-D9A3-47A4-9BCA-0074392871A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V="1">
            <a:off x="6096000" y="3333750"/>
            <a:ext cx="3933825" cy="857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63CD5-4BFA-428D-84AF-A7C8FA40C08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 flipV="1">
            <a:off x="2162175" y="3333750"/>
            <a:ext cx="3933825" cy="857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F03EE-DF0B-4D98-8A1A-9C51910A0D5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457450"/>
            <a:ext cx="3933825" cy="190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E0F2-544E-4992-91E3-A5C22977271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162175" y="2457450"/>
            <a:ext cx="3933825" cy="190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F9A01F9-1565-4333-92C3-6D45C89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7C658-A4D3-46EC-8CC2-ADFBEA9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协调四个专业智能体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1A2264-8A67-4640-AE63-06F54A57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Coordinator 统一路由，Agent 通过共享状态和结构化交接协作</a:t>
            </a:r>
          </a:p>
        </p:txBody>
      </p:sp>
      <p:sp>
        <p:nvSpPr>
          <p:cNvPr id="4" name="langgraph-coordinator">
            <a:extLst xmlns:a="http://schemas.openxmlformats.org/drawingml/2006/main">
              <a:ext uri="{FF2B5EF4-FFF2-40B4-BE49-F238E27FC236}">
                <a16:creationId xmlns:a16="http://schemas.microsoft.com/office/drawing/2014/main" id="{8C7D74AA-1D9A-4318-9A2E-F643261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36576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LangGraph Coordinator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读取状态、选择 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条件边、重试与停止判断</a:t>
            </a:r>
          </a:p>
        </p:txBody>
      </p:sp>
      <p:sp>
        <p:nvSpPr>
          <p:cNvPr id="5" name="langgraph-agent-1">
            <a:extLst xmlns:a="http://schemas.openxmlformats.org/drawingml/2006/main">
              <a:ext uri="{FF2B5EF4-FFF2-40B4-BE49-F238E27FC236}">
                <a16:creationId xmlns:a16="http://schemas.microsoft.com/office/drawing/2014/main" id="{ECA789F4-9693-4319-9A07-140405C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GoalDiagnosisAgent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目标解析、诊断、画像</a:t>
            </a:r>
          </a:p>
        </p:txBody>
      </p:sp>
      <p:sp>
        <p:nvSpPr>
          <p:cNvPr id="6" name="langgraph-agent-2">
            <a:extLst xmlns:a="http://schemas.openxmlformats.org/drawingml/2006/main">
              <a:ext uri="{FF2B5EF4-FFF2-40B4-BE49-F238E27FC236}">
                <a16:creationId xmlns:a16="http://schemas.microsoft.com/office/drawing/2014/main" id="{5ECA000C-75EE-4643-BBD8-CDA31BEB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621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PathBuildingAgent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内容、RAG、候选路径</a:t>
            </a:r>
          </a:p>
        </p:txBody>
      </p:sp>
      <p:sp>
        <p:nvSpPr>
          <p:cNvPr id="7" name="langgraph-agent-3">
            <a:extLst xmlns:a="http://schemas.openxmlformats.org/drawingml/2006/main">
              <a:ext uri="{FF2B5EF4-FFF2-40B4-BE49-F238E27FC236}">
                <a16:creationId xmlns:a16="http://schemas.microsoft.com/office/drawing/2014/main" id="{996530BD-C977-421E-98E7-C6ED0497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证据、BKT、重规划请求</a:t>
            </a:r>
          </a:p>
        </p:txBody>
      </p:sp>
      <p:sp>
        <p:nvSpPr>
          <p:cNvPr id="8" name="langgraph-agent-4">
            <a:extLst xmlns:a="http://schemas.openxmlformats.org/drawingml/2006/main">
              <a:ext uri="{FF2B5EF4-FFF2-40B4-BE49-F238E27FC236}">
                <a16:creationId xmlns:a16="http://schemas.microsoft.com/office/drawing/2014/main" id="{49620925-E9C3-407A-A6E9-FDAE327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引用、先修、预算审查</a:t>
            </a:r>
          </a:p>
        </p:txBody>
      </p:sp>
      <p:sp>
        <p:nvSpPr>
          <p:cNvPr id="13" name="langgraph-shared-state">
            <a:extLst xmlns:a="http://schemas.openxmlformats.org/drawingml/2006/main">
              <a:ext uri="{FF2B5EF4-FFF2-40B4-BE49-F238E27FC236}">
                <a16:creationId xmlns:a16="http://schemas.microsoft.com/office/drawing/2014/main" id="{FBD4D787-2AFF-4F85-A577-3AF80C8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AgentState  目标与诊断、学习者画像、证据、候选路径、审查结果、掌握度、重规划请求、重试计数</a:t>
            </a:r>
          </a:p>
        </p:txBody>
      </p:sp>
      <p:sp>
        <p:nvSpPr>
          <p:cNvPr id="15" name="langgraph-boundary">
            <a:extLst xmlns:a="http://schemas.openxmlformats.org/drawingml/2006/main">
              <a:ext uri="{FF2B5EF4-FFF2-40B4-BE49-F238E27FC236}">
                <a16:creationId xmlns:a16="http://schemas.microsoft.com/office/drawing/2014/main" id="{DB788FE8-3A92-417E-88D3-D3DCC88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路径构建不负责最终批准，质量审查不生成路径，学习重规划不直接发布新路径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242DF8-6173-4247-B9E7-AC93E16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10396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9E943-F48D-440C-AB67-56F61B60914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67200" y="37052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ACC42-4746-4674-9BBF-B92A8A76CBC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305050" y="37052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7C70A8A-D1BC-4743-92AF-1F4CC513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2974A2-489E-4D63-9064-ACF12443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 将学习证据转为计划调整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7F4415-4BFC-406A-A4E5-2F119979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BKT 更新掌握度，规则判断是否需要重规划</a:t>
            </a:r>
          </a:p>
        </p:txBody>
      </p:sp>
      <p:sp>
        <p:nvSpPr>
          <p:cNvPr id="4" name="bkt-scale-heading">
            <a:extLst xmlns:a="http://schemas.openxmlformats.org/drawingml/2006/main">
              <a:ext uri="{FF2B5EF4-FFF2-40B4-BE49-F238E27FC236}">
                <a16:creationId xmlns:a16="http://schemas.microsoft.com/office/drawing/2014/main" id="{0FEC8882-C381-48B6-836D-0978836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A5AFF-66AA-4ECB-8D72-CEBB2C62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E4FFA-F36E-40B5-B6CA-76BF9D33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bkt-mark-0.45">
            <a:extLst xmlns:a="http://schemas.openxmlformats.org/drawingml/2006/main">
              <a:ext uri="{FF2B5EF4-FFF2-40B4-BE49-F238E27FC236}">
                <a16:creationId xmlns:a16="http://schemas.microsoft.com/office/drawing/2014/main" id="{479C021E-1405-4A25-8594-FE9E67E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2B680-9355-4E6F-A290-77C9F970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bkt-mark-0.75">
            <a:extLst xmlns:a="http://schemas.openxmlformats.org/drawingml/2006/main">
              <a:ext uri="{FF2B5EF4-FFF2-40B4-BE49-F238E27FC236}">
                <a16:creationId xmlns:a16="http://schemas.microsoft.com/office/drawing/2014/main" id="{91F0EDF8-414A-4F7F-8553-0EA1DC9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10" name="bkt-weak-label">
            <a:extLst xmlns:a="http://schemas.openxmlformats.org/drawingml/2006/main">
              <a:ext uri="{FF2B5EF4-FFF2-40B4-BE49-F238E27FC236}">
                <a16:creationId xmlns:a16="http://schemas.microsoft.com/office/drawing/2014/main" id="{16A3CBC0-EC56-427F-AC59-3CD4D4FB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薄弱</a:t>
            </a:r>
          </a:p>
        </p:txBody>
      </p:sp>
      <p:sp>
        <p:nvSpPr>
          <p:cNvPr id="11" name="bkt-practicing-label">
            <a:extLst xmlns:a="http://schemas.openxmlformats.org/drawingml/2006/main">
              <a:ext uri="{FF2B5EF4-FFF2-40B4-BE49-F238E27FC236}">
                <a16:creationId xmlns:a16="http://schemas.microsoft.com/office/drawing/2014/main" id="{32B24487-4583-4E73-854E-6F7B765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继续练习</a:t>
            </a:r>
          </a:p>
        </p:txBody>
      </p:sp>
      <p:sp>
        <p:nvSpPr>
          <p:cNvPr id="12" name="bkt-unlock-label">
            <a:extLst xmlns:a="http://schemas.openxmlformats.org/drawingml/2006/main">
              <a:ext uri="{FF2B5EF4-FFF2-40B4-BE49-F238E27FC236}">
                <a16:creationId xmlns:a16="http://schemas.microsoft.com/office/drawing/2014/main" id="{B9B161EC-763E-44D3-84C4-4606200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解锁</a:t>
            </a:r>
          </a:p>
        </p:txBody>
      </p:sp>
      <p:sp>
        <p:nvSpPr>
          <p:cNvPr id="13" name="bkt-evidence">
            <a:extLst xmlns:a="http://schemas.openxmlformats.org/drawingml/2006/main">
              <a:ext uri="{FF2B5EF4-FFF2-40B4-BE49-F238E27FC236}">
                <a16:creationId xmlns:a16="http://schemas.microsoft.com/office/drawing/2014/main" id="{69414136-45F9-4DE8-B5A3-52BD1DA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打卡 / 测验证据</a:t>
            </a:r>
          </a:p>
        </p:txBody>
      </p:sp>
      <p:sp>
        <p:nvSpPr>
          <p:cNvPr id="14" name="bkt-update">
            <a:extLst xmlns:a="http://schemas.openxmlformats.org/drawingml/2006/main">
              <a:ext uri="{FF2B5EF4-FFF2-40B4-BE49-F238E27FC236}">
                <a16:creationId xmlns:a16="http://schemas.microsoft.com/office/drawing/2014/main" id="{587DB098-F4DC-4ED1-9970-EADE3F6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BKT 更新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掌握度快照</a:t>
            </a:r>
          </a:p>
        </p:txBody>
      </p:sp>
      <p:sp>
        <p:nvSpPr>
          <p:cNvPr id="15" name="bkt-decision">
            <a:extLst xmlns:a="http://schemas.openxmlformats.org/drawingml/2006/main">
              <a:ext uri="{FF2B5EF4-FFF2-40B4-BE49-F238E27FC236}">
                <a16:creationId xmlns:a16="http://schemas.microsoft.com/office/drawing/2014/main" id="{2946CB6F-A9CC-4358-ACD6-DB71533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ReplanDecider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保持或重规划</a:t>
            </a:r>
          </a:p>
        </p:txBody>
      </p:sp>
      <p:sp>
        <p:nvSpPr>
          <p:cNvPr id="18" name="replan-trigger-heading">
            <a:extLst xmlns:a="http://schemas.openxmlformats.org/drawingml/2006/main">
              <a:ext uri="{FF2B5EF4-FFF2-40B4-BE49-F238E27FC236}">
                <a16:creationId xmlns:a16="http://schemas.microsoft.com/office/drawing/2014/main" id="{ADA6E258-D765-4684-9C45-04B1AA2F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重规划触发条件</a:t>
            </a:r>
          </a:p>
        </p:txBody>
      </p:sp>
      <p:sp>
        <p:nvSpPr>
          <p:cNvPr id="19" name="replan-trigger-list">
            <a:extLst xmlns:a="http://schemas.openxmlformats.org/drawingml/2006/main">
              <a:ext uri="{FF2B5EF4-FFF2-40B4-BE49-F238E27FC236}">
                <a16:creationId xmlns:a16="http://schemas.microsoft.com/office/drawing/2014/main" id="{6E1D4A6C-06FC-4438-9BB5-C9B17D1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4514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掌握度低于 0.45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同一任务连续两次未完成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每周时间或截止日期变化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新证据与原有高掌握度冲突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目标范围发生变化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8ECD5-834D-49F9-AEB1-57BCDFE2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plan-under">
            <a:extLst xmlns:a="http://schemas.openxmlformats.org/drawingml/2006/main">
              <a:ext uri="{FF2B5EF4-FFF2-40B4-BE49-F238E27FC236}">
                <a16:creationId xmlns:a16="http://schemas.microsoft.com/office/drawing/2014/main" id="{231055CC-1429-4DC1-BE16-DADDA968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未达标：插入补强、降低任务粒度、顺延后续节点</a:t>
            </a:r>
          </a:p>
        </p:txBody>
      </p:sp>
      <p:sp>
        <p:nvSpPr>
          <p:cNvPr id="22" name="replan-transparency">
            <a:extLst xmlns:a="http://schemas.openxmlformats.org/drawingml/2006/main">
              <a:ext uri="{FF2B5EF4-FFF2-40B4-BE49-F238E27FC236}">
                <a16:creationId xmlns:a16="http://schemas.microsoft.com/office/drawing/2014/main" id="{58D3E841-8C01-4DF3-B9E0-284626D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变化透明：展示原路径、新路径、差异、原因和影响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3730F3-E808-4CFE-93B1-C14F1494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509427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66B7739-04FE-4E37-AC6E-760DE86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69F06-1D74-4C81-B2F5-80EF266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 校验路径并留下现场证据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661487-D579-4A5C-9F69-24C456CF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规则决定可行性，新的运行记录证明现场执行</a:t>
            </a:r>
          </a:p>
        </p:txBody>
      </p:sp>
      <p:sp>
        <p:nvSpPr>
          <p:cNvPr id="4" name="validation-heading">
            <a:extLst xmlns:a="http://schemas.openxmlformats.org/drawingml/2006/main">
              <a:ext uri="{FF2B5EF4-FFF2-40B4-BE49-F238E27FC236}">
                <a16:creationId xmlns:a16="http://schemas.microsoft.com/office/drawing/2014/main" id="{B8905C03-C437-48D5-99EC-C112C6BB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 规则校验</a:t>
            </a:r>
          </a:p>
        </p:txBody>
      </p:sp>
      <p:sp>
        <p:nvSpPr>
          <p:cNvPr id="5" name="validation-rules">
            <a:extLst xmlns:a="http://schemas.openxmlformats.org/drawingml/2006/main">
              <a:ext uri="{FF2B5EF4-FFF2-40B4-BE49-F238E27FC236}">
                <a16:creationId xmlns:a16="http://schemas.microsoft.com/office/drawing/2014/main" id="{B85D44FB-5971-47F8-BF26-4CD7F8D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VR-001 硬先修已完成或排在前序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VR-002 总学时不超过时间预算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VR-003 每日与每周任务不超负荷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VR-004 路径不存在重复节点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VR-005 每个正式节点有真实引用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VR-006 每个验收题映射有效知识节点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VR-008 重规划不破坏未完成硬先修</a:t>
            </a:r>
          </a:p>
        </p:txBody>
      </p:sp>
      <p:sp>
        <p:nvSpPr>
          <p:cNvPr id="6" name="validation-failure">
            <a:extLst xmlns:a="http://schemas.openxmlformats.org/drawingml/2006/main">
              <a:ext uri="{FF2B5EF4-FFF2-40B4-BE49-F238E27FC236}">
                <a16:creationId xmlns:a16="http://schemas.microsoft.com/office/drawing/2014/main" id="{C9D66EDE-5FDC-4E4A-B2FE-6D18D17F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失败返回规则编号、受影响节点和修复建议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自动规划最多重试 3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ABD25-D10F-4C3E-BB22-049582D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CF44C367-FC88-44C3-8A90-D0188B9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现场验收 AT-015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329F4-39D7-45E4-AB94-5586B13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demo-step-1">
            <a:extLst xmlns:a="http://schemas.openxmlformats.org/drawingml/2006/main">
              <a:ext uri="{FF2B5EF4-FFF2-40B4-BE49-F238E27FC236}">
                <a16:creationId xmlns:a16="http://schemas.microsoft.com/office/drawing/2014/main" id="{0EB71582-D7A9-4E8A-A213-D958CA4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现场输入目标与时间约束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44BA-FB2C-4925-A037-A084CFF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emo-step-2">
            <a:extLst xmlns:a="http://schemas.openxmlformats.org/drawingml/2006/main">
              <a:ext uri="{FF2B5EF4-FFF2-40B4-BE49-F238E27FC236}">
                <a16:creationId xmlns:a16="http://schemas.microsoft.com/office/drawing/2014/main" id="{FDDF499D-A15A-4D55-8A04-16DA757F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完成诊断并接受首次路径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A339B-196B-4C1A-840B-C0C1E8C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demo-step-3">
            <a:extLst xmlns:a="http://schemas.openxmlformats.org/drawingml/2006/main">
              <a:ext uri="{FF2B5EF4-FFF2-40B4-BE49-F238E27FC236}">
                <a16:creationId xmlns:a16="http://schemas.microsoft.com/office/drawing/2014/main" id="{AAE443A8-AB32-4935-A7F1-D738547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提交学习打卡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74C46-61F0-4DAF-876F-4138CB9A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mo-step-4">
            <a:extLst xmlns:a="http://schemas.openxmlformats.org/drawingml/2006/main">
              <a:ext uri="{FF2B5EF4-FFF2-40B4-BE49-F238E27FC236}">
                <a16:creationId xmlns:a16="http://schemas.microsoft.com/office/drawing/2014/main" id="{C41AC0CF-84FE-450F-A567-CFD74C3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提交未达标测验答案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FC37E-FC46-4EE4-AD55-7E92B93F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demo-step-5">
            <a:extLst xmlns:a="http://schemas.openxmlformats.org/drawingml/2006/main">
              <a:ext uri="{FF2B5EF4-FFF2-40B4-BE49-F238E27FC236}">
                <a16:creationId xmlns:a16="http://schemas.microsoft.com/office/drawing/2014/main" id="{7E998014-2775-4AAC-A950-06263D6E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观察 BKT 更新与补强任务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0E75F-68B2-42E6-90BB-58C04E9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demo-step-6">
            <a:extLst xmlns:a="http://schemas.openxmlformats.org/drawingml/2006/main">
              <a:ext uri="{FF2B5EF4-FFF2-40B4-BE49-F238E27FC236}">
                <a16:creationId xmlns:a16="http://schemas.microsoft.com/office/drawing/2014/main" id="{AA1E7C3D-48E0-4CC7-94FF-0605009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接受重规划并查看路径差异</a:t>
            </a:r>
          </a:p>
        </p:txBody>
      </p:sp>
      <p:sp>
        <p:nvSpPr>
          <p:cNvPr id="21" name="demo-proof">
            <a:extLst xmlns:a="http://schemas.openxmlformats.org/drawingml/2006/main">
              <a:ext uri="{FF2B5EF4-FFF2-40B4-BE49-F238E27FC236}">
                <a16:creationId xmlns:a16="http://schemas.microsoft.com/office/drawing/2014/main" id="{9E739B7B-4832-4D34-B7B0-11FCCA9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新建 run_id、现场时间戳和 Agent 轨迹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禁止预生成路径、缓存规划和人工改库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5E6049-77DC-4F60-AF23-4B1BB8E8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3426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448ADCE-5193-4B3D-A626-DE9322B5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C7352-A779-4E7E-9B7C-AA667C39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项目按可验证里程碑推进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268D188-0D63-44FC-B12B-933BA97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每个阶段都必须交付可检查结果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3E69F-E9DC-4E82-A054-035477D111B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可验收结果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需求基线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设计方案、SRS、数据与 API 边界冻结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数据与知识底座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课程资料、知识图谱、DAG 校验和 BKT 基础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数据与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训练数据集、混合检索和真实引用链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模型训练与评估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微调模型、基线与微调对比、受控降级方案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四智能体与规划闭环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四个专业 Agent 可调用，六阶段闭环失败返回替代方案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API 与前端联调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学生可以从界面完成完整闭环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验收与交付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现场演练、测试报告、演示和答辩材料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an-principle">
            <a:extLst xmlns:a="http://schemas.openxmlformats.org/drawingml/2006/main">
              <a:ext uri="{FF2B5EF4-FFF2-40B4-BE49-F238E27FC236}">
                <a16:creationId xmlns:a16="http://schemas.microsoft.com/office/drawing/2014/main" id="{2B6EBD4B-E1E9-497D-9A3D-2AF7791A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优先保证真实闭环，非核心体验可以在范围压缩时后置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ECB779-C98C-4A36-8B77-2D71B35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385321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48958FE-0237-428F-80D3-01B7C6E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EE58D7-8948-4F24-AC1E-C7FEF50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当前完成文档与技术基线，进入实施准备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9AB7FF-15EE-4602-AEA0-433DC6C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尚未开始编码，首批交付物用于建立最小可验证底座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BD7D-900E-4F49-A120-CDB6226C3DD9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 与技术设计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技术环境验证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 Smoke Test 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功能与验收边界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Schema 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数据格式与样例数据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四智能体职责边界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演示脚本设计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首轮闭环演示脚本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现场验收方案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与图谱准备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知识图谱初始版本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45395797-D3FF-428A-A2B0-B560ECE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当前准确状态：设计与技术文档已完成，代码、训练数据和可运行原型尚未完成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7A2217-B32C-4650-96CC-FD1E543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7425279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9586F-4704-4903-AC46-E99B3A13425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143500" y="2743200"/>
            <a:ext cx="55245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45309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03C1E-0F65-4124-93C4-B943901E6B2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6012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513FC-7903-4D87-85E5-0202864048A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724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D4B2E-3C9C-49BE-B031-F56A133BA8D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403F8-E21C-4F97-B499-6FABCF2932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CD956-9943-441F-8946-475B876F57B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82709FF-394D-469F-A045-6812C7C6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67AC9D-2C8B-4058-B6A0-2B9E28D2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两人围绕同一闭环分担首次规划与重规划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1510ED-B07E-41C1-B50A-6ED5C793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A 对首次计划负责，B 对学习后的调整负责</a:t>
            </a:r>
          </a:p>
        </p:txBody>
      </p:sp>
      <p:sp>
        <p:nvSpPr>
          <p:cNvPr id="4" name="team-goal">
            <a:extLst xmlns:a="http://schemas.openxmlformats.org/drawingml/2006/main">
              <a:ext uri="{FF2B5EF4-FFF2-40B4-BE49-F238E27FC236}">
                <a16:creationId xmlns:a16="http://schemas.microsoft.com/office/drawing/2014/main" id="{DAFEB7B1-4E59-4851-8EC3-EB9E88F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team-diagnosis">
            <a:extLst xmlns:a="http://schemas.openxmlformats.org/drawingml/2006/main">
              <a:ext uri="{FF2B5EF4-FFF2-40B4-BE49-F238E27FC236}">
                <a16:creationId xmlns:a16="http://schemas.microsoft.com/office/drawing/2014/main" id="{756FC5CB-8D37-49A9-8398-7E443C5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6" name="team-path">
            <a:extLst xmlns:a="http://schemas.openxmlformats.org/drawingml/2006/main">
              <a:ext uri="{FF2B5EF4-FFF2-40B4-BE49-F238E27FC236}">
                <a16:creationId xmlns:a16="http://schemas.microsoft.com/office/drawing/2014/main" id="{4064A36E-090C-44CE-A38D-7205223E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team-execution">
            <a:extLst xmlns:a="http://schemas.openxmlformats.org/drawingml/2006/main">
              <a:ext uri="{FF2B5EF4-FFF2-40B4-BE49-F238E27FC236}">
                <a16:creationId xmlns:a16="http://schemas.microsoft.com/office/drawing/2014/main" id="{CB2DDD1F-EE6A-4D18-8432-9A14200F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team-evidence">
            <a:extLst xmlns:a="http://schemas.openxmlformats.org/drawingml/2006/main">
              <a:ext uri="{FF2B5EF4-FFF2-40B4-BE49-F238E27FC236}">
                <a16:creationId xmlns:a16="http://schemas.microsoft.com/office/drawing/2014/main" id="{7CDD4B59-A94D-4C45-A00D-4D0739D7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team-replan">
            <a:extLst xmlns:a="http://schemas.openxmlformats.org/drawingml/2006/main">
              <a:ext uri="{FF2B5EF4-FFF2-40B4-BE49-F238E27FC236}">
                <a16:creationId xmlns:a16="http://schemas.microsoft.com/office/drawing/2014/main" id="{FABE16FE-1379-481D-9EDB-B6714507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676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member-a-heading">
            <a:extLst xmlns:a="http://schemas.openxmlformats.org/drawingml/2006/main">
              <a:ext uri="{FF2B5EF4-FFF2-40B4-BE49-F238E27FC236}">
                <a16:creationId xmlns:a16="http://schemas.microsoft.com/office/drawing/2014/main" id="{4BD507C4-D8D0-46BF-81A9-F14A0D9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  |  首次学习计划</a:t>
            </a:r>
          </a:p>
        </p:txBody>
      </p:sp>
      <p:sp>
        <p:nvSpPr>
          <p:cNvPr id="17" name="member-b-heading">
            <a:extLst xmlns:a="http://schemas.openxmlformats.org/drawingml/2006/main">
              <a:ext uri="{FF2B5EF4-FFF2-40B4-BE49-F238E27FC236}">
                <a16:creationId xmlns:a16="http://schemas.microsoft.com/office/drawing/2014/main" id="{FC15165D-6DF5-4130-A5A0-03316DC1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B  |  学习后重规划</a:t>
            </a:r>
          </a:p>
        </p:txBody>
      </p:sp>
      <p:sp>
        <p:nvSpPr>
          <p:cNvPr id="18" name="member-a-detail">
            <a:extLst xmlns:a="http://schemas.openxmlformats.org/drawingml/2006/main">
              <a:ext uri="{FF2B5EF4-FFF2-40B4-BE49-F238E27FC236}">
                <a16:creationId xmlns:a16="http://schemas.microsoft.com/office/drawing/2014/main" id="{9BCF3FBE-7998-4A05-9B15-4797A6CE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目标解析、诊断、内容生成、RAG、知识图谱、首次路径构建、PlanReviewAgent 校验和任务拆解。</a:t>
            </a:r>
          </a:p>
        </p:txBody>
      </p:sp>
      <p:sp>
        <p:nvSpPr>
          <p:cNvPr id="19" name="member-b-detail">
            <a:extLst xmlns:a="http://schemas.openxmlformats.org/drawingml/2006/main">
              <a:ext uri="{FF2B5EF4-FFF2-40B4-BE49-F238E27FC236}">
                <a16:creationId xmlns:a16="http://schemas.microsoft.com/office/drawing/2014/main" id="{7CB437CF-C1C5-4F3D-8BA8-7947FF9A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接收打卡和学习内容，完成证据评分、BKT 更新、执行偏差、LearningReplanAgent 重规划判断、路径差异和后续任务安排。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C3269-82E4-45DC-9A7C-8B7FFB5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red-responsibility">
            <a:extLst xmlns:a="http://schemas.openxmlformats.org/drawingml/2006/main">
              <a:ext uri="{FF2B5EF4-FFF2-40B4-BE49-F238E27FC236}">
                <a16:creationId xmlns:a16="http://schemas.microsoft.com/office/drawing/2014/main" id="{780106E0-B713-4DC0-8DA3-344113E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共同负责：接口与数据契约、Coordinator 路由、四个 Agent 串联、联调、三轮现场闭环演练和答辩材料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7DED74-2473-47B3-9C94-BC70102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9541638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9643FA8-8864-4CE6-9051-E98EE1DE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E89456-916D-47B3-A384-CD4AF82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风险控制优先保证真实闭环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7DBDEE-D658-4787-8D43-8D04531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先证明系统能够完成闭环，再完善非核心体验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EB18A-AEBE-49C7-8E73-BC87367AA8F3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16490"/>
                <a:gridCol w="6403910"/>
              </a:tblGrid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本机资源导致训练或推理压力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先完成 1.5B 最小可用版本，训练与推理分时运行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模型结构化输出不稳定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Schema、引用校验、格式修复和有限重试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课程数据和图谱准备量过大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完整验收先固定一条技能主线，其他目标用于泛化测试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现场闭环依赖缓存或人工操作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使用新的 run_id、时间戳、Agent 轨迹和三轮现场演练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两人协作导致接口不一致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尽早冻结 API 与数据结构契约，使用 Mock 并行开发和集成测试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 Agent 状态字段重叠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字段所有权、工具白名单、状态补丁和版本冲突检测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1BFC92DB-7A66-4549-8962-CE8DA61A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Coordinator 负责受控路由，四个 Agent 分工完成诊断、规划、审查与重规划。</a:t>
            </a:r>
          </a:p>
        </p:txBody>
      </p:sp>
      <p:sp>
        <p:nvSpPr>
          <p:cNvPr id="6" name="next-step-conclusion">
            <a:extLst xmlns:a="http://schemas.openxmlformats.org/drawingml/2006/main">
              <a:ext uri="{FF2B5EF4-FFF2-40B4-BE49-F238E27FC236}">
                <a16:creationId xmlns:a16="http://schemas.microsoft.com/office/drawing/2014/main" id="{A4BA31F8-0A6A-428F-BE85-DB7502B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下一步：完成环境验证、数据底座和首个可调用的六阶段后端闭环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B89EFC-3FB0-4E68-B8ED-6A151F23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26370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2026-10-21T07:22:55.9050000Z</dcterms:created>
  <dcterms:modified xsi:type="dcterms:W3CDTF">2026-10-21T07:22:55.9050000Z</dcterms:modified>
</coreProperties>
</file>